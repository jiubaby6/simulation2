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65" r:id="rId5"/>
    <p:sldId id="275" r:id="rId6"/>
    <p:sldId id="267" r:id="rId7"/>
    <p:sldId id="290" r:id="rId8"/>
    <p:sldId id="270" r:id="rId9"/>
    <p:sldId id="271" r:id="rId10"/>
    <p:sldId id="291" r:id="rId11"/>
    <p:sldId id="273" r:id="rId12"/>
    <p:sldId id="282" r:id="rId13"/>
    <p:sldId id="277" r:id="rId14"/>
    <p:sldId id="278" r:id="rId15"/>
    <p:sldId id="274" r:id="rId16"/>
    <p:sldId id="281" r:id="rId17"/>
    <p:sldId id="284" r:id="rId18"/>
    <p:sldId id="285" r:id="rId19"/>
    <p:sldId id="286" r:id="rId20"/>
    <p:sldId id="283" r:id="rId21"/>
    <p:sldId id="292" r:id="rId22"/>
    <p:sldId id="287" r:id="rId23"/>
    <p:sldId id="294" r:id="rId24"/>
    <p:sldId id="288" r:id="rId25"/>
    <p:sldId id="289" r:id="rId26"/>
    <p:sldId id="293" r:id="rId27"/>
    <p:sldId id="279" r:id="rId28"/>
    <p:sldId id="264" r:id="rId29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3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57AE"/>
    <a:srgbClr val="1B44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3" d="100"/>
          <a:sy n="153" d="100"/>
        </p:scale>
        <p:origin x="576" y="138"/>
      </p:cViewPr>
      <p:guideLst>
        <p:guide orient="horz" pos="2083"/>
        <p:guide pos="38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CA2BF-3030-4C6A-9CE5-A98D5AFBB533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49A20-36B2-431D-89D2-2EEA123B01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49A20-36B2-431D-89D2-2EEA123B015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332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49A20-36B2-431D-89D2-2EEA123B01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61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A1350-D6BC-4829-BF7F-A44D608302B5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tags" Target="../tags/tag12.xml"/><Relationship Id="rId16" Type="http://schemas.openxmlformats.org/officeDocument/2006/relationships/image" Target="../media/image25.png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11" Type="http://schemas.openxmlformats.org/officeDocument/2006/relationships/image" Target="../media/image20.png"/><Relationship Id="rId5" Type="http://schemas.openxmlformats.org/officeDocument/2006/relationships/image" Target="../media/image6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2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2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3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3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7.xml"/><Relationship Id="rId7" Type="http://schemas.openxmlformats.org/officeDocument/2006/relationships/image" Target="../media/image3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A-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 rotWithShape="1">
          <a:blip r:embed="rId7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66" name="PA-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67" name="PA-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B4489">
                  <a:alpha val="78000"/>
                </a:srgbClr>
              </a:gs>
              <a:gs pos="100000">
                <a:srgbClr val="1B4489">
                  <a:alpha val="66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71" name="任意多边形: 形状 101"/>
          <p:cNvSpPr/>
          <p:nvPr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2A900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72" name="任意多边形: 形状 83"/>
          <p:cNvSpPr/>
          <p:nvPr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ea"/>
            </a:endParaRPr>
          </a:p>
        </p:txBody>
      </p:sp>
      <p:sp>
        <p:nvSpPr>
          <p:cNvPr id="73" name="任意多边形: 形状 62"/>
          <p:cNvSpPr/>
          <p:nvPr/>
        </p:nvSpPr>
        <p:spPr>
          <a:xfrm>
            <a:off x="0" y="2989267"/>
            <a:ext cx="12191999" cy="741497"/>
          </a:xfrm>
          <a:custGeom>
            <a:avLst/>
            <a:gdLst>
              <a:gd name="connsiteX0" fmla="*/ 6096002 w 12191999"/>
              <a:gd name="connsiteY0" fmla="*/ 0 h 3805208"/>
              <a:gd name="connsiteX1" fmla="*/ 11517301 w 12191999"/>
              <a:gd name="connsiteY1" fmla="*/ 568339 h 3805208"/>
              <a:gd name="connsiteX2" fmla="*/ 12191999 w 12191999"/>
              <a:gd name="connsiteY2" fmla="*/ 741496 h 3805208"/>
              <a:gd name="connsiteX3" fmla="*/ 12191999 w 12191999"/>
              <a:gd name="connsiteY3" fmla="*/ 3805208 h 3805208"/>
              <a:gd name="connsiteX4" fmla="*/ 0 w 12191999"/>
              <a:gd name="connsiteY4" fmla="*/ 3805208 h 3805208"/>
              <a:gd name="connsiteX5" fmla="*/ 0 w 12191999"/>
              <a:gd name="connsiteY5" fmla="*/ 741497 h 3805208"/>
              <a:gd name="connsiteX6" fmla="*/ 674702 w 12191999"/>
              <a:gd name="connsiteY6" fmla="*/ 568339 h 3805208"/>
              <a:gd name="connsiteX7" fmla="*/ 6096002 w 12191999"/>
              <a:gd name="connsiteY7" fmla="*/ 0 h 3805208"/>
              <a:gd name="connsiteX0-1" fmla="*/ 12191999 w 12283439"/>
              <a:gd name="connsiteY0-2" fmla="*/ 3805208 h 3896648"/>
              <a:gd name="connsiteX1-3" fmla="*/ 0 w 12283439"/>
              <a:gd name="connsiteY1-4" fmla="*/ 3805208 h 3896648"/>
              <a:gd name="connsiteX2-5" fmla="*/ 0 w 12283439"/>
              <a:gd name="connsiteY2-6" fmla="*/ 741497 h 3896648"/>
              <a:gd name="connsiteX3-7" fmla="*/ 674702 w 12283439"/>
              <a:gd name="connsiteY3-8" fmla="*/ 568339 h 3896648"/>
              <a:gd name="connsiteX4-9" fmla="*/ 6096002 w 12283439"/>
              <a:gd name="connsiteY4-10" fmla="*/ 0 h 3896648"/>
              <a:gd name="connsiteX5-11" fmla="*/ 11517301 w 12283439"/>
              <a:gd name="connsiteY5-12" fmla="*/ 568339 h 3896648"/>
              <a:gd name="connsiteX6-13" fmla="*/ 12191999 w 12283439"/>
              <a:gd name="connsiteY6-14" fmla="*/ 741496 h 3896648"/>
              <a:gd name="connsiteX7-15" fmla="*/ 12283439 w 12283439"/>
              <a:gd name="connsiteY7-16" fmla="*/ 3896648 h 3896648"/>
              <a:gd name="connsiteX0-17" fmla="*/ 12191999 w 12191999"/>
              <a:gd name="connsiteY0-18" fmla="*/ 3805208 h 3805208"/>
              <a:gd name="connsiteX1-19" fmla="*/ 0 w 12191999"/>
              <a:gd name="connsiteY1-20" fmla="*/ 3805208 h 3805208"/>
              <a:gd name="connsiteX2-21" fmla="*/ 0 w 12191999"/>
              <a:gd name="connsiteY2-22" fmla="*/ 741497 h 3805208"/>
              <a:gd name="connsiteX3-23" fmla="*/ 674702 w 12191999"/>
              <a:gd name="connsiteY3-24" fmla="*/ 568339 h 3805208"/>
              <a:gd name="connsiteX4-25" fmla="*/ 6096002 w 12191999"/>
              <a:gd name="connsiteY4-26" fmla="*/ 0 h 3805208"/>
              <a:gd name="connsiteX5-27" fmla="*/ 11517301 w 12191999"/>
              <a:gd name="connsiteY5-28" fmla="*/ 568339 h 3805208"/>
              <a:gd name="connsiteX6-29" fmla="*/ 12191999 w 12191999"/>
              <a:gd name="connsiteY6-30" fmla="*/ 741496 h 3805208"/>
              <a:gd name="connsiteX0-31" fmla="*/ 0 w 12191999"/>
              <a:gd name="connsiteY0-32" fmla="*/ 3805208 h 3805208"/>
              <a:gd name="connsiteX1-33" fmla="*/ 0 w 12191999"/>
              <a:gd name="connsiteY1-34" fmla="*/ 741497 h 3805208"/>
              <a:gd name="connsiteX2-35" fmla="*/ 674702 w 12191999"/>
              <a:gd name="connsiteY2-36" fmla="*/ 568339 h 3805208"/>
              <a:gd name="connsiteX3-37" fmla="*/ 6096002 w 12191999"/>
              <a:gd name="connsiteY3-38" fmla="*/ 0 h 3805208"/>
              <a:gd name="connsiteX4-39" fmla="*/ 11517301 w 12191999"/>
              <a:gd name="connsiteY4-40" fmla="*/ 568339 h 3805208"/>
              <a:gd name="connsiteX5-41" fmla="*/ 12191999 w 12191999"/>
              <a:gd name="connsiteY5-42" fmla="*/ 741496 h 3805208"/>
              <a:gd name="connsiteX0-43" fmla="*/ 0 w 12191999"/>
              <a:gd name="connsiteY0-44" fmla="*/ 741497 h 741497"/>
              <a:gd name="connsiteX1-45" fmla="*/ 674702 w 12191999"/>
              <a:gd name="connsiteY1-46" fmla="*/ 568339 h 741497"/>
              <a:gd name="connsiteX2-47" fmla="*/ 6096002 w 12191999"/>
              <a:gd name="connsiteY2-48" fmla="*/ 0 h 741497"/>
              <a:gd name="connsiteX3-49" fmla="*/ 11517301 w 12191999"/>
              <a:gd name="connsiteY3-50" fmla="*/ 568339 h 741497"/>
              <a:gd name="connsiteX4-51" fmla="*/ 12191999 w 12191999"/>
              <a:gd name="connsiteY4-52" fmla="*/ 741496 h 741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1999" h="741497">
                <a:moveTo>
                  <a:pt x="0" y="741497"/>
                </a:move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</a:path>
            </a:pathLst>
          </a:cu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94" name="标题 47"/>
          <p:cNvSpPr txBox="1"/>
          <p:nvPr/>
        </p:nvSpPr>
        <p:spPr>
          <a:xfrm>
            <a:off x="2520877" y="4102988"/>
            <a:ext cx="721448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4400" kern="1200" spc="100" dirty="0">
                <a:solidFill>
                  <a:schemeClr val="accent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cs typeface="+mn-ea"/>
              </a:defRPr>
            </a:lvl1pPr>
          </a:lstStyle>
          <a:p>
            <a:r>
              <a:rPr lang="zh-CN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突发事件网络舆情多Agent 仿真系统</a:t>
            </a:r>
            <a:endParaRPr lang="zh-CN" altLang="zh-CN" sz="24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——官方回应时机与内容策略评估</a:t>
            </a:r>
            <a:endParaRPr lang="zh-CN" altLang="zh-CN" sz="24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阶段性研发成果汇报</a:t>
            </a:r>
          </a:p>
        </p:txBody>
      </p:sp>
      <p:cxnSp>
        <p:nvCxnSpPr>
          <p:cNvPr id="108" name="直接连接符 107"/>
          <p:cNvCxnSpPr/>
          <p:nvPr/>
        </p:nvCxnSpPr>
        <p:spPr>
          <a:xfrm>
            <a:off x="2108522" y="5360072"/>
            <a:ext cx="7974957" cy="0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</a:ln>
          <a:effectLst/>
        </p:spPr>
      </p:cxnSp>
      <p:sp>
        <p:nvSpPr>
          <p:cNvPr id="51" name="矩形 50"/>
          <p:cNvSpPr/>
          <p:nvPr/>
        </p:nvSpPr>
        <p:spPr>
          <a:xfrm>
            <a:off x="1984445" y="5494097"/>
            <a:ext cx="4160113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研发单位：河北大学数学与信息科学学院</a:t>
            </a:r>
            <a:endParaRPr lang="en-US" altLang="zh-CN" sz="14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1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河北省机器学习与计算智能重点实验室</a:t>
            </a:r>
            <a:endParaRPr lang="en-US" altLang="zh-CN" sz="14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1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河北大学新闻传播学院</a:t>
            </a:r>
            <a:endParaRPr lang="en-US" altLang="zh-CN" sz="14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汇  报  人：万来</a:t>
            </a:r>
            <a:endParaRPr lang="en-US" altLang="zh-CN" sz="14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汇报日期：</a:t>
            </a:r>
            <a:r>
              <a:rPr lang="en-US" altLang="zh-CN" sz="1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altLang="en-US" sz="1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1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altLang="en-US" sz="1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en-US" altLang="zh-CN" sz="14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678007" y="571437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sz="1400" dirty="0">
              <a:solidFill>
                <a:srgbClr val="22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bai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219450" y="1130935"/>
            <a:ext cx="1169670" cy="1172210"/>
          </a:xfrm>
          <a:prstGeom prst="rect">
            <a:avLst/>
          </a:prstGeom>
        </p:spPr>
      </p:pic>
      <p:pic>
        <p:nvPicPr>
          <p:cNvPr id="4" name="图片 3" descr="未标题-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734560" y="1085215"/>
            <a:ext cx="384365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任意多边形: 形状 101"/>
          <p:cNvSpPr/>
          <p:nvPr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2A900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61" name="ïŝḻïďè"/>
          <p:cNvSpPr txBox="1"/>
          <p:nvPr/>
        </p:nvSpPr>
        <p:spPr>
          <a:xfrm>
            <a:off x="2199107" y="3676945"/>
            <a:ext cx="254382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5000"/>
              </a:lnSpc>
            </a:pPr>
            <a:r>
              <a:rPr lang="en-US" altLang="zh-CN" sz="2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2" name="直接连接符 61"/>
          <p:cNvCxnSpPr/>
          <p:nvPr/>
        </p:nvCxnSpPr>
        <p:spPr>
          <a:xfrm>
            <a:off x="2149523" y="2305487"/>
            <a:ext cx="2606048" cy="0"/>
          </a:xfrm>
          <a:prstGeom prst="line">
            <a:avLst/>
          </a:prstGeom>
          <a:ln w="9525" cap="rnd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2180003" y="4375719"/>
            <a:ext cx="2606048" cy="0"/>
          </a:xfrm>
          <a:prstGeom prst="line">
            <a:avLst/>
          </a:prstGeom>
          <a:ln w="38100" cap="rnd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iŝlídé"/>
          <p:cNvSpPr/>
          <p:nvPr/>
        </p:nvSpPr>
        <p:spPr bwMode="auto">
          <a:xfrm>
            <a:off x="6407090" y="948878"/>
            <a:ext cx="1575000" cy="488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2257AE"/>
                </a:solidFill>
                <a:latin typeface="微软雅黑 Light" panose="020B0502040204020203" charset="-122"/>
                <a:ea typeface="微软雅黑 Light" panose="020B0502040204020203" charset="-122"/>
              </a:rPr>
              <a:t>Part </a:t>
            </a:r>
            <a:r>
              <a:rPr lang="en-US" altLang="zh-CN" sz="2400" b="1" dirty="0">
                <a:solidFill>
                  <a:srgbClr val="2257AE"/>
                </a:solidFill>
                <a:latin typeface="Bahnschrift Light" panose="020B0502040204020203" pitchFamily="34" charset="0"/>
                <a:ea typeface="微软雅黑 Light" panose="020B0502040204020203" charset="-122"/>
              </a:rPr>
              <a:t>01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8082695" y="966513"/>
            <a:ext cx="1886088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342584" y="905487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4" name="íṡļîḓè"/>
          <p:cNvSpPr/>
          <p:nvPr/>
        </p:nvSpPr>
        <p:spPr bwMode="auto">
          <a:xfrm>
            <a:off x="6407090" y="2040717"/>
            <a:ext cx="1575000" cy="488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2257AE"/>
                </a:solidFill>
                <a:latin typeface="微软雅黑 Light" panose="020B0502040204020203" charset="-122"/>
                <a:ea typeface="微软雅黑 Light" panose="020B0502040204020203" charset="-122"/>
              </a:rPr>
              <a:t>Part </a:t>
            </a:r>
            <a:r>
              <a:rPr lang="en-US" altLang="zh-CN" sz="2400" b="1" dirty="0">
                <a:solidFill>
                  <a:srgbClr val="2257AE"/>
                </a:solidFill>
                <a:latin typeface="Bahnschrift Light" panose="020B0502040204020203" pitchFamily="34" charset="0"/>
                <a:ea typeface="微软雅黑 Light" panose="020B0502040204020203" charset="-122"/>
              </a:rPr>
              <a:t>02</a:t>
            </a:r>
          </a:p>
        </p:txBody>
      </p:sp>
      <p:sp>
        <p:nvSpPr>
          <p:cNvPr id="76" name="矩形 75"/>
          <p:cNvSpPr/>
          <p:nvPr/>
        </p:nvSpPr>
        <p:spPr>
          <a:xfrm>
            <a:off x="6342585" y="1995719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7" name="îṣḻidé"/>
          <p:cNvSpPr/>
          <p:nvPr/>
        </p:nvSpPr>
        <p:spPr bwMode="auto">
          <a:xfrm>
            <a:off x="6407090" y="3127905"/>
            <a:ext cx="1575000" cy="488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2257AE"/>
                </a:solidFill>
                <a:latin typeface="微软雅黑 Light" panose="020B0502040204020203" charset="-122"/>
                <a:ea typeface="微软雅黑 Light" panose="020B0502040204020203" charset="-122"/>
              </a:rPr>
              <a:t>Part </a:t>
            </a:r>
            <a:r>
              <a:rPr lang="en-US" altLang="zh-CN" sz="2400" b="1" dirty="0">
                <a:solidFill>
                  <a:srgbClr val="2257AE"/>
                </a:solidFill>
                <a:latin typeface="Bahnschrift Light" panose="020B0502040204020203" pitchFamily="34" charset="0"/>
                <a:ea typeface="微软雅黑 Light" panose="020B0502040204020203" charset="-122"/>
              </a:rPr>
              <a:t>03</a:t>
            </a:r>
          </a:p>
        </p:txBody>
      </p:sp>
      <p:sp>
        <p:nvSpPr>
          <p:cNvPr id="78" name="矩形 77"/>
          <p:cNvSpPr/>
          <p:nvPr/>
        </p:nvSpPr>
        <p:spPr>
          <a:xfrm>
            <a:off x="6342585" y="3085951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9" name="ïśḻîḋé"/>
          <p:cNvSpPr/>
          <p:nvPr/>
        </p:nvSpPr>
        <p:spPr bwMode="auto">
          <a:xfrm>
            <a:off x="6407090" y="4212542"/>
            <a:ext cx="1575000" cy="488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2257AE"/>
                </a:solidFill>
                <a:latin typeface="微软雅黑 Light" panose="020B0502040204020203" charset="-122"/>
                <a:ea typeface="微软雅黑 Light" panose="020B0502040204020203" charset="-122"/>
              </a:rPr>
              <a:t>Part </a:t>
            </a:r>
            <a:r>
              <a:rPr lang="en-US" altLang="zh-CN" sz="2400" b="1" dirty="0">
                <a:solidFill>
                  <a:srgbClr val="2257AE"/>
                </a:solidFill>
                <a:latin typeface="Bahnschrift Light" panose="020B0502040204020203" pitchFamily="34" charset="0"/>
                <a:ea typeface="微软雅黑 Light" panose="020B0502040204020203" charset="-122"/>
              </a:rPr>
              <a:t>04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8082695" y="4232656"/>
            <a:ext cx="2011855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实验结果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342585" y="4176184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8082694" y="3141503"/>
            <a:ext cx="2011855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关键技术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3" name="直接连接符 82"/>
          <p:cNvCxnSpPr/>
          <p:nvPr/>
        </p:nvCxnSpPr>
        <p:spPr>
          <a:xfrm>
            <a:off x="6342584" y="1577168"/>
            <a:ext cx="4077730" cy="0"/>
          </a:xfrm>
          <a:prstGeom prst="line">
            <a:avLst/>
          </a:prstGeom>
          <a:ln w="22225" cap="flat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6342584" y="2677161"/>
            <a:ext cx="4077730" cy="0"/>
          </a:xfrm>
          <a:prstGeom prst="line">
            <a:avLst/>
          </a:prstGeom>
          <a:ln w="22225" cap="flat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6342584" y="3757872"/>
            <a:ext cx="4077730" cy="0"/>
          </a:xfrm>
          <a:prstGeom prst="line">
            <a:avLst/>
          </a:prstGeom>
          <a:ln w="22225" cap="flat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6342584" y="4857865"/>
            <a:ext cx="4077730" cy="0"/>
          </a:xfrm>
          <a:prstGeom prst="line">
            <a:avLst/>
          </a:prstGeom>
          <a:ln w="22225" cap="flat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Freeform 5"/>
          <p:cNvSpPr/>
          <p:nvPr/>
        </p:nvSpPr>
        <p:spPr bwMode="auto">
          <a:xfrm>
            <a:off x="886594" y="-2479166"/>
            <a:ext cx="10418813" cy="11816333"/>
          </a:xfrm>
          <a:prstGeom prst="ellipse">
            <a:avLst/>
          </a:prstGeom>
          <a:noFill/>
          <a:ln w="635000">
            <a:gradFill>
              <a:gsLst>
                <a:gs pos="0">
                  <a:schemeClr val="accent1"/>
                </a:gs>
                <a:gs pos="100000">
                  <a:schemeClr val="accent1"/>
                </a:gs>
                <a:gs pos="50000">
                  <a:schemeClr val="bg1">
                    <a:lumMod val="95000"/>
                    <a:alpha val="10000"/>
                  </a:schemeClr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9" name="Freeform 5"/>
          <p:cNvSpPr/>
          <p:nvPr/>
        </p:nvSpPr>
        <p:spPr bwMode="auto">
          <a:xfrm>
            <a:off x="-763862" y="-4351006"/>
            <a:ext cx="13719726" cy="15560012"/>
          </a:xfrm>
          <a:prstGeom prst="ellipse">
            <a:avLst/>
          </a:prstGeom>
          <a:noFill/>
          <a:ln w="8890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0" name="ïśḻîḋé"/>
          <p:cNvSpPr/>
          <p:nvPr/>
        </p:nvSpPr>
        <p:spPr bwMode="auto">
          <a:xfrm>
            <a:off x="6407089" y="5315297"/>
            <a:ext cx="1575000" cy="488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2257AE"/>
                </a:solidFill>
                <a:latin typeface="微软雅黑 Light" panose="020B0502040204020203" charset="-122"/>
                <a:ea typeface="微软雅黑 Light" panose="020B0502040204020203" charset="-122"/>
              </a:rPr>
              <a:t>Part </a:t>
            </a:r>
            <a:r>
              <a:rPr lang="en-US" altLang="zh-CN" sz="2400" b="1" dirty="0">
                <a:solidFill>
                  <a:srgbClr val="2257AE"/>
                </a:solidFill>
                <a:latin typeface="Bahnschrift Light" panose="020B0502040204020203" pitchFamily="34" charset="0"/>
                <a:ea typeface="微软雅黑 Light" panose="020B0502040204020203" charset="-122"/>
              </a:rPr>
              <a:t>05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8082694" y="5335411"/>
            <a:ext cx="2011855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后续工作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342584" y="5278939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93" name="直接连接符 92"/>
          <p:cNvCxnSpPr/>
          <p:nvPr/>
        </p:nvCxnSpPr>
        <p:spPr>
          <a:xfrm>
            <a:off x="6342583" y="5960620"/>
            <a:ext cx="4077730" cy="0"/>
          </a:xfrm>
          <a:prstGeom prst="line">
            <a:avLst/>
          </a:prstGeom>
          <a:ln w="22225" cap="flat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099755" y="2236294"/>
            <a:ext cx="2676136" cy="1490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5000"/>
              </a:lnSpc>
            </a:pPr>
            <a:r>
              <a:rPr lang="zh-CN" altLang="en-US" sz="8000">
                <a:solidFill>
                  <a:srgbClr val="2257AE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en-US" altLang="zh-CN" sz="8000" dirty="0">
              <a:solidFill>
                <a:srgbClr val="22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5DA8C0-109A-CECC-91BC-4159E2A2B18A}"/>
              </a:ext>
            </a:extLst>
          </p:cNvPr>
          <p:cNvSpPr txBox="1"/>
          <p:nvPr/>
        </p:nvSpPr>
        <p:spPr>
          <a:xfrm>
            <a:off x="8082694" y="2060792"/>
            <a:ext cx="2011855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技术方案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/>
          <p:cNvSpPr/>
          <p:nvPr/>
        </p:nvSpPr>
        <p:spPr>
          <a:xfrm>
            <a:off x="3302000" y="635000"/>
            <a:ext cx="5588000" cy="5588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556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1" name="圆: 空心 4"/>
          <p:cNvSpPr/>
          <p:nvPr/>
        </p:nvSpPr>
        <p:spPr>
          <a:xfrm>
            <a:off x="1574800" y="-1092200"/>
            <a:ext cx="9042400" cy="9042400"/>
          </a:xfrm>
          <a:prstGeom prst="donut">
            <a:avLst>
              <a:gd name="adj" fmla="val 6774"/>
            </a:avLst>
          </a:prstGeom>
          <a:gradFill>
            <a:gsLst>
              <a:gs pos="43000">
                <a:srgbClr val="2257AE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4930719" y="3289880"/>
            <a:ext cx="2275550" cy="791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000">
                <a:solidFill>
                  <a:srgbClr val="2257AE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项目背</a:t>
            </a:r>
            <a:r>
              <a:rPr lang="zh-CN" altLang="en-US" sz="4000" dirty="0">
                <a:solidFill>
                  <a:srgbClr val="2257AE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景</a:t>
            </a:r>
          </a:p>
        </p:txBody>
      </p:sp>
      <p:pic>
        <p:nvPicPr>
          <p:cNvPr id="6" name="图片 5" descr="32TERJTUKUILFYTR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325" y="1803400"/>
            <a:ext cx="1403350" cy="1405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80" name="直接连接符 79"/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文本占位符 43"/>
          <p:cNvSpPr txBox="1"/>
          <p:nvPr/>
        </p:nvSpPr>
        <p:spPr>
          <a:xfrm>
            <a:off x="399891" y="349328"/>
            <a:ext cx="7466453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案例引入</a:t>
            </a:r>
            <a:r>
              <a:rPr lang="en-US" altLang="zh-CN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一起车位如何演化为舆情事件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AD29967-5447-D3FF-17D9-295592A67E2F}"/>
              </a:ext>
            </a:extLst>
          </p:cNvPr>
          <p:cNvSpPr/>
          <p:nvPr/>
        </p:nvSpPr>
        <p:spPr>
          <a:xfrm>
            <a:off x="8407576" y="1239519"/>
            <a:ext cx="2924824" cy="526094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日车位纠纷发生</a:t>
            </a:r>
          </a:p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52AE9B6-D9FC-442F-F0B7-3FFF8A48EEA1}"/>
              </a:ext>
            </a:extLst>
          </p:cNvPr>
          <p:cNvSpPr/>
          <p:nvPr/>
        </p:nvSpPr>
        <p:spPr>
          <a:xfrm>
            <a:off x="8407575" y="1990061"/>
            <a:ext cx="2924825" cy="526094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日冲突升级</a:t>
            </a:r>
          </a:p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068DAB5-54DF-6429-D5D0-EC19CC51E86A}"/>
              </a:ext>
            </a:extLst>
          </p:cNvPr>
          <p:cNvSpPr/>
          <p:nvPr/>
        </p:nvSpPr>
        <p:spPr>
          <a:xfrm>
            <a:off x="8407575" y="2754554"/>
            <a:ext cx="2924826" cy="5644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日至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日纠纷调解</a:t>
            </a:r>
          </a:p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1D74AD3-8D97-2583-6D86-72A183A21631}"/>
              </a:ext>
            </a:extLst>
          </p:cNvPr>
          <p:cNvSpPr/>
          <p:nvPr/>
        </p:nvSpPr>
        <p:spPr>
          <a:xfrm>
            <a:off x="8407577" y="3553867"/>
            <a:ext cx="2924826" cy="5644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日达成和解</a:t>
            </a:r>
          </a:p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93B94AC-AC06-F852-505B-E9BF2560DBBB}"/>
              </a:ext>
            </a:extLst>
          </p:cNvPr>
          <p:cNvSpPr/>
          <p:nvPr/>
        </p:nvSpPr>
        <p:spPr>
          <a:xfrm>
            <a:off x="8407577" y="4382672"/>
            <a:ext cx="2924826" cy="5644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日官方发布声明</a:t>
            </a:r>
          </a:p>
          <a:p>
            <a:pPr algn="ctr"/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5DE3A35-F6E6-B89C-362B-69059F411A63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9869988" y="1765613"/>
            <a:ext cx="0" cy="224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21D9E34-62E9-3B34-AC8D-70E6B56243DE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>
            <a:off x="9869988" y="2516155"/>
            <a:ext cx="0" cy="238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7CF8F8F-5650-A0AF-E803-68D35F1D7681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>
            <a:off x="9869988" y="3318954"/>
            <a:ext cx="2" cy="234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C5FB646-0CDF-00C2-2B19-6D05F4EB0B80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9869990" y="4118267"/>
            <a:ext cx="0" cy="264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59">
            <a:extLst>
              <a:ext uri="{FF2B5EF4-FFF2-40B4-BE49-F238E27FC236}">
                <a16:creationId xmlns:a16="http://schemas.microsoft.com/office/drawing/2014/main" id="{0088FFA0-7526-BB15-3723-ACDB900A6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91" y="906522"/>
            <a:ext cx="5739072" cy="5826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473AC-A6CF-8C2B-8A25-2ECF6044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>
            <a:extLst>
              <a:ext uri="{FF2B5EF4-FFF2-40B4-BE49-F238E27FC236}">
                <a16:creationId xmlns:a16="http://schemas.microsoft.com/office/drawing/2014/main" id="{750649E6-7387-D25F-8C40-0B08B1CAB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201" y="936883"/>
            <a:ext cx="3581747" cy="254892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98C26BD3-375E-1EDA-DF88-D11C09E9AD56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2A11B57B-2143-2F16-740B-9167BDC879A1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41C5DBF2-4AF6-17D6-CDBA-15E2232FE136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文本占位符 43">
            <a:extLst>
              <a:ext uri="{FF2B5EF4-FFF2-40B4-BE49-F238E27FC236}">
                <a16:creationId xmlns:a16="http://schemas.microsoft.com/office/drawing/2014/main" id="{0A0427D2-0B70-80BA-6010-AB7F415F91B0}"/>
              </a:ext>
            </a:extLst>
          </p:cNvPr>
          <p:cNvSpPr txBox="1"/>
          <p:nvPr/>
        </p:nvSpPr>
        <p:spPr>
          <a:xfrm>
            <a:off x="399891" y="349328"/>
            <a:ext cx="6495687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舆情争议</a:t>
            </a:r>
            <a:r>
              <a:rPr lang="en-US" altLang="zh-CN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官方回应后出现次生舆情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7BFC4F4B-774F-6BC4-9643-3848ABA61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085D994-A7B9-3085-64C0-554F8E9C1A9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45174912-1CF7-7433-7ACF-11F0630BB3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924" y="948320"/>
            <a:ext cx="3306358" cy="246583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A4A1726-E996-BDCE-A545-762110F1A8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875" y="936883"/>
            <a:ext cx="3409824" cy="247726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3C761CA-A41E-A388-8A6C-D7350ECF6F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7738" y="906521"/>
            <a:ext cx="3808886" cy="263208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542542A-0C14-EE9D-6FCE-9B1BAC58E8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7973" y="898353"/>
            <a:ext cx="3918651" cy="2632080"/>
          </a:xfrm>
          <a:prstGeom prst="rect">
            <a:avLst/>
          </a:prstGeom>
        </p:spPr>
      </p:pic>
      <p:sp>
        <p:nvSpPr>
          <p:cNvPr id="24" name="星形: 六角 23">
            <a:extLst>
              <a:ext uri="{FF2B5EF4-FFF2-40B4-BE49-F238E27FC236}">
                <a16:creationId xmlns:a16="http://schemas.microsoft.com/office/drawing/2014/main" id="{1426C6C6-CC96-2829-0AC9-8B0FE843D0A5}"/>
              </a:ext>
            </a:extLst>
          </p:cNvPr>
          <p:cNvSpPr/>
          <p:nvPr/>
        </p:nvSpPr>
        <p:spPr>
          <a:xfrm>
            <a:off x="661237" y="6068860"/>
            <a:ext cx="10979779" cy="752133"/>
          </a:xfrm>
          <a:prstGeom prst="star6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24BFCA2-4A50-CB58-CBA8-96BB1FD8BFF6}"/>
              </a:ext>
            </a:extLst>
          </p:cNvPr>
          <p:cNvSpPr txBox="1"/>
          <p:nvPr/>
        </p:nvSpPr>
        <p:spPr>
          <a:xfrm>
            <a:off x="2647603" y="6291037"/>
            <a:ext cx="7007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事件由</a:t>
            </a:r>
            <a:r>
              <a:rPr lang="zh-CN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普通车位纠纷</a:t>
            </a:r>
            <a:r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逐步转变为</a:t>
            </a:r>
            <a:r>
              <a:rPr lang="zh-CN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涉及干部作风、处置公平和政府公信力的公共舆情事件</a:t>
            </a:r>
            <a:endParaRPr lang="zh-CN" altLang="en-US" sz="1400">
              <a:solidFill>
                <a:srgbClr val="FF0000"/>
              </a:solidFill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EC14E30D-0269-79E5-EF3E-4B023A835E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706" y="948320"/>
            <a:ext cx="3806471" cy="3864269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596968D2-80D8-436D-FCCC-E483CA4C5D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705" y="948320"/>
            <a:ext cx="3806471" cy="3866987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D0BC8147-9A66-FC69-F88F-C220DFFD66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2775" y="901054"/>
            <a:ext cx="3734291" cy="2548925"/>
          </a:xfrm>
          <a:prstGeom prst="rect">
            <a:avLst/>
          </a:prstGeom>
        </p:spPr>
      </p:pic>
      <p:sp>
        <p:nvSpPr>
          <p:cNvPr id="45" name="思想气泡: 云 44">
            <a:extLst>
              <a:ext uri="{FF2B5EF4-FFF2-40B4-BE49-F238E27FC236}">
                <a16:creationId xmlns:a16="http://schemas.microsoft.com/office/drawing/2014/main" id="{CEBADF47-BEF4-4879-DD6F-46168EFE3770}"/>
              </a:ext>
            </a:extLst>
          </p:cNvPr>
          <p:cNvSpPr/>
          <p:nvPr/>
        </p:nvSpPr>
        <p:spPr>
          <a:xfrm>
            <a:off x="8354860" y="3588570"/>
            <a:ext cx="3611764" cy="2071774"/>
          </a:xfrm>
          <a:prstGeom prst="cloudCallou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F28F54F-7710-ABFA-6067-42AE3D507249}"/>
              </a:ext>
            </a:extLst>
          </p:cNvPr>
          <p:cNvSpPr txBox="1"/>
          <p:nvPr/>
        </p:nvSpPr>
        <p:spPr>
          <a:xfrm>
            <a:off x="4943652" y="4014592"/>
            <a:ext cx="31722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本身就是一个很简单的问题，占了别人的车位拒不归还，警察上门直接处理就完事了，就因为对方是公职人员，然后浪费了这么多部门的公共资源来解决这个事情？那这不叫公职人员，这叫特权人员。</a:t>
            </a:r>
            <a:endParaRPr lang="en-US" alt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纪委也应适时介入了！对该公职人员有背于公序良俗的违法行为追责</a:t>
            </a:r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</a:p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停职处理太轻了，其行为严重影响到公仆的形象，最少都要双开，否则严重影响到政府的形象</a:t>
            </a:r>
            <a:endParaRPr lang="zh-CN" altLang="en-US" sz="800"/>
          </a:p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……..</a:t>
            </a:r>
          </a:p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思想气泡: 云 3">
            <a:extLst>
              <a:ext uri="{FF2B5EF4-FFF2-40B4-BE49-F238E27FC236}">
                <a16:creationId xmlns:a16="http://schemas.microsoft.com/office/drawing/2014/main" id="{A48B0859-7F9C-6806-B381-D500A540761C}"/>
              </a:ext>
            </a:extLst>
          </p:cNvPr>
          <p:cNvSpPr/>
          <p:nvPr/>
        </p:nvSpPr>
        <p:spPr>
          <a:xfrm>
            <a:off x="4600684" y="3633018"/>
            <a:ext cx="3754175" cy="2027325"/>
          </a:xfrm>
          <a:prstGeom prst="cloudCallou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FC4255-9331-9A17-5124-210B71D85979}"/>
              </a:ext>
            </a:extLst>
          </p:cNvPr>
          <p:cNvSpPr txBox="1"/>
          <p:nvPr/>
        </p:nvSpPr>
        <p:spPr>
          <a:xfrm>
            <a:off x="8706840" y="4014592"/>
            <a:ext cx="3172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这通告是把我们普通老百姓都当傻子吗？ 当官的侵权停车叫“停”，老百姓维权停车就叫“堵”……好文笔呀…… 体育局想就这么偏袒过关吗？！……</a:t>
            </a:r>
            <a:endParaRPr lang="en-US" alt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霸占是源，维权是果，通报却玩“堵住/停放”的文字游戏护短洗白。这哪是定分止争，分明是刀笔削责、透支公信，越解释越显心虚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耍小聪明的笔杆子</a:t>
            </a:r>
            <a:endParaRPr lang="en-US" alt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赤裸裸的护犊子</a:t>
            </a:r>
            <a:endParaRPr lang="en-US" alt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055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/>
      <p:bldP spid="45" grpId="0" animBg="1"/>
      <p:bldP spid="47" grpId="0"/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2" name="直接连接符 61"/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文本占位符 43"/>
          <p:cNvSpPr txBox="1"/>
          <p:nvPr/>
        </p:nvSpPr>
        <p:spPr>
          <a:xfrm>
            <a:off x="399891" y="349328"/>
            <a:ext cx="6220114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r>
              <a:rPr lang="en-US" altLang="zh-CN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从事后观察走向事前推演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32TERJTUKUILFYTRA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0752EE9-6A28-682D-251F-03E78431519C}"/>
              </a:ext>
            </a:extLst>
          </p:cNvPr>
          <p:cNvSpPr txBox="1"/>
          <p:nvPr/>
        </p:nvSpPr>
        <p:spPr>
          <a:xfrm>
            <a:off x="528706" y="1093061"/>
            <a:ext cx="2887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现实问题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7FAF242-2948-82BE-BDDD-A887EB98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974101"/>
              </p:ext>
            </p:extLst>
          </p:nvPr>
        </p:nvGraphicFramePr>
        <p:xfrm>
          <a:off x="528706" y="1706351"/>
          <a:ext cx="10515600" cy="152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840915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642680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现实问题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具体表现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1925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回应时机难判断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过早可能事实不清，过晚可能错过处置窗口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6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回应内容难比较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不同表达方式可能引发不同公众反应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2124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群体反应有差异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不同公众对同一声明的接受程度不同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0372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现实试错成本高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同一事件无法在现实中同时尝试多种回应方案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75006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73D6CFD-543C-9615-A511-F88406561992}"/>
              </a:ext>
            </a:extLst>
          </p:cNvPr>
          <p:cNvSpPr txBox="1"/>
          <p:nvPr/>
        </p:nvSpPr>
        <p:spPr>
          <a:xfrm>
            <a:off x="528706" y="3369501"/>
            <a:ext cx="42402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项目目标：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模拟不同公众群体的意见表达与情绪变化</a:t>
            </a:r>
          </a:p>
          <a:p>
            <a:pPr lvl="0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对照分析不同官方回应策略的潜在效果</a:t>
            </a:r>
          </a:p>
          <a:p>
            <a:pPr lvl="0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输出负面率、质疑率、接受率及情绪恢复等指标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9145E2B-EE7B-2710-30F3-36A858D5396E}"/>
              </a:ext>
            </a:extLst>
          </p:cNvPr>
          <p:cNvSpPr/>
          <p:nvPr/>
        </p:nvSpPr>
        <p:spPr>
          <a:xfrm>
            <a:off x="2674307" y="5880969"/>
            <a:ext cx="7465512" cy="870559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856257-352F-723D-EDC8-B5E271F97332}"/>
              </a:ext>
            </a:extLst>
          </p:cNvPr>
          <p:cNvSpPr txBox="1"/>
          <p:nvPr/>
        </p:nvSpPr>
        <p:spPr>
          <a:xfrm>
            <a:off x="3098104" y="6177748"/>
            <a:ext cx="6801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本系统用于辅助推演和方案比较，不预测真实个体行为，不替代实际监测、专家研判与业务决策。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919E2-3385-CB6F-C926-109190E61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>
            <a:extLst>
              <a:ext uri="{FF2B5EF4-FFF2-40B4-BE49-F238E27FC236}">
                <a16:creationId xmlns:a16="http://schemas.microsoft.com/office/drawing/2014/main" id="{641CC9E5-6090-ABAC-8783-287F572F3EC2}"/>
              </a:ext>
            </a:extLst>
          </p:cNvPr>
          <p:cNvSpPr/>
          <p:nvPr/>
        </p:nvSpPr>
        <p:spPr>
          <a:xfrm>
            <a:off x="3302000" y="635000"/>
            <a:ext cx="5588000" cy="5588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556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1" name="圆: 空心 4">
            <a:extLst>
              <a:ext uri="{FF2B5EF4-FFF2-40B4-BE49-F238E27FC236}">
                <a16:creationId xmlns:a16="http://schemas.microsoft.com/office/drawing/2014/main" id="{877F7D71-C88A-2125-B4C2-1C1149249662}"/>
              </a:ext>
            </a:extLst>
          </p:cNvPr>
          <p:cNvSpPr/>
          <p:nvPr/>
        </p:nvSpPr>
        <p:spPr>
          <a:xfrm>
            <a:off x="1574800" y="-1092200"/>
            <a:ext cx="9042400" cy="9042400"/>
          </a:xfrm>
          <a:prstGeom prst="donut">
            <a:avLst>
              <a:gd name="adj" fmla="val 6774"/>
            </a:avLst>
          </a:prstGeom>
          <a:gradFill>
            <a:gsLst>
              <a:gs pos="43000">
                <a:srgbClr val="2257AE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15F760-0D60-A623-85E4-808A23572761}"/>
              </a:ext>
            </a:extLst>
          </p:cNvPr>
          <p:cNvSpPr txBox="1"/>
          <p:nvPr/>
        </p:nvSpPr>
        <p:spPr>
          <a:xfrm>
            <a:off x="4930719" y="3289880"/>
            <a:ext cx="2275550" cy="791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000">
                <a:solidFill>
                  <a:srgbClr val="2257AE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技术方案</a:t>
            </a:r>
            <a:endParaRPr lang="zh-CN" altLang="en-US" sz="4000" dirty="0">
              <a:solidFill>
                <a:srgbClr val="2257AE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1A58E19C-DC42-77EF-0E8D-A3EFAA44D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325" y="1803400"/>
            <a:ext cx="1403350" cy="140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3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文本占位符 43"/>
          <p:cNvSpPr txBox="1"/>
          <p:nvPr/>
        </p:nvSpPr>
        <p:spPr>
          <a:xfrm>
            <a:off x="399891" y="349328"/>
            <a:ext cx="3251446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技术方案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总体结构</a:t>
            </a:r>
            <a:endParaRPr lang="zh-CN" altLang="en-US" b="0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 descr="32TERJTUKUILFYTRA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68" name="arrow-input-to-simulation">
            <a:extLst>
              <a:ext uri="{FF2B5EF4-FFF2-40B4-BE49-F238E27FC236}">
                <a16:creationId xmlns:a16="http://schemas.microsoft.com/office/drawing/2014/main" id="{0FB155E0-3B21-DDE3-E1FF-4DBCC113C8C0}"/>
              </a:ext>
            </a:extLst>
          </p:cNvPr>
          <p:cNvSpPr/>
          <p:nvPr/>
        </p:nvSpPr>
        <p:spPr>
          <a:xfrm>
            <a:off x="3898889" y="3381332"/>
            <a:ext cx="431800" cy="406400"/>
          </a:xfrm>
          <a:prstGeom prst="rightArrow">
            <a:avLst/>
          </a:prstGeom>
          <a:solidFill>
            <a:srgbClr val="246BC9"/>
          </a:solidFill>
          <a:ln w="0">
            <a:solidFill>
              <a:srgbClr val="246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arrow-simulation-to-output">
            <a:extLst>
              <a:ext uri="{FF2B5EF4-FFF2-40B4-BE49-F238E27FC236}">
                <a16:creationId xmlns:a16="http://schemas.microsoft.com/office/drawing/2014/main" id="{DC172A1E-194F-AC92-EEED-A81AA90D5CF1}"/>
              </a:ext>
            </a:extLst>
          </p:cNvPr>
          <p:cNvSpPr/>
          <p:nvPr/>
        </p:nvSpPr>
        <p:spPr>
          <a:xfrm>
            <a:off x="7899389" y="3381332"/>
            <a:ext cx="431800" cy="406400"/>
          </a:xfrm>
          <a:prstGeom prst="rightArrow">
            <a:avLst/>
          </a:prstGeom>
          <a:solidFill>
            <a:srgbClr val="246BC9"/>
          </a:solidFill>
          <a:ln w="0">
            <a:solidFill>
              <a:srgbClr val="246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input-card">
            <a:extLst>
              <a:ext uri="{FF2B5EF4-FFF2-40B4-BE49-F238E27FC236}">
                <a16:creationId xmlns:a16="http://schemas.microsoft.com/office/drawing/2014/main" id="{600CBBEA-5EC3-53D0-FDBF-166AA70D7523}"/>
              </a:ext>
            </a:extLst>
          </p:cNvPr>
          <p:cNvSpPr/>
          <p:nvPr/>
        </p:nvSpPr>
        <p:spPr>
          <a:xfrm>
            <a:off x="406389" y="1806532"/>
            <a:ext cx="3429000" cy="38735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763D4"/>
            </a:solidFill>
          </a:ln>
          <a:effectLst>
            <a:outerShdw blurRad="76200" dist="25400" dir="5400000" rotWithShape="0">
              <a:srgbClr val="173F5F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input-header-round">
            <a:extLst>
              <a:ext uri="{FF2B5EF4-FFF2-40B4-BE49-F238E27FC236}">
                <a16:creationId xmlns:a16="http://schemas.microsoft.com/office/drawing/2014/main" id="{C6E26060-3AA6-1985-01CE-0ED708AD5BD2}"/>
              </a:ext>
            </a:extLst>
          </p:cNvPr>
          <p:cNvSpPr/>
          <p:nvPr/>
        </p:nvSpPr>
        <p:spPr>
          <a:xfrm>
            <a:off x="406389" y="1806532"/>
            <a:ext cx="3429000" cy="761997"/>
          </a:xfrm>
          <a:prstGeom prst="roundRect">
            <a:avLst/>
          </a:prstGeom>
          <a:gradFill flip="none" rotWithShape="1">
            <a:gsLst>
              <a:gs pos="0">
                <a:srgbClr val="1763D4"/>
              </a:gs>
              <a:gs pos="100000">
                <a:srgbClr val="2F80ED"/>
              </a:gs>
            </a:gsLst>
            <a:lin ang="5400000" scaled="1"/>
            <a:tileRect/>
          </a:gradFill>
          <a:ln w="0">
            <a:solidFill>
              <a:srgbClr val="1763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input-header">
            <a:extLst>
              <a:ext uri="{FF2B5EF4-FFF2-40B4-BE49-F238E27FC236}">
                <a16:creationId xmlns:a16="http://schemas.microsoft.com/office/drawing/2014/main" id="{D322BED6-C538-916C-B9FD-7C7BE389A367}"/>
              </a:ext>
            </a:extLst>
          </p:cNvPr>
          <p:cNvSpPr txBox="1"/>
          <p:nvPr/>
        </p:nvSpPr>
        <p:spPr>
          <a:xfrm>
            <a:off x="406389" y="1870032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输入层</a:t>
            </a:r>
          </a:p>
        </p:txBody>
      </p:sp>
      <p:pic>
        <p:nvPicPr>
          <p:cNvPr id="76" name="input-icon-1">
            <a:extLst>
              <a:ext uri="{FF2B5EF4-FFF2-40B4-BE49-F238E27FC236}">
                <a16:creationId xmlns:a16="http://schemas.microsoft.com/office/drawing/2014/main" id="{1CE9EE5E-8DE8-022A-A86D-B94793E68175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89" y="2593932"/>
            <a:ext cx="571500" cy="571500"/>
          </a:xfrm>
          <a:prstGeom prst="rect">
            <a:avLst/>
          </a:prstGeom>
        </p:spPr>
      </p:pic>
      <p:sp>
        <p:nvSpPr>
          <p:cNvPr id="77" name="input-item-1">
            <a:extLst>
              <a:ext uri="{FF2B5EF4-FFF2-40B4-BE49-F238E27FC236}">
                <a16:creationId xmlns:a16="http://schemas.microsoft.com/office/drawing/2014/main" id="{DA55033A-B990-D118-7905-86940E85166B}"/>
              </a:ext>
            </a:extLst>
          </p:cNvPr>
          <p:cNvSpPr txBox="1"/>
          <p:nvPr/>
        </p:nvSpPr>
        <p:spPr>
          <a:xfrm>
            <a:off x="1498589" y="2735524"/>
            <a:ext cx="22860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事件材料</a:t>
            </a:r>
          </a:p>
        </p:txBody>
      </p:sp>
      <p:cxnSp>
        <p:nvCxnSpPr>
          <p:cNvPr id="78" name="input-separator-1">
            <a:extLst>
              <a:ext uri="{FF2B5EF4-FFF2-40B4-BE49-F238E27FC236}">
                <a16:creationId xmlns:a16="http://schemas.microsoft.com/office/drawing/2014/main" id="{06A07D61-B27E-9690-7C45-DCED031C4626}"/>
              </a:ext>
            </a:extLst>
          </p:cNvPr>
          <p:cNvCxnSpPr/>
          <p:nvPr/>
        </p:nvCxnSpPr>
        <p:spPr>
          <a:xfrm>
            <a:off x="634989" y="3254332"/>
            <a:ext cx="2971800" cy="0"/>
          </a:xfrm>
          <a:prstGeom prst="line">
            <a:avLst/>
          </a:prstGeom>
          <a:ln w="12700">
            <a:solidFill>
              <a:srgbClr val="D9DEE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input-icon-2">
            <a:extLst>
              <a:ext uri="{FF2B5EF4-FFF2-40B4-BE49-F238E27FC236}">
                <a16:creationId xmlns:a16="http://schemas.microsoft.com/office/drawing/2014/main" id="{7EEF46F8-A86F-DB44-1C7D-FA70B1439A2D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89" y="3355932"/>
            <a:ext cx="571500" cy="571500"/>
          </a:xfrm>
          <a:prstGeom prst="rect">
            <a:avLst/>
          </a:prstGeom>
        </p:spPr>
      </p:pic>
      <p:sp>
        <p:nvSpPr>
          <p:cNvPr id="81" name="input-item-2">
            <a:extLst>
              <a:ext uri="{FF2B5EF4-FFF2-40B4-BE49-F238E27FC236}">
                <a16:creationId xmlns:a16="http://schemas.microsoft.com/office/drawing/2014/main" id="{C0010832-1880-5B78-8FE4-559DF7E1DA4D}"/>
              </a:ext>
            </a:extLst>
          </p:cNvPr>
          <p:cNvSpPr txBox="1"/>
          <p:nvPr/>
        </p:nvSpPr>
        <p:spPr>
          <a:xfrm>
            <a:off x="1447789" y="3426196"/>
            <a:ext cx="22860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人物画像</a:t>
            </a:r>
          </a:p>
        </p:txBody>
      </p:sp>
      <p:cxnSp>
        <p:nvCxnSpPr>
          <p:cNvPr id="82" name="input-separator-2">
            <a:extLst>
              <a:ext uri="{FF2B5EF4-FFF2-40B4-BE49-F238E27FC236}">
                <a16:creationId xmlns:a16="http://schemas.microsoft.com/office/drawing/2014/main" id="{9139D3B9-43EC-7DA0-A0E3-3ADC614D070D}"/>
              </a:ext>
            </a:extLst>
          </p:cNvPr>
          <p:cNvCxnSpPr/>
          <p:nvPr/>
        </p:nvCxnSpPr>
        <p:spPr>
          <a:xfrm>
            <a:off x="634989" y="4016332"/>
            <a:ext cx="2971800" cy="0"/>
          </a:xfrm>
          <a:prstGeom prst="line">
            <a:avLst/>
          </a:prstGeom>
          <a:ln w="12700">
            <a:solidFill>
              <a:srgbClr val="D9DEE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input-icon-3">
            <a:extLst>
              <a:ext uri="{FF2B5EF4-FFF2-40B4-BE49-F238E27FC236}">
                <a16:creationId xmlns:a16="http://schemas.microsoft.com/office/drawing/2014/main" id="{F66A4831-382F-2DFE-9EF7-DD32E3867891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89" y="4117932"/>
            <a:ext cx="571500" cy="571500"/>
          </a:xfrm>
          <a:prstGeom prst="rect">
            <a:avLst/>
          </a:prstGeom>
        </p:spPr>
      </p:pic>
      <p:sp>
        <p:nvSpPr>
          <p:cNvPr id="85" name="input-item-3">
            <a:extLst>
              <a:ext uri="{FF2B5EF4-FFF2-40B4-BE49-F238E27FC236}">
                <a16:creationId xmlns:a16="http://schemas.microsoft.com/office/drawing/2014/main" id="{CE76D09C-22EA-2613-9B0F-9348799252E3}"/>
              </a:ext>
            </a:extLst>
          </p:cNvPr>
          <p:cNvSpPr txBox="1"/>
          <p:nvPr/>
        </p:nvSpPr>
        <p:spPr>
          <a:xfrm>
            <a:off x="1498589" y="4191327"/>
            <a:ext cx="22860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官方回应方案</a:t>
            </a:r>
          </a:p>
        </p:txBody>
      </p:sp>
      <p:cxnSp>
        <p:nvCxnSpPr>
          <p:cNvPr id="86" name="input-separator-3">
            <a:extLst>
              <a:ext uri="{FF2B5EF4-FFF2-40B4-BE49-F238E27FC236}">
                <a16:creationId xmlns:a16="http://schemas.microsoft.com/office/drawing/2014/main" id="{5DED1764-9CA3-BDB5-DA94-F039AF0B96BD}"/>
              </a:ext>
            </a:extLst>
          </p:cNvPr>
          <p:cNvCxnSpPr/>
          <p:nvPr/>
        </p:nvCxnSpPr>
        <p:spPr>
          <a:xfrm>
            <a:off x="634989" y="4778332"/>
            <a:ext cx="2971800" cy="0"/>
          </a:xfrm>
          <a:prstGeom prst="line">
            <a:avLst/>
          </a:prstGeom>
          <a:ln w="12700">
            <a:solidFill>
              <a:srgbClr val="D9DEE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input-icon-4">
            <a:extLst>
              <a:ext uri="{FF2B5EF4-FFF2-40B4-BE49-F238E27FC236}">
                <a16:creationId xmlns:a16="http://schemas.microsoft.com/office/drawing/2014/main" id="{66D5E57F-EF17-5C15-D4A9-695720709E80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89" y="4879932"/>
            <a:ext cx="571500" cy="571500"/>
          </a:xfrm>
          <a:prstGeom prst="rect">
            <a:avLst/>
          </a:prstGeom>
        </p:spPr>
      </p:pic>
      <p:sp>
        <p:nvSpPr>
          <p:cNvPr id="89" name="input-item-4">
            <a:extLst>
              <a:ext uri="{FF2B5EF4-FFF2-40B4-BE49-F238E27FC236}">
                <a16:creationId xmlns:a16="http://schemas.microsoft.com/office/drawing/2014/main" id="{D694659B-3C79-02D6-1197-10124724C817}"/>
              </a:ext>
            </a:extLst>
          </p:cNvPr>
          <p:cNvSpPr txBox="1"/>
          <p:nvPr/>
        </p:nvSpPr>
        <p:spPr>
          <a:xfrm>
            <a:off x="1498589" y="4956458"/>
            <a:ext cx="22860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实验运行参数</a:t>
            </a:r>
          </a:p>
        </p:txBody>
      </p:sp>
      <p:sp>
        <p:nvSpPr>
          <p:cNvPr id="90" name="simulation-card">
            <a:extLst>
              <a:ext uri="{FF2B5EF4-FFF2-40B4-BE49-F238E27FC236}">
                <a16:creationId xmlns:a16="http://schemas.microsoft.com/office/drawing/2014/main" id="{90B4F71C-30D0-4AE1-AAF7-0E906D5498E9}"/>
              </a:ext>
            </a:extLst>
          </p:cNvPr>
          <p:cNvSpPr/>
          <p:nvPr/>
        </p:nvSpPr>
        <p:spPr>
          <a:xfrm>
            <a:off x="4406889" y="1806532"/>
            <a:ext cx="3429000" cy="38735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B9A8E"/>
            </a:solidFill>
          </a:ln>
          <a:effectLst>
            <a:outerShdw blurRad="76200" dist="25400" dir="5400000" rotWithShape="0">
              <a:srgbClr val="173F5F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simulation-header-round">
            <a:extLst>
              <a:ext uri="{FF2B5EF4-FFF2-40B4-BE49-F238E27FC236}">
                <a16:creationId xmlns:a16="http://schemas.microsoft.com/office/drawing/2014/main" id="{7BA9B725-9A91-2147-F40F-22C30E1A5015}"/>
              </a:ext>
            </a:extLst>
          </p:cNvPr>
          <p:cNvSpPr/>
          <p:nvPr/>
        </p:nvSpPr>
        <p:spPr>
          <a:xfrm>
            <a:off x="4406889" y="1806532"/>
            <a:ext cx="3429000" cy="761999"/>
          </a:xfrm>
          <a:prstGeom prst="roundRect">
            <a:avLst/>
          </a:prstGeom>
          <a:gradFill flip="none" rotWithShape="1">
            <a:gsLst>
              <a:gs pos="0">
                <a:srgbClr val="0B9A8E"/>
              </a:gs>
              <a:gs pos="100000">
                <a:srgbClr val="24B5A5"/>
              </a:gs>
            </a:gsLst>
            <a:lin ang="5400000" scaled="1"/>
            <a:tileRect/>
          </a:gradFill>
          <a:ln w="0">
            <a:solidFill>
              <a:srgbClr val="0B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simulation-header">
            <a:extLst>
              <a:ext uri="{FF2B5EF4-FFF2-40B4-BE49-F238E27FC236}">
                <a16:creationId xmlns:a16="http://schemas.microsoft.com/office/drawing/2014/main" id="{3C20B058-1B37-2318-FF01-5D111422ED73}"/>
              </a:ext>
            </a:extLst>
          </p:cNvPr>
          <p:cNvSpPr txBox="1"/>
          <p:nvPr/>
        </p:nvSpPr>
        <p:spPr>
          <a:xfrm>
            <a:off x="4406889" y="1870032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仿真层</a:t>
            </a:r>
          </a:p>
        </p:txBody>
      </p:sp>
      <p:pic>
        <p:nvPicPr>
          <p:cNvPr id="96" name="simulation-icon-1">
            <a:extLst>
              <a:ext uri="{FF2B5EF4-FFF2-40B4-BE49-F238E27FC236}">
                <a16:creationId xmlns:a16="http://schemas.microsoft.com/office/drawing/2014/main" id="{CCFFF1DB-C407-A250-60F8-3E8905A11992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089" y="2593932"/>
            <a:ext cx="571500" cy="571500"/>
          </a:xfrm>
          <a:prstGeom prst="rect">
            <a:avLst/>
          </a:prstGeom>
        </p:spPr>
      </p:pic>
      <p:sp>
        <p:nvSpPr>
          <p:cNvPr id="97" name="simulation-item-1">
            <a:extLst>
              <a:ext uri="{FF2B5EF4-FFF2-40B4-BE49-F238E27FC236}">
                <a16:creationId xmlns:a16="http://schemas.microsoft.com/office/drawing/2014/main" id="{4B9D390D-6359-244B-85C5-E41BA042CAA0}"/>
              </a:ext>
            </a:extLst>
          </p:cNvPr>
          <p:cNvSpPr txBox="1"/>
          <p:nvPr/>
        </p:nvSpPr>
        <p:spPr>
          <a:xfrm>
            <a:off x="5429239" y="2725698"/>
            <a:ext cx="22860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初始舆论环境生成</a:t>
            </a:r>
          </a:p>
        </p:txBody>
      </p:sp>
      <p:cxnSp>
        <p:nvCxnSpPr>
          <p:cNvPr id="98" name="simulation-separator-1">
            <a:extLst>
              <a:ext uri="{FF2B5EF4-FFF2-40B4-BE49-F238E27FC236}">
                <a16:creationId xmlns:a16="http://schemas.microsoft.com/office/drawing/2014/main" id="{01503F17-ADD4-9F08-C92E-CBC12A1DD873}"/>
              </a:ext>
            </a:extLst>
          </p:cNvPr>
          <p:cNvCxnSpPr/>
          <p:nvPr/>
        </p:nvCxnSpPr>
        <p:spPr>
          <a:xfrm>
            <a:off x="4635489" y="3254332"/>
            <a:ext cx="2971800" cy="0"/>
          </a:xfrm>
          <a:prstGeom prst="line">
            <a:avLst/>
          </a:prstGeom>
          <a:ln w="12700">
            <a:solidFill>
              <a:srgbClr val="D9DEE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simulation-icon-2">
            <a:extLst>
              <a:ext uri="{FF2B5EF4-FFF2-40B4-BE49-F238E27FC236}">
                <a16:creationId xmlns:a16="http://schemas.microsoft.com/office/drawing/2014/main" id="{57BCF3B6-DCE0-276E-E803-D1C75805499A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089" y="3355932"/>
            <a:ext cx="571500" cy="571500"/>
          </a:xfrm>
          <a:prstGeom prst="rect">
            <a:avLst/>
          </a:prstGeom>
        </p:spPr>
      </p:pic>
      <p:sp>
        <p:nvSpPr>
          <p:cNvPr id="101" name="simulation-item-2">
            <a:extLst>
              <a:ext uri="{FF2B5EF4-FFF2-40B4-BE49-F238E27FC236}">
                <a16:creationId xmlns:a16="http://schemas.microsoft.com/office/drawing/2014/main" id="{63A37887-91F4-1ED1-30F5-E8C1DC5E1BFE}"/>
              </a:ext>
            </a:extLst>
          </p:cNvPr>
          <p:cNvSpPr txBox="1"/>
          <p:nvPr/>
        </p:nvSpPr>
        <p:spPr>
          <a:xfrm>
            <a:off x="5499089" y="3434533"/>
            <a:ext cx="22860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500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500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感知与自主决策</a:t>
            </a:r>
          </a:p>
        </p:txBody>
      </p:sp>
      <p:cxnSp>
        <p:nvCxnSpPr>
          <p:cNvPr id="102" name="simulation-separator-2">
            <a:extLst>
              <a:ext uri="{FF2B5EF4-FFF2-40B4-BE49-F238E27FC236}">
                <a16:creationId xmlns:a16="http://schemas.microsoft.com/office/drawing/2014/main" id="{EEF54FF3-74B5-D61F-3AD4-193ECDBB1D25}"/>
              </a:ext>
            </a:extLst>
          </p:cNvPr>
          <p:cNvCxnSpPr/>
          <p:nvPr/>
        </p:nvCxnSpPr>
        <p:spPr>
          <a:xfrm>
            <a:off x="4635489" y="4016332"/>
            <a:ext cx="2971800" cy="0"/>
          </a:xfrm>
          <a:prstGeom prst="line">
            <a:avLst/>
          </a:prstGeom>
          <a:ln w="12700">
            <a:solidFill>
              <a:srgbClr val="D9DEE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" name="simulation-icon-3">
            <a:extLst>
              <a:ext uri="{FF2B5EF4-FFF2-40B4-BE49-F238E27FC236}">
                <a16:creationId xmlns:a16="http://schemas.microsoft.com/office/drawing/2014/main" id="{D9606C4B-F84D-0EBF-853C-67B2DC4ECDAC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089" y="4117932"/>
            <a:ext cx="571500" cy="571500"/>
          </a:xfrm>
          <a:prstGeom prst="rect">
            <a:avLst/>
          </a:prstGeom>
        </p:spPr>
      </p:pic>
      <p:sp>
        <p:nvSpPr>
          <p:cNvPr id="105" name="simulation-item-3">
            <a:extLst>
              <a:ext uri="{FF2B5EF4-FFF2-40B4-BE49-F238E27FC236}">
                <a16:creationId xmlns:a16="http://schemas.microsoft.com/office/drawing/2014/main" id="{B82136DE-0B47-0765-0C5A-4D3E83E6417C}"/>
              </a:ext>
            </a:extLst>
          </p:cNvPr>
          <p:cNvSpPr txBox="1"/>
          <p:nvPr/>
        </p:nvSpPr>
        <p:spPr>
          <a:xfrm>
            <a:off x="5499089" y="4232615"/>
            <a:ext cx="22860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评论传播与迭代</a:t>
            </a:r>
          </a:p>
        </p:txBody>
      </p:sp>
      <p:cxnSp>
        <p:nvCxnSpPr>
          <p:cNvPr id="106" name="simulation-separator-3">
            <a:extLst>
              <a:ext uri="{FF2B5EF4-FFF2-40B4-BE49-F238E27FC236}">
                <a16:creationId xmlns:a16="http://schemas.microsoft.com/office/drawing/2014/main" id="{CA67D0D9-7EE0-44A2-2CFA-EC5C28E27455}"/>
              </a:ext>
            </a:extLst>
          </p:cNvPr>
          <p:cNvCxnSpPr/>
          <p:nvPr/>
        </p:nvCxnSpPr>
        <p:spPr>
          <a:xfrm>
            <a:off x="4635489" y="4778332"/>
            <a:ext cx="2971800" cy="0"/>
          </a:xfrm>
          <a:prstGeom prst="line">
            <a:avLst/>
          </a:prstGeom>
          <a:ln w="12700">
            <a:solidFill>
              <a:srgbClr val="D9DEE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simulation-icon-4">
            <a:extLst>
              <a:ext uri="{FF2B5EF4-FFF2-40B4-BE49-F238E27FC236}">
                <a16:creationId xmlns:a16="http://schemas.microsoft.com/office/drawing/2014/main" id="{4D0926E0-3E63-2118-101C-183598BFA08F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089" y="4879932"/>
            <a:ext cx="571500" cy="571500"/>
          </a:xfrm>
          <a:prstGeom prst="rect">
            <a:avLst/>
          </a:prstGeom>
        </p:spPr>
      </p:pic>
      <p:sp>
        <p:nvSpPr>
          <p:cNvPr id="109" name="simulation-item-4">
            <a:extLst>
              <a:ext uri="{FF2B5EF4-FFF2-40B4-BE49-F238E27FC236}">
                <a16:creationId xmlns:a16="http://schemas.microsoft.com/office/drawing/2014/main" id="{9765CF97-A7A7-43F1-67E6-DAECAF80780D}"/>
              </a:ext>
            </a:extLst>
          </p:cNvPr>
          <p:cNvSpPr txBox="1"/>
          <p:nvPr/>
        </p:nvSpPr>
        <p:spPr>
          <a:xfrm>
            <a:off x="5499089" y="4923494"/>
            <a:ext cx="22860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官方动态进场与策略对照</a:t>
            </a:r>
          </a:p>
        </p:txBody>
      </p:sp>
      <p:sp>
        <p:nvSpPr>
          <p:cNvPr id="110" name="output-card">
            <a:extLst>
              <a:ext uri="{FF2B5EF4-FFF2-40B4-BE49-F238E27FC236}">
                <a16:creationId xmlns:a16="http://schemas.microsoft.com/office/drawing/2014/main" id="{E3C45471-CA63-6C35-7C92-030C6879F9C4}"/>
              </a:ext>
            </a:extLst>
          </p:cNvPr>
          <p:cNvSpPr/>
          <p:nvPr/>
        </p:nvSpPr>
        <p:spPr>
          <a:xfrm>
            <a:off x="8407389" y="1806532"/>
            <a:ext cx="3429000" cy="38735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17812"/>
            </a:solidFill>
          </a:ln>
          <a:effectLst>
            <a:outerShdw blurRad="76200" dist="25400" dir="5400000" rotWithShape="0">
              <a:srgbClr val="173F5F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output-header-round">
            <a:extLst>
              <a:ext uri="{FF2B5EF4-FFF2-40B4-BE49-F238E27FC236}">
                <a16:creationId xmlns:a16="http://schemas.microsoft.com/office/drawing/2014/main" id="{B06C6461-1D4D-2CB4-0FD3-2731AD6A1155}"/>
              </a:ext>
            </a:extLst>
          </p:cNvPr>
          <p:cNvSpPr/>
          <p:nvPr/>
        </p:nvSpPr>
        <p:spPr>
          <a:xfrm>
            <a:off x="8407389" y="1806532"/>
            <a:ext cx="3429000" cy="761999"/>
          </a:xfrm>
          <a:prstGeom prst="roundRect">
            <a:avLst/>
          </a:prstGeom>
          <a:gradFill flip="none" rotWithShape="1">
            <a:gsLst>
              <a:gs pos="0">
                <a:srgbClr val="F17812"/>
              </a:gs>
              <a:gs pos="100000">
                <a:srgbClr val="FF962F"/>
              </a:gs>
            </a:gsLst>
            <a:lin ang="5400000" scaled="1"/>
            <a:tileRect/>
          </a:gradFill>
          <a:ln w="0">
            <a:solidFill>
              <a:srgbClr val="F178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output-header">
            <a:extLst>
              <a:ext uri="{FF2B5EF4-FFF2-40B4-BE49-F238E27FC236}">
                <a16:creationId xmlns:a16="http://schemas.microsoft.com/office/drawing/2014/main" id="{0837222A-B04F-6825-CD54-09F124447337}"/>
              </a:ext>
            </a:extLst>
          </p:cNvPr>
          <p:cNvSpPr txBox="1"/>
          <p:nvPr/>
        </p:nvSpPr>
        <p:spPr>
          <a:xfrm>
            <a:off x="8407389" y="1870032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输出层</a:t>
            </a:r>
          </a:p>
        </p:txBody>
      </p:sp>
      <p:pic>
        <p:nvPicPr>
          <p:cNvPr id="116" name="output-icon-1">
            <a:extLst>
              <a:ext uri="{FF2B5EF4-FFF2-40B4-BE49-F238E27FC236}">
                <a16:creationId xmlns:a16="http://schemas.microsoft.com/office/drawing/2014/main" id="{3987FC45-ED59-FF2C-6EE5-9A5956ED0130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589" y="2593932"/>
            <a:ext cx="571500" cy="571500"/>
          </a:xfrm>
          <a:prstGeom prst="rect">
            <a:avLst/>
          </a:prstGeom>
        </p:spPr>
      </p:pic>
      <p:sp>
        <p:nvSpPr>
          <p:cNvPr id="117" name="output-item-1">
            <a:extLst>
              <a:ext uri="{FF2B5EF4-FFF2-40B4-BE49-F238E27FC236}">
                <a16:creationId xmlns:a16="http://schemas.microsoft.com/office/drawing/2014/main" id="{FB46554F-37AA-8AA4-8228-D504585513FC}"/>
              </a:ext>
            </a:extLst>
          </p:cNvPr>
          <p:cNvSpPr txBox="1"/>
          <p:nvPr/>
        </p:nvSpPr>
        <p:spPr>
          <a:xfrm>
            <a:off x="9499589" y="2730882"/>
            <a:ext cx="22860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舆情变化趋势</a:t>
            </a:r>
          </a:p>
        </p:txBody>
      </p:sp>
      <p:cxnSp>
        <p:nvCxnSpPr>
          <p:cNvPr id="118" name="output-separator-1">
            <a:extLst>
              <a:ext uri="{FF2B5EF4-FFF2-40B4-BE49-F238E27FC236}">
                <a16:creationId xmlns:a16="http://schemas.microsoft.com/office/drawing/2014/main" id="{DE458201-552F-3387-FF64-DB2F20D7BEEC}"/>
              </a:ext>
            </a:extLst>
          </p:cNvPr>
          <p:cNvCxnSpPr/>
          <p:nvPr/>
        </p:nvCxnSpPr>
        <p:spPr>
          <a:xfrm>
            <a:off x="8635989" y="3254332"/>
            <a:ext cx="2971800" cy="0"/>
          </a:xfrm>
          <a:prstGeom prst="line">
            <a:avLst/>
          </a:prstGeom>
          <a:ln w="12700">
            <a:solidFill>
              <a:srgbClr val="D9DEE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output-icon-2">
            <a:extLst>
              <a:ext uri="{FF2B5EF4-FFF2-40B4-BE49-F238E27FC236}">
                <a16:creationId xmlns:a16="http://schemas.microsoft.com/office/drawing/2014/main" id="{0071DE17-F4E3-580D-BB07-07C4AE3276D9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589" y="3355932"/>
            <a:ext cx="571500" cy="571500"/>
          </a:xfrm>
          <a:prstGeom prst="rect">
            <a:avLst/>
          </a:prstGeom>
        </p:spPr>
      </p:pic>
      <p:sp>
        <p:nvSpPr>
          <p:cNvPr id="121" name="output-item-2">
            <a:extLst>
              <a:ext uri="{FF2B5EF4-FFF2-40B4-BE49-F238E27FC236}">
                <a16:creationId xmlns:a16="http://schemas.microsoft.com/office/drawing/2014/main" id="{621F128F-612A-3AD6-692B-73A84E59A759}"/>
              </a:ext>
            </a:extLst>
          </p:cNvPr>
          <p:cNvSpPr txBox="1"/>
          <p:nvPr/>
        </p:nvSpPr>
        <p:spPr>
          <a:xfrm>
            <a:off x="9499589" y="3467831"/>
            <a:ext cx="22860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负面率</a:t>
            </a:r>
            <a:r>
              <a:rPr lang="en-US" altLang="zh-CN" sz="1600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lang="zh-CN" altLang="en-US" sz="1600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质疑率</a:t>
            </a:r>
            <a:r>
              <a:rPr lang="en-US" altLang="zh-CN" sz="1600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lang="zh-CN" altLang="en-US" sz="1600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接受率</a:t>
            </a:r>
          </a:p>
        </p:txBody>
      </p:sp>
      <p:cxnSp>
        <p:nvCxnSpPr>
          <p:cNvPr id="122" name="output-separator-2">
            <a:extLst>
              <a:ext uri="{FF2B5EF4-FFF2-40B4-BE49-F238E27FC236}">
                <a16:creationId xmlns:a16="http://schemas.microsoft.com/office/drawing/2014/main" id="{36392E15-E5FE-86D3-36BA-38F778A9EDFF}"/>
              </a:ext>
            </a:extLst>
          </p:cNvPr>
          <p:cNvCxnSpPr/>
          <p:nvPr/>
        </p:nvCxnSpPr>
        <p:spPr>
          <a:xfrm>
            <a:off x="8635989" y="4016332"/>
            <a:ext cx="2971800" cy="0"/>
          </a:xfrm>
          <a:prstGeom prst="line">
            <a:avLst/>
          </a:prstGeom>
          <a:ln w="12700">
            <a:solidFill>
              <a:srgbClr val="D9DEE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" name="output-icon-3">
            <a:extLst>
              <a:ext uri="{FF2B5EF4-FFF2-40B4-BE49-F238E27FC236}">
                <a16:creationId xmlns:a16="http://schemas.microsoft.com/office/drawing/2014/main" id="{247C8020-DFF8-FB8A-E0C3-B93C0C8D73B9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589" y="4117932"/>
            <a:ext cx="571500" cy="571500"/>
          </a:xfrm>
          <a:prstGeom prst="rect">
            <a:avLst/>
          </a:prstGeom>
        </p:spPr>
      </p:pic>
      <p:sp>
        <p:nvSpPr>
          <p:cNvPr id="125" name="output-item-3">
            <a:extLst>
              <a:ext uri="{FF2B5EF4-FFF2-40B4-BE49-F238E27FC236}">
                <a16:creationId xmlns:a16="http://schemas.microsoft.com/office/drawing/2014/main" id="{057F1B09-B586-C79F-429B-D742A82CA2FB}"/>
              </a:ext>
            </a:extLst>
          </p:cNvPr>
          <p:cNvSpPr txBox="1"/>
          <p:nvPr/>
        </p:nvSpPr>
        <p:spPr>
          <a:xfrm>
            <a:off x="9499589" y="4229831"/>
            <a:ext cx="22860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情绪恢复效果</a:t>
            </a:r>
          </a:p>
        </p:txBody>
      </p:sp>
      <p:cxnSp>
        <p:nvCxnSpPr>
          <p:cNvPr id="126" name="output-separator-3">
            <a:extLst>
              <a:ext uri="{FF2B5EF4-FFF2-40B4-BE49-F238E27FC236}">
                <a16:creationId xmlns:a16="http://schemas.microsoft.com/office/drawing/2014/main" id="{0BF53E98-2429-ABB6-7587-081CDA60D80A}"/>
              </a:ext>
            </a:extLst>
          </p:cNvPr>
          <p:cNvCxnSpPr/>
          <p:nvPr/>
        </p:nvCxnSpPr>
        <p:spPr>
          <a:xfrm>
            <a:off x="8635989" y="4778332"/>
            <a:ext cx="2971800" cy="0"/>
          </a:xfrm>
          <a:prstGeom prst="line">
            <a:avLst/>
          </a:prstGeom>
          <a:ln w="12700">
            <a:solidFill>
              <a:srgbClr val="D9DEE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8" name="output-icon-4">
            <a:extLst>
              <a:ext uri="{FF2B5EF4-FFF2-40B4-BE49-F238E27FC236}">
                <a16:creationId xmlns:a16="http://schemas.microsoft.com/office/drawing/2014/main" id="{E71AB41F-345B-3262-C15B-CFEB3BC068E2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589" y="4879932"/>
            <a:ext cx="571500" cy="571500"/>
          </a:xfrm>
          <a:prstGeom prst="rect">
            <a:avLst/>
          </a:prstGeom>
        </p:spPr>
      </p:pic>
      <p:sp>
        <p:nvSpPr>
          <p:cNvPr id="129" name="output-item-4">
            <a:extLst>
              <a:ext uri="{FF2B5EF4-FFF2-40B4-BE49-F238E27FC236}">
                <a16:creationId xmlns:a16="http://schemas.microsoft.com/office/drawing/2014/main" id="{FEF9E81E-45E8-1209-924E-69DC44C77A99}"/>
              </a:ext>
            </a:extLst>
          </p:cNvPr>
          <p:cNvSpPr txBox="1"/>
          <p:nvPr/>
        </p:nvSpPr>
        <p:spPr>
          <a:xfrm>
            <a:off x="9499589" y="4954931"/>
            <a:ext cx="22860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b="1">
                <a:solidFill>
                  <a:srgbClr val="2024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策略比较结果</a:t>
            </a:r>
          </a:p>
        </p:txBody>
      </p:sp>
      <p:sp>
        <p:nvSpPr>
          <p:cNvPr id="130" name="conclusion-strip">
            <a:extLst>
              <a:ext uri="{FF2B5EF4-FFF2-40B4-BE49-F238E27FC236}">
                <a16:creationId xmlns:a16="http://schemas.microsoft.com/office/drawing/2014/main" id="{B22F3588-07FF-2EE1-9AB9-BA51D46D398F}"/>
              </a:ext>
            </a:extLst>
          </p:cNvPr>
          <p:cNvSpPr/>
          <p:nvPr/>
        </p:nvSpPr>
        <p:spPr>
          <a:xfrm>
            <a:off x="406389" y="5984832"/>
            <a:ext cx="11430000" cy="762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conclusion-text">
            <a:extLst>
              <a:ext uri="{FF2B5EF4-FFF2-40B4-BE49-F238E27FC236}">
                <a16:creationId xmlns:a16="http://schemas.microsoft.com/office/drawing/2014/main" id="{30746572-C747-48B6-9FC5-EA963724D8B3}"/>
              </a:ext>
            </a:extLst>
          </p:cNvPr>
          <p:cNvSpPr txBox="1"/>
          <p:nvPr/>
        </p:nvSpPr>
        <p:spPr>
          <a:xfrm>
            <a:off x="697892" y="6215833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事件输入、公众反应、策略评估，形成可重复的舆情推演闭环</a:t>
            </a:r>
            <a:endParaRPr lang="zh-CN" altLang="en-US" sz="2400" b="1">
              <a:solidFill>
                <a:srgbClr val="0E3A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conclusion-strip">
            <a:extLst>
              <a:ext uri="{FF2B5EF4-FFF2-40B4-BE49-F238E27FC236}">
                <a16:creationId xmlns:a16="http://schemas.microsoft.com/office/drawing/2014/main" id="{4A919071-F2ED-8BF5-5DE8-284AE690A509}"/>
              </a:ext>
            </a:extLst>
          </p:cNvPr>
          <p:cNvSpPr/>
          <p:nvPr/>
        </p:nvSpPr>
        <p:spPr>
          <a:xfrm>
            <a:off x="418492" y="996482"/>
            <a:ext cx="11430000" cy="556050"/>
          </a:xfrm>
          <a:prstGeom prst="roundRect">
            <a:avLst/>
          </a:prstGeom>
          <a:noFill/>
          <a:ln w="15240">
            <a:solidFill>
              <a:srgbClr val="76A8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同一事件、同一舆情基线，多种官方回应方案并行推演</a:t>
            </a:r>
          </a:p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31" name="直接连接符 30"/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文本占位符 43"/>
          <p:cNvSpPr txBox="1"/>
          <p:nvPr/>
        </p:nvSpPr>
        <p:spPr>
          <a:xfrm>
            <a:off x="399891" y="349328"/>
            <a:ext cx="4109479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技术方案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仿真运行流程</a:t>
            </a:r>
            <a:endParaRPr lang="zh-CN" altLang="en-US" b="0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 descr="32TERJTUKUILFYTRA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5" name="headline">
            <a:extLst>
              <a:ext uri="{FF2B5EF4-FFF2-40B4-BE49-F238E27FC236}">
                <a16:creationId xmlns:a16="http://schemas.microsoft.com/office/drawing/2014/main" id="{D6DD950F-0712-5291-3CE9-3129AF516B8E}"/>
              </a:ext>
            </a:extLst>
          </p:cNvPr>
          <p:cNvSpPr txBox="1"/>
          <p:nvPr/>
        </p:nvSpPr>
        <p:spPr>
          <a:xfrm>
            <a:off x="3111500" y="1088753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8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8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感知、表达与环境更新，构成持续演化的仿真闭环</a:t>
            </a:r>
          </a:p>
        </p:txBody>
      </p:sp>
      <p:sp>
        <p:nvSpPr>
          <p:cNvPr id="9" name="step-1-card">
            <a:extLst>
              <a:ext uri="{FF2B5EF4-FFF2-40B4-BE49-F238E27FC236}">
                <a16:creationId xmlns:a16="http://schemas.microsoft.com/office/drawing/2014/main" id="{20223FFE-2805-685A-BB7C-9FB1AB3903FD}"/>
              </a:ext>
            </a:extLst>
          </p:cNvPr>
          <p:cNvSpPr/>
          <p:nvPr/>
        </p:nvSpPr>
        <p:spPr>
          <a:xfrm>
            <a:off x="1092200" y="2139950"/>
            <a:ext cx="2794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  <a:effectLst>
            <a:outerShdw blurRad="76200" dist="25400" dir="5400000" rotWithShape="0">
              <a:srgbClr val="173F5F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step-1-accent">
            <a:extLst>
              <a:ext uri="{FF2B5EF4-FFF2-40B4-BE49-F238E27FC236}">
                <a16:creationId xmlns:a16="http://schemas.microsoft.com/office/drawing/2014/main" id="{24EBBEA0-E72A-C00F-E20A-6B187796D788}"/>
              </a:ext>
            </a:extLst>
          </p:cNvPr>
          <p:cNvSpPr/>
          <p:nvPr/>
        </p:nvSpPr>
        <p:spPr>
          <a:xfrm>
            <a:off x="1092200" y="2139950"/>
            <a:ext cx="88900" cy="1295400"/>
          </a:xfrm>
          <a:prstGeom prst="rect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step-1-icon-badge">
            <a:extLst>
              <a:ext uri="{FF2B5EF4-FFF2-40B4-BE49-F238E27FC236}">
                <a16:creationId xmlns:a16="http://schemas.microsoft.com/office/drawing/2014/main" id="{2FD91418-CA17-511B-3329-DC764E988525}"/>
              </a:ext>
            </a:extLst>
          </p:cNvPr>
          <p:cNvSpPr/>
          <p:nvPr/>
        </p:nvSpPr>
        <p:spPr>
          <a:xfrm>
            <a:off x="1295400" y="2317750"/>
            <a:ext cx="533400" cy="533400"/>
          </a:xfrm>
          <a:prstGeom prst="ellipse">
            <a:avLst/>
          </a:prstGeom>
          <a:solidFill>
            <a:srgbClr val="EAF2FC"/>
          </a:solidFill>
          <a:ln w="1651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step-1-icon-doc">
            <a:extLst>
              <a:ext uri="{FF2B5EF4-FFF2-40B4-BE49-F238E27FC236}">
                <a16:creationId xmlns:a16="http://schemas.microsoft.com/office/drawing/2014/main" id="{AE2C074C-8C3A-ACFF-5EDC-4FEA4831253B}"/>
              </a:ext>
            </a:extLst>
          </p:cNvPr>
          <p:cNvSpPr/>
          <p:nvPr/>
        </p:nvSpPr>
        <p:spPr>
          <a:xfrm>
            <a:off x="1422400" y="2419350"/>
            <a:ext cx="279400" cy="33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13" name="step-1-icon-line-1">
            <a:extLst>
              <a:ext uri="{FF2B5EF4-FFF2-40B4-BE49-F238E27FC236}">
                <a16:creationId xmlns:a16="http://schemas.microsoft.com/office/drawing/2014/main" id="{39FEEDEA-133F-AAC4-0D79-2447AD085CEA}"/>
              </a:ext>
            </a:extLst>
          </p:cNvPr>
          <p:cNvCxnSpPr/>
          <p:nvPr/>
        </p:nvCxnSpPr>
        <p:spPr>
          <a:xfrm>
            <a:off x="1473200" y="2508250"/>
            <a:ext cx="177800" cy="0"/>
          </a:xfrm>
          <a:prstGeom prst="line">
            <a:avLst/>
          </a:prstGeom>
          <a:ln w="15240">
            <a:solidFill>
              <a:srgbClr val="2D70D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ep-1-icon-line-2">
            <a:extLst>
              <a:ext uri="{FF2B5EF4-FFF2-40B4-BE49-F238E27FC236}">
                <a16:creationId xmlns:a16="http://schemas.microsoft.com/office/drawing/2014/main" id="{0F4E80A6-99EB-4EC9-4DC0-4E6035FB1416}"/>
              </a:ext>
            </a:extLst>
          </p:cNvPr>
          <p:cNvCxnSpPr/>
          <p:nvPr/>
        </p:nvCxnSpPr>
        <p:spPr>
          <a:xfrm>
            <a:off x="1473200" y="2584450"/>
            <a:ext cx="177800" cy="0"/>
          </a:xfrm>
          <a:prstGeom prst="line">
            <a:avLst/>
          </a:prstGeom>
          <a:ln w="15240">
            <a:solidFill>
              <a:srgbClr val="2D70D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ep-1-icon-line-3">
            <a:extLst>
              <a:ext uri="{FF2B5EF4-FFF2-40B4-BE49-F238E27FC236}">
                <a16:creationId xmlns:a16="http://schemas.microsoft.com/office/drawing/2014/main" id="{3BD20C43-F66D-EC17-0B81-43BE1E40F7CD}"/>
              </a:ext>
            </a:extLst>
          </p:cNvPr>
          <p:cNvCxnSpPr/>
          <p:nvPr/>
        </p:nvCxnSpPr>
        <p:spPr>
          <a:xfrm>
            <a:off x="1473200" y="2660650"/>
            <a:ext cx="139700" cy="0"/>
          </a:xfrm>
          <a:prstGeom prst="line">
            <a:avLst/>
          </a:prstGeom>
          <a:ln w="15240">
            <a:solidFill>
              <a:srgbClr val="2D70D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tep-1-title">
            <a:extLst>
              <a:ext uri="{FF2B5EF4-FFF2-40B4-BE49-F238E27FC236}">
                <a16:creationId xmlns:a16="http://schemas.microsoft.com/office/drawing/2014/main" id="{72FA81E7-4405-BD75-0F10-F2FADD4AA77D}"/>
              </a:ext>
            </a:extLst>
          </p:cNvPr>
          <p:cNvSpPr txBox="1"/>
          <p:nvPr/>
        </p:nvSpPr>
        <p:spPr>
          <a:xfrm>
            <a:off x="1981200" y="2355850"/>
            <a:ext cx="171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可见信息</a:t>
            </a:r>
          </a:p>
        </p:txBody>
      </p:sp>
      <p:sp>
        <p:nvSpPr>
          <p:cNvPr id="17" name="step-1-body">
            <a:extLst>
              <a:ext uri="{FF2B5EF4-FFF2-40B4-BE49-F238E27FC236}">
                <a16:creationId xmlns:a16="http://schemas.microsoft.com/office/drawing/2014/main" id="{82ADFCF1-A7DC-7D27-FE1C-195C3C5BC86D}"/>
              </a:ext>
            </a:extLst>
          </p:cNvPr>
          <p:cNvSpPr txBox="1"/>
          <p:nvPr/>
        </p:nvSpPr>
        <p:spPr>
          <a:xfrm>
            <a:off x="1324330" y="2980552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新评论 ＋ 历史评论
官方声明 ＋ 个人历史</a:t>
            </a:r>
          </a:p>
        </p:txBody>
      </p:sp>
      <p:sp>
        <p:nvSpPr>
          <p:cNvPr id="18" name="step-2-card">
            <a:extLst>
              <a:ext uri="{FF2B5EF4-FFF2-40B4-BE49-F238E27FC236}">
                <a16:creationId xmlns:a16="http://schemas.microsoft.com/office/drawing/2014/main" id="{6981C742-ABC4-D110-E9C0-8DA2E906D0C3}"/>
              </a:ext>
            </a:extLst>
          </p:cNvPr>
          <p:cNvSpPr/>
          <p:nvPr/>
        </p:nvSpPr>
        <p:spPr>
          <a:xfrm>
            <a:off x="4699000" y="2139950"/>
            <a:ext cx="2794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  <a:effectLst>
            <a:outerShdw blurRad="76200" dist="25400" dir="5400000" rotWithShape="0">
              <a:srgbClr val="173F5F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9" name="step-2-accent">
            <a:extLst>
              <a:ext uri="{FF2B5EF4-FFF2-40B4-BE49-F238E27FC236}">
                <a16:creationId xmlns:a16="http://schemas.microsoft.com/office/drawing/2014/main" id="{AE60C358-E368-7CC1-167D-031E99D86EC1}"/>
              </a:ext>
            </a:extLst>
          </p:cNvPr>
          <p:cNvSpPr/>
          <p:nvPr/>
        </p:nvSpPr>
        <p:spPr>
          <a:xfrm>
            <a:off x="4699000" y="2139950"/>
            <a:ext cx="88900" cy="1295400"/>
          </a:xfrm>
          <a:prstGeom prst="rect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step-2-icon-badge">
            <a:extLst>
              <a:ext uri="{FF2B5EF4-FFF2-40B4-BE49-F238E27FC236}">
                <a16:creationId xmlns:a16="http://schemas.microsoft.com/office/drawing/2014/main" id="{8656B3D0-3A6E-3E60-90DB-6BB8CED822CD}"/>
              </a:ext>
            </a:extLst>
          </p:cNvPr>
          <p:cNvSpPr/>
          <p:nvPr/>
        </p:nvSpPr>
        <p:spPr>
          <a:xfrm>
            <a:off x="4902200" y="2317750"/>
            <a:ext cx="533400" cy="533400"/>
          </a:xfrm>
          <a:prstGeom prst="ellipse">
            <a:avLst/>
          </a:prstGeom>
          <a:solidFill>
            <a:srgbClr val="E7F6F3"/>
          </a:solidFill>
          <a:ln w="1651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1" name="step-2-icon-head">
            <a:extLst>
              <a:ext uri="{FF2B5EF4-FFF2-40B4-BE49-F238E27FC236}">
                <a16:creationId xmlns:a16="http://schemas.microsoft.com/office/drawing/2014/main" id="{A7ADEF79-7936-5A39-E7FA-7875AF4D1533}"/>
              </a:ext>
            </a:extLst>
          </p:cNvPr>
          <p:cNvSpPr/>
          <p:nvPr/>
        </p:nvSpPr>
        <p:spPr>
          <a:xfrm>
            <a:off x="5092700" y="2419350"/>
            <a:ext cx="152400" cy="1524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2" name="step-2-icon-body">
            <a:extLst>
              <a:ext uri="{FF2B5EF4-FFF2-40B4-BE49-F238E27FC236}">
                <a16:creationId xmlns:a16="http://schemas.microsoft.com/office/drawing/2014/main" id="{E5CFA163-6758-5638-8648-8F0C23B14175}"/>
              </a:ext>
            </a:extLst>
          </p:cNvPr>
          <p:cNvSpPr/>
          <p:nvPr/>
        </p:nvSpPr>
        <p:spPr>
          <a:xfrm>
            <a:off x="5029200" y="2597150"/>
            <a:ext cx="279400" cy="1397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3" name="step-2-icon-core">
            <a:extLst>
              <a:ext uri="{FF2B5EF4-FFF2-40B4-BE49-F238E27FC236}">
                <a16:creationId xmlns:a16="http://schemas.microsoft.com/office/drawing/2014/main" id="{074E8678-AACB-FFB6-DC1F-73C7B2AA8759}"/>
              </a:ext>
            </a:extLst>
          </p:cNvPr>
          <p:cNvSpPr/>
          <p:nvPr/>
        </p:nvSpPr>
        <p:spPr>
          <a:xfrm>
            <a:off x="5143500" y="2635250"/>
            <a:ext cx="50800" cy="508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4" name="step-2-title">
            <a:extLst>
              <a:ext uri="{FF2B5EF4-FFF2-40B4-BE49-F238E27FC236}">
                <a16:creationId xmlns:a16="http://schemas.microsoft.com/office/drawing/2014/main" id="{BB1B18BE-4252-4311-D8A5-C4F1834AB014}"/>
              </a:ext>
            </a:extLst>
          </p:cNvPr>
          <p:cNvSpPr txBox="1"/>
          <p:nvPr/>
        </p:nvSpPr>
        <p:spPr>
          <a:xfrm>
            <a:off x="5588000" y="2355850"/>
            <a:ext cx="171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6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状态判断</a:t>
            </a:r>
          </a:p>
        </p:txBody>
      </p:sp>
      <p:sp>
        <p:nvSpPr>
          <p:cNvPr id="25" name="step-2-body">
            <a:extLst>
              <a:ext uri="{FF2B5EF4-FFF2-40B4-BE49-F238E27FC236}">
                <a16:creationId xmlns:a16="http://schemas.microsoft.com/office/drawing/2014/main" id="{32ADE736-979D-5C86-E492-426220783672}"/>
              </a:ext>
            </a:extLst>
          </p:cNvPr>
          <p:cNvSpPr txBox="1"/>
          <p:nvPr/>
        </p:nvSpPr>
        <p:spPr>
          <a:xfrm>
            <a:off x="4965700" y="3005951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情绪 ＋ 官方态度
评论意愿 ＋ 评论派系</a:t>
            </a:r>
          </a:p>
        </p:txBody>
      </p:sp>
      <p:sp>
        <p:nvSpPr>
          <p:cNvPr id="26" name="step-3-card">
            <a:extLst>
              <a:ext uri="{FF2B5EF4-FFF2-40B4-BE49-F238E27FC236}">
                <a16:creationId xmlns:a16="http://schemas.microsoft.com/office/drawing/2014/main" id="{C0B00E9F-498A-D8A1-EAD3-7F7F8E6EBE84}"/>
              </a:ext>
            </a:extLst>
          </p:cNvPr>
          <p:cNvSpPr/>
          <p:nvPr/>
        </p:nvSpPr>
        <p:spPr>
          <a:xfrm>
            <a:off x="8305800" y="2139950"/>
            <a:ext cx="2794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  <a:effectLst>
            <a:outerShdw blurRad="76200" dist="25400" dir="5400000" rotWithShape="0">
              <a:srgbClr val="173F5F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" name="step-3-accent">
            <a:extLst>
              <a:ext uri="{FF2B5EF4-FFF2-40B4-BE49-F238E27FC236}">
                <a16:creationId xmlns:a16="http://schemas.microsoft.com/office/drawing/2014/main" id="{A0241625-CBB8-9CA3-D60B-838918C7AC50}"/>
              </a:ext>
            </a:extLst>
          </p:cNvPr>
          <p:cNvSpPr/>
          <p:nvPr/>
        </p:nvSpPr>
        <p:spPr>
          <a:xfrm>
            <a:off x="8305800" y="2139950"/>
            <a:ext cx="88900" cy="1295400"/>
          </a:xfrm>
          <a:prstGeom prst="rect">
            <a:avLst/>
          </a:prstGeom>
          <a:solidFill>
            <a:srgbClr val="128E97"/>
          </a:solidFill>
          <a:ln w="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step-3-icon-badge">
            <a:extLst>
              <a:ext uri="{FF2B5EF4-FFF2-40B4-BE49-F238E27FC236}">
                <a16:creationId xmlns:a16="http://schemas.microsoft.com/office/drawing/2014/main" id="{9F7E0D19-0EEC-99DA-15BE-997AF753B29A}"/>
              </a:ext>
            </a:extLst>
          </p:cNvPr>
          <p:cNvSpPr/>
          <p:nvPr/>
        </p:nvSpPr>
        <p:spPr>
          <a:xfrm>
            <a:off x="8509000" y="2317750"/>
            <a:ext cx="533400" cy="533400"/>
          </a:xfrm>
          <a:prstGeom prst="ellipse">
            <a:avLst/>
          </a:prstGeom>
          <a:solidFill>
            <a:srgbClr val="E6F6F7"/>
          </a:solidFill>
          <a:ln w="1651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9" name="step-3-icon-bubble">
            <a:extLst>
              <a:ext uri="{FF2B5EF4-FFF2-40B4-BE49-F238E27FC236}">
                <a16:creationId xmlns:a16="http://schemas.microsoft.com/office/drawing/2014/main" id="{E4BF5BE3-4E37-D696-1D72-CE0AFD3174C9}"/>
              </a:ext>
            </a:extLst>
          </p:cNvPr>
          <p:cNvSpPr/>
          <p:nvPr/>
        </p:nvSpPr>
        <p:spPr>
          <a:xfrm>
            <a:off x="8610600" y="2432050"/>
            <a:ext cx="330200" cy="2413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4" name="step-3-icon-dot-1">
            <a:extLst>
              <a:ext uri="{FF2B5EF4-FFF2-40B4-BE49-F238E27FC236}">
                <a16:creationId xmlns:a16="http://schemas.microsoft.com/office/drawing/2014/main" id="{19E96CE9-3F0B-F30A-3CB4-5202216CD0C9}"/>
              </a:ext>
            </a:extLst>
          </p:cNvPr>
          <p:cNvSpPr/>
          <p:nvPr/>
        </p:nvSpPr>
        <p:spPr>
          <a:xfrm>
            <a:off x="8674100" y="2533650"/>
            <a:ext cx="38100" cy="38100"/>
          </a:xfrm>
          <a:prstGeom prst="ellipse">
            <a:avLst/>
          </a:prstGeom>
          <a:solidFill>
            <a:srgbClr val="128E97"/>
          </a:solidFill>
          <a:ln w="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5" name="step-3-icon-dot-2">
            <a:extLst>
              <a:ext uri="{FF2B5EF4-FFF2-40B4-BE49-F238E27FC236}">
                <a16:creationId xmlns:a16="http://schemas.microsoft.com/office/drawing/2014/main" id="{1CAEF0E9-6174-6940-B98A-F3688F3B5607}"/>
              </a:ext>
            </a:extLst>
          </p:cNvPr>
          <p:cNvSpPr/>
          <p:nvPr/>
        </p:nvSpPr>
        <p:spPr>
          <a:xfrm>
            <a:off x="8763000" y="2533650"/>
            <a:ext cx="38100" cy="38100"/>
          </a:xfrm>
          <a:prstGeom prst="ellipse">
            <a:avLst/>
          </a:prstGeom>
          <a:solidFill>
            <a:srgbClr val="128E97"/>
          </a:solidFill>
          <a:ln w="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6" name="step-3-icon-dot-3">
            <a:extLst>
              <a:ext uri="{FF2B5EF4-FFF2-40B4-BE49-F238E27FC236}">
                <a16:creationId xmlns:a16="http://schemas.microsoft.com/office/drawing/2014/main" id="{681A298A-D3EF-B97F-1D77-1A3E223DD261}"/>
              </a:ext>
            </a:extLst>
          </p:cNvPr>
          <p:cNvSpPr/>
          <p:nvPr/>
        </p:nvSpPr>
        <p:spPr>
          <a:xfrm>
            <a:off x="8851900" y="2533650"/>
            <a:ext cx="38100" cy="38100"/>
          </a:xfrm>
          <a:prstGeom prst="ellipse">
            <a:avLst/>
          </a:prstGeom>
          <a:solidFill>
            <a:srgbClr val="128E97"/>
          </a:solidFill>
          <a:ln w="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37" name="step-3-icon-tail-1">
            <a:extLst>
              <a:ext uri="{FF2B5EF4-FFF2-40B4-BE49-F238E27FC236}">
                <a16:creationId xmlns:a16="http://schemas.microsoft.com/office/drawing/2014/main" id="{BED5616A-66D4-D500-2B1B-6E28B6E5B263}"/>
              </a:ext>
            </a:extLst>
          </p:cNvPr>
          <p:cNvCxnSpPr/>
          <p:nvPr/>
        </p:nvCxnSpPr>
        <p:spPr>
          <a:xfrm>
            <a:off x="8826500" y="2673350"/>
            <a:ext cx="50800" cy="63500"/>
          </a:xfrm>
          <a:prstGeom prst="line">
            <a:avLst/>
          </a:prstGeom>
          <a:ln w="15240">
            <a:solidFill>
              <a:srgbClr val="128E9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ep-3-icon-tail-2">
            <a:extLst>
              <a:ext uri="{FF2B5EF4-FFF2-40B4-BE49-F238E27FC236}">
                <a16:creationId xmlns:a16="http://schemas.microsoft.com/office/drawing/2014/main" id="{41B2FB9B-85B8-80D1-7689-514C96601B10}"/>
              </a:ext>
            </a:extLst>
          </p:cNvPr>
          <p:cNvCxnSpPr/>
          <p:nvPr/>
        </p:nvCxnSpPr>
        <p:spPr>
          <a:xfrm flipV="1">
            <a:off x="8877300" y="2660650"/>
            <a:ext cx="12700" cy="76200"/>
          </a:xfrm>
          <a:prstGeom prst="line">
            <a:avLst/>
          </a:prstGeom>
          <a:ln w="15240">
            <a:solidFill>
              <a:srgbClr val="128E9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tep-3-title">
            <a:extLst>
              <a:ext uri="{FF2B5EF4-FFF2-40B4-BE49-F238E27FC236}">
                <a16:creationId xmlns:a16="http://schemas.microsoft.com/office/drawing/2014/main" id="{8BA9CA5C-2A23-983F-8897-ED08269B1C01}"/>
              </a:ext>
            </a:extLst>
          </p:cNvPr>
          <p:cNvSpPr txBox="1"/>
          <p:nvPr/>
        </p:nvSpPr>
        <p:spPr>
          <a:xfrm>
            <a:off x="9194800" y="2355850"/>
            <a:ext cx="171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候选筛选与表达</a:t>
            </a:r>
          </a:p>
        </p:txBody>
      </p:sp>
      <p:sp>
        <p:nvSpPr>
          <p:cNvPr id="40" name="step-3-body">
            <a:extLst>
              <a:ext uri="{FF2B5EF4-FFF2-40B4-BE49-F238E27FC236}">
                <a16:creationId xmlns:a16="http://schemas.microsoft.com/office/drawing/2014/main" id="{15B0B657-24ED-D3CB-1FC6-1101BA7E9A40}"/>
              </a:ext>
            </a:extLst>
          </p:cNvPr>
          <p:cNvSpPr txBox="1"/>
          <p:nvPr/>
        </p:nvSpPr>
        <p:spPr>
          <a:xfrm>
            <a:off x="8572500" y="300924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态度与派系匹配
候选评分 ＋ </a:t>
            </a:r>
            <a:r>
              <a:rPr lang="en-US" altLang="zh-CN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Top3</a:t>
            </a:r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</a:t>
            </a:r>
          </a:p>
        </p:txBody>
      </p:sp>
      <p:sp>
        <p:nvSpPr>
          <p:cNvPr id="41" name="step-4-card">
            <a:extLst>
              <a:ext uri="{FF2B5EF4-FFF2-40B4-BE49-F238E27FC236}">
                <a16:creationId xmlns:a16="http://schemas.microsoft.com/office/drawing/2014/main" id="{E8BC7513-9C46-185B-1B5C-7A1BA0AE27C0}"/>
              </a:ext>
            </a:extLst>
          </p:cNvPr>
          <p:cNvSpPr/>
          <p:nvPr/>
        </p:nvSpPr>
        <p:spPr>
          <a:xfrm>
            <a:off x="8305800" y="4248150"/>
            <a:ext cx="2794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  <a:effectLst>
            <a:outerShdw blurRad="76200" dist="25400" dir="5400000" rotWithShape="0">
              <a:srgbClr val="173F5F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step-4-accent">
            <a:extLst>
              <a:ext uri="{FF2B5EF4-FFF2-40B4-BE49-F238E27FC236}">
                <a16:creationId xmlns:a16="http://schemas.microsoft.com/office/drawing/2014/main" id="{A1F0EBBC-B549-E5C9-C156-241E72DCC18D}"/>
              </a:ext>
            </a:extLst>
          </p:cNvPr>
          <p:cNvSpPr/>
          <p:nvPr/>
        </p:nvSpPr>
        <p:spPr>
          <a:xfrm>
            <a:off x="8305800" y="4248150"/>
            <a:ext cx="88900" cy="1295400"/>
          </a:xfrm>
          <a:prstGeom prst="rect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step-4-icon-badge">
            <a:extLst>
              <a:ext uri="{FF2B5EF4-FFF2-40B4-BE49-F238E27FC236}">
                <a16:creationId xmlns:a16="http://schemas.microsoft.com/office/drawing/2014/main" id="{44108458-476F-113C-07EF-1B260674B780}"/>
              </a:ext>
            </a:extLst>
          </p:cNvPr>
          <p:cNvSpPr/>
          <p:nvPr/>
        </p:nvSpPr>
        <p:spPr>
          <a:xfrm>
            <a:off x="8509000" y="4425950"/>
            <a:ext cx="533400" cy="533400"/>
          </a:xfrm>
          <a:prstGeom prst="ellipse">
            <a:avLst/>
          </a:prstGeom>
          <a:solidFill>
            <a:srgbClr val="E7F6F3"/>
          </a:solidFill>
          <a:ln w="1651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step-4-icon-globe">
            <a:extLst>
              <a:ext uri="{FF2B5EF4-FFF2-40B4-BE49-F238E27FC236}">
                <a16:creationId xmlns:a16="http://schemas.microsoft.com/office/drawing/2014/main" id="{8A2E06F1-F339-45CB-1AF4-E28FC97AB527}"/>
              </a:ext>
            </a:extLst>
          </p:cNvPr>
          <p:cNvSpPr/>
          <p:nvPr/>
        </p:nvSpPr>
        <p:spPr>
          <a:xfrm>
            <a:off x="8610600" y="4527550"/>
            <a:ext cx="330200" cy="330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step-4-icon-meridian">
            <a:extLst>
              <a:ext uri="{FF2B5EF4-FFF2-40B4-BE49-F238E27FC236}">
                <a16:creationId xmlns:a16="http://schemas.microsoft.com/office/drawing/2014/main" id="{362C43F9-4100-DE1E-A0B7-BE5645D5191B}"/>
              </a:ext>
            </a:extLst>
          </p:cNvPr>
          <p:cNvSpPr/>
          <p:nvPr/>
        </p:nvSpPr>
        <p:spPr>
          <a:xfrm>
            <a:off x="8686800" y="4527550"/>
            <a:ext cx="177800" cy="33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46" name="step-4-icon-equator">
            <a:extLst>
              <a:ext uri="{FF2B5EF4-FFF2-40B4-BE49-F238E27FC236}">
                <a16:creationId xmlns:a16="http://schemas.microsoft.com/office/drawing/2014/main" id="{6B416344-42CE-9452-D03A-AFDFF05443B0}"/>
              </a:ext>
            </a:extLst>
          </p:cNvPr>
          <p:cNvCxnSpPr/>
          <p:nvPr/>
        </p:nvCxnSpPr>
        <p:spPr>
          <a:xfrm>
            <a:off x="8623300" y="4692650"/>
            <a:ext cx="304800" cy="0"/>
          </a:xfrm>
          <a:prstGeom prst="line">
            <a:avLst/>
          </a:prstGeom>
          <a:ln w="13970">
            <a:solidFill>
              <a:srgbClr val="24A59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tep-4-title">
            <a:extLst>
              <a:ext uri="{FF2B5EF4-FFF2-40B4-BE49-F238E27FC236}">
                <a16:creationId xmlns:a16="http://schemas.microsoft.com/office/drawing/2014/main" id="{350B7EDC-BF53-B039-8CDA-E4E91D606EF3}"/>
              </a:ext>
            </a:extLst>
          </p:cNvPr>
          <p:cNvSpPr txBox="1"/>
          <p:nvPr/>
        </p:nvSpPr>
        <p:spPr>
          <a:xfrm>
            <a:off x="9194800" y="4464050"/>
            <a:ext cx="171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下一轮环境</a:t>
            </a:r>
          </a:p>
        </p:txBody>
      </p:sp>
      <p:sp>
        <p:nvSpPr>
          <p:cNvPr id="48" name="step-4-body">
            <a:extLst>
              <a:ext uri="{FF2B5EF4-FFF2-40B4-BE49-F238E27FC236}">
                <a16:creationId xmlns:a16="http://schemas.microsoft.com/office/drawing/2014/main" id="{300EC5E8-6877-13CB-12DE-FF9F78B263D9}"/>
              </a:ext>
            </a:extLst>
          </p:cNvPr>
          <p:cNvSpPr txBox="1"/>
          <p:nvPr/>
        </p:nvSpPr>
        <p:spPr>
          <a:xfrm>
            <a:off x="8572500" y="5097849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汇总</a:t>
            </a:r>
            <a:r>
              <a:rPr lang="en-US" altLang="zh-CN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实际表达
角度 </a:t>
            </a:r>
            <a:r>
              <a:rPr lang="en-US" altLang="zh-CN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派系 </a:t>
            </a:r>
            <a:r>
              <a:rPr lang="en-US" altLang="zh-CN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人物类型</a:t>
            </a:r>
          </a:p>
        </p:txBody>
      </p:sp>
      <p:sp>
        <p:nvSpPr>
          <p:cNvPr id="49" name="step-5-card">
            <a:extLst>
              <a:ext uri="{FF2B5EF4-FFF2-40B4-BE49-F238E27FC236}">
                <a16:creationId xmlns:a16="http://schemas.microsoft.com/office/drawing/2014/main" id="{8EBA9C96-4283-A859-5608-D80A5E1E5DB0}"/>
              </a:ext>
            </a:extLst>
          </p:cNvPr>
          <p:cNvSpPr/>
          <p:nvPr/>
        </p:nvSpPr>
        <p:spPr>
          <a:xfrm>
            <a:off x="4699000" y="4248150"/>
            <a:ext cx="2794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E"/>
            </a:solidFill>
          </a:ln>
          <a:effectLst>
            <a:outerShdw blurRad="76200" dist="25400" dir="5400000" rotWithShape="0">
              <a:srgbClr val="173F5F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step-5-accent">
            <a:extLst>
              <a:ext uri="{FF2B5EF4-FFF2-40B4-BE49-F238E27FC236}">
                <a16:creationId xmlns:a16="http://schemas.microsoft.com/office/drawing/2014/main" id="{142397A0-AE6B-4509-F62E-CA8ED560E0B6}"/>
              </a:ext>
            </a:extLst>
          </p:cNvPr>
          <p:cNvSpPr/>
          <p:nvPr/>
        </p:nvSpPr>
        <p:spPr>
          <a:xfrm>
            <a:off x="4699000" y="4248150"/>
            <a:ext cx="88900" cy="1295400"/>
          </a:xfrm>
          <a:prstGeom prst="rect">
            <a:avLst/>
          </a:prstGeom>
          <a:solidFill>
            <a:srgbClr val="245DA8"/>
          </a:solidFill>
          <a:ln w="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1" name="step-5-icon-badge">
            <a:extLst>
              <a:ext uri="{FF2B5EF4-FFF2-40B4-BE49-F238E27FC236}">
                <a16:creationId xmlns:a16="http://schemas.microsoft.com/office/drawing/2014/main" id="{9B62F593-711A-65D0-BBB3-2D6CAE172BC2}"/>
              </a:ext>
            </a:extLst>
          </p:cNvPr>
          <p:cNvSpPr/>
          <p:nvPr/>
        </p:nvSpPr>
        <p:spPr>
          <a:xfrm>
            <a:off x="4902200" y="4425950"/>
            <a:ext cx="533400" cy="533400"/>
          </a:xfrm>
          <a:prstGeom prst="ellipse">
            <a:avLst/>
          </a:prstGeom>
          <a:solidFill>
            <a:srgbClr val="EAF2FC"/>
          </a:solidFill>
          <a:ln w="1651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52" name="step-5-icon-axis">
            <a:extLst>
              <a:ext uri="{FF2B5EF4-FFF2-40B4-BE49-F238E27FC236}">
                <a16:creationId xmlns:a16="http://schemas.microsoft.com/office/drawing/2014/main" id="{D1F1098D-63FE-466B-AAF0-1A9A2694A3D9}"/>
              </a:ext>
            </a:extLst>
          </p:cNvPr>
          <p:cNvCxnSpPr/>
          <p:nvPr/>
        </p:nvCxnSpPr>
        <p:spPr>
          <a:xfrm>
            <a:off x="5003800" y="4857750"/>
            <a:ext cx="330200" cy="0"/>
          </a:xfrm>
          <a:prstGeom prst="line">
            <a:avLst/>
          </a:prstGeom>
          <a:ln w="15240">
            <a:solidFill>
              <a:srgbClr val="245DA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step-5-icon-bar-1">
            <a:extLst>
              <a:ext uri="{FF2B5EF4-FFF2-40B4-BE49-F238E27FC236}">
                <a16:creationId xmlns:a16="http://schemas.microsoft.com/office/drawing/2014/main" id="{0A8A8D3B-9AAE-5D29-5577-2AB1B7422A9F}"/>
              </a:ext>
            </a:extLst>
          </p:cNvPr>
          <p:cNvSpPr/>
          <p:nvPr/>
        </p:nvSpPr>
        <p:spPr>
          <a:xfrm>
            <a:off x="5029200" y="4718050"/>
            <a:ext cx="63500" cy="139700"/>
          </a:xfrm>
          <a:prstGeom prst="rect">
            <a:avLst/>
          </a:prstGeom>
          <a:solidFill>
            <a:srgbClr val="245DA8"/>
          </a:solidFill>
          <a:ln w="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4" name="step-5-icon-bar-2">
            <a:extLst>
              <a:ext uri="{FF2B5EF4-FFF2-40B4-BE49-F238E27FC236}">
                <a16:creationId xmlns:a16="http://schemas.microsoft.com/office/drawing/2014/main" id="{05A56FDC-9F96-957D-1802-11E0D5994AA7}"/>
              </a:ext>
            </a:extLst>
          </p:cNvPr>
          <p:cNvSpPr/>
          <p:nvPr/>
        </p:nvSpPr>
        <p:spPr>
          <a:xfrm>
            <a:off x="5143500" y="4641850"/>
            <a:ext cx="63500" cy="215900"/>
          </a:xfrm>
          <a:prstGeom prst="rect">
            <a:avLst/>
          </a:prstGeom>
          <a:solidFill>
            <a:srgbClr val="245DA8"/>
          </a:solidFill>
          <a:ln w="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5" name="step-5-icon-bar-3">
            <a:extLst>
              <a:ext uri="{FF2B5EF4-FFF2-40B4-BE49-F238E27FC236}">
                <a16:creationId xmlns:a16="http://schemas.microsoft.com/office/drawing/2014/main" id="{78CFECC3-D999-41F4-EFF5-A256B100D759}"/>
              </a:ext>
            </a:extLst>
          </p:cNvPr>
          <p:cNvSpPr/>
          <p:nvPr/>
        </p:nvSpPr>
        <p:spPr>
          <a:xfrm>
            <a:off x="5257800" y="4552950"/>
            <a:ext cx="63500" cy="304800"/>
          </a:xfrm>
          <a:prstGeom prst="rect">
            <a:avLst/>
          </a:prstGeom>
          <a:solidFill>
            <a:srgbClr val="245DA8"/>
          </a:solidFill>
          <a:ln w="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6" name="step-5-title">
            <a:extLst>
              <a:ext uri="{FF2B5EF4-FFF2-40B4-BE49-F238E27FC236}">
                <a16:creationId xmlns:a16="http://schemas.microsoft.com/office/drawing/2014/main" id="{6D2B30A5-0136-DC35-9F6A-E16BD21B2C8E}"/>
              </a:ext>
            </a:extLst>
          </p:cNvPr>
          <p:cNvSpPr txBox="1"/>
          <p:nvPr/>
        </p:nvSpPr>
        <p:spPr>
          <a:xfrm>
            <a:off x="5588000" y="4464050"/>
            <a:ext cx="171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指标与进场判断</a:t>
            </a:r>
          </a:p>
        </p:txBody>
      </p:sp>
      <p:sp>
        <p:nvSpPr>
          <p:cNvPr id="57" name="step-5-body">
            <a:extLst>
              <a:ext uri="{FF2B5EF4-FFF2-40B4-BE49-F238E27FC236}">
                <a16:creationId xmlns:a16="http://schemas.microsoft.com/office/drawing/2014/main" id="{DA453A70-FB31-96AB-A88A-B5F485151876}"/>
              </a:ext>
            </a:extLst>
          </p:cNvPr>
          <p:cNvSpPr txBox="1"/>
          <p:nvPr/>
        </p:nvSpPr>
        <p:spPr>
          <a:xfrm>
            <a:off x="4965700" y="5085236"/>
            <a:ext cx="2527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负面 ＋ 质疑 ＋ 接受
恶化 ＋ 停滞判断</a:t>
            </a:r>
          </a:p>
        </p:txBody>
      </p:sp>
      <p:sp>
        <p:nvSpPr>
          <p:cNvPr id="58" name="entry-card">
            <a:extLst>
              <a:ext uri="{FF2B5EF4-FFF2-40B4-BE49-F238E27FC236}">
                <a16:creationId xmlns:a16="http://schemas.microsoft.com/office/drawing/2014/main" id="{086E4C9F-6B70-155D-5D68-BE0B13D61C85}"/>
              </a:ext>
            </a:extLst>
          </p:cNvPr>
          <p:cNvSpPr/>
          <p:nvPr/>
        </p:nvSpPr>
        <p:spPr>
          <a:xfrm>
            <a:off x="1071600" y="4248150"/>
            <a:ext cx="2814600" cy="1295400"/>
          </a:xfrm>
          <a:prstGeom prst="roundRect">
            <a:avLst/>
          </a:prstGeom>
          <a:solidFill>
            <a:srgbClr val="FFF1E2"/>
          </a:solidFill>
          <a:ln w="1905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9" name="entry-marker">
            <a:extLst>
              <a:ext uri="{FF2B5EF4-FFF2-40B4-BE49-F238E27FC236}">
                <a16:creationId xmlns:a16="http://schemas.microsoft.com/office/drawing/2014/main" id="{7A1C0B6F-ABC2-CEA5-DE36-389074CC8E34}"/>
              </a:ext>
            </a:extLst>
          </p:cNvPr>
          <p:cNvSpPr/>
          <p:nvPr/>
        </p:nvSpPr>
        <p:spPr>
          <a:xfrm>
            <a:off x="1320800" y="4464050"/>
            <a:ext cx="431800" cy="431800"/>
          </a:xfrm>
          <a:prstGeom prst="ellipse">
            <a:avLst/>
          </a:prstGeom>
          <a:solidFill>
            <a:srgbClr val="FFE5C7"/>
          </a:solidFill>
          <a:ln w="1778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0" name="entry-marker-text">
            <a:extLst>
              <a:ext uri="{FF2B5EF4-FFF2-40B4-BE49-F238E27FC236}">
                <a16:creationId xmlns:a16="http://schemas.microsoft.com/office/drawing/2014/main" id="{A4FDA91A-088D-793F-2A8A-EBDA0B8571F5}"/>
              </a:ext>
            </a:extLst>
          </p:cNvPr>
          <p:cNvSpPr txBox="1"/>
          <p:nvPr/>
        </p:nvSpPr>
        <p:spPr>
          <a:xfrm>
            <a:off x="1320800" y="455415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700" b="1">
                <a:solidFill>
                  <a:srgbClr val="F28A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!</a:t>
            </a:r>
            <a:endParaRPr lang="zh-CN" altLang="en-US" sz="1700" b="1">
              <a:solidFill>
                <a:srgbClr val="F28A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entry-title">
            <a:extLst>
              <a:ext uri="{FF2B5EF4-FFF2-40B4-BE49-F238E27FC236}">
                <a16:creationId xmlns:a16="http://schemas.microsoft.com/office/drawing/2014/main" id="{38163313-2A93-B298-0B74-453555BB387F}"/>
              </a:ext>
            </a:extLst>
          </p:cNvPr>
          <p:cNvSpPr txBox="1"/>
          <p:nvPr/>
        </p:nvSpPr>
        <p:spPr>
          <a:xfrm>
            <a:off x="1866900" y="446405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550" b="1">
                <a:solidFill>
                  <a:srgbClr val="8A440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触发官方进场</a:t>
            </a:r>
          </a:p>
        </p:txBody>
      </p:sp>
      <p:sp>
        <p:nvSpPr>
          <p:cNvPr id="62" name="entry-body">
            <a:extLst>
              <a:ext uri="{FF2B5EF4-FFF2-40B4-BE49-F238E27FC236}">
                <a16:creationId xmlns:a16="http://schemas.microsoft.com/office/drawing/2014/main" id="{7ED2958A-85BE-8911-C789-A4081479CC86}"/>
              </a:ext>
            </a:extLst>
          </p:cNvPr>
          <p:cNvSpPr txBox="1"/>
          <p:nvPr/>
        </p:nvSpPr>
        <p:spPr>
          <a:xfrm>
            <a:off x="1298930" y="5060950"/>
            <a:ext cx="231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阈值 </a:t>
            </a:r>
            <a:r>
              <a:rPr lang="en-US" altLang="zh-CN" sz="140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恶化 </a:t>
            </a:r>
            <a:r>
              <a:rPr lang="en-US" altLang="zh-CN" sz="140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停滞
注入声明，进入下一轮</a:t>
            </a:r>
          </a:p>
        </p:txBody>
      </p:sp>
      <p:cxnSp>
        <p:nvCxnSpPr>
          <p:cNvPr id="63" name="arrow-1-2">
            <a:extLst>
              <a:ext uri="{FF2B5EF4-FFF2-40B4-BE49-F238E27FC236}">
                <a16:creationId xmlns:a16="http://schemas.microsoft.com/office/drawing/2014/main" id="{320B5BE9-BDC1-1CD7-255A-0EE93856F370}"/>
              </a:ext>
            </a:extLst>
          </p:cNvPr>
          <p:cNvCxnSpPr/>
          <p:nvPr/>
        </p:nvCxnSpPr>
        <p:spPr>
          <a:xfrm>
            <a:off x="3886200" y="2787650"/>
            <a:ext cx="8128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arrow-2-3">
            <a:extLst>
              <a:ext uri="{FF2B5EF4-FFF2-40B4-BE49-F238E27FC236}">
                <a16:creationId xmlns:a16="http://schemas.microsoft.com/office/drawing/2014/main" id="{8B61CA72-B088-3C49-AAE4-8FE22ADDF71A}"/>
              </a:ext>
            </a:extLst>
          </p:cNvPr>
          <p:cNvCxnSpPr/>
          <p:nvPr/>
        </p:nvCxnSpPr>
        <p:spPr>
          <a:xfrm>
            <a:off x="7493000" y="2787650"/>
            <a:ext cx="8128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arrow-3-4">
            <a:extLst>
              <a:ext uri="{FF2B5EF4-FFF2-40B4-BE49-F238E27FC236}">
                <a16:creationId xmlns:a16="http://schemas.microsoft.com/office/drawing/2014/main" id="{9CFB7166-2BDC-A63B-432A-727FBEB4AA33}"/>
              </a:ext>
            </a:extLst>
          </p:cNvPr>
          <p:cNvCxnSpPr/>
          <p:nvPr/>
        </p:nvCxnSpPr>
        <p:spPr>
          <a:xfrm>
            <a:off x="9702800" y="3435350"/>
            <a:ext cx="0" cy="81280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arrow-4-5">
            <a:extLst>
              <a:ext uri="{FF2B5EF4-FFF2-40B4-BE49-F238E27FC236}">
                <a16:creationId xmlns:a16="http://schemas.microsoft.com/office/drawing/2014/main" id="{026B02F8-0D38-5FC8-BDA4-EE9D671411BC}"/>
              </a:ext>
            </a:extLst>
          </p:cNvPr>
          <p:cNvCxnSpPr/>
          <p:nvPr/>
        </p:nvCxnSpPr>
        <p:spPr>
          <a:xfrm flipH="1">
            <a:off x="7493000" y="4895850"/>
            <a:ext cx="8128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arrow-5-entry">
            <a:extLst>
              <a:ext uri="{FF2B5EF4-FFF2-40B4-BE49-F238E27FC236}">
                <a16:creationId xmlns:a16="http://schemas.microsoft.com/office/drawing/2014/main" id="{49D54A4B-F98D-8C34-860E-8F4B3F4E1852}"/>
              </a:ext>
            </a:extLst>
          </p:cNvPr>
          <p:cNvCxnSpPr/>
          <p:nvPr/>
        </p:nvCxnSpPr>
        <p:spPr>
          <a:xfrm flipH="1">
            <a:off x="3886200" y="4895850"/>
            <a:ext cx="8128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arrow-entry-1">
            <a:extLst>
              <a:ext uri="{FF2B5EF4-FFF2-40B4-BE49-F238E27FC236}">
                <a16:creationId xmlns:a16="http://schemas.microsoft.com/office/drawing/2014/main" id="{104A9442-3E6F-123A-D414-2F0336EC4919}"/>
              </a:ext>
            </a:extLst>
          </p:cNvPr>
          <p:cNvCxnSpPr/>
          <p:nvPr/>
        </p:nvCxnSpPr>
        <p:spPr>
          <a:xfrm flipV="1">
            <a:off x="2489200" y="3435350"/>
            <a:ext cx="0" cy="81280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akeaway-box">
            <a:extLst>
              <a:ext uri="{FF2B5EF4-FFF2-40B4-BE49-F238E27FC236}">
                <a16:creationId xmlns:a16="http://schemas.microsoft.com/office/drawing/2014/main" id="{97B481A7-573D-0C6B-42FE-3DD35B9AC5E2}"/>
              </a:ext>
            </a:extLst>
          </p:cNvPr>
          <p:cNvSpPr/>
          <p:nvPr/>
        </p:nvSpPr>
        <p:spPr>
          <a:xfrm>
            <a:off x="2540000" y="5988050"/>
            <a:ext cx="7162800" cy="6223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4C4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0" name="takeaway-label-shape">
            <a:extLst>
              <a:ext uri="{FF2B5EF4-FFF2-40B4-BE49-F238E27FC236}">
                <a16:creationId xmlns:a16="http://schemas.microsoft.com/office/drawing/2014/main" id="{75FF8B3C-677A-CF1A-EABA-96C5158373A2}"/>
              </a:ext>
            </a:extLst>
          </p:cNvPr>
          <p:cNvSpPr/>
          <p:nvPr/>
        </p:nvSpPr>
        <p:spPr>
          <a:xfrm>
            <a:off x="2768600" y="6127750"/>
            <a:ext cx="990600" cy="342900"/>
          </a:xfrm>
          <a:prstGeom prst="roundRect">
            <a:avLst/>
          </a:prstGeom>
          <a:solidFill>
            <a:srgbClr val="F28A2E"/>
          </a:solidFill>
          <a:ln w="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1" name="takeaway-label">
            <a:extLst>
              <a:ext uri="{FF2B5EF4-FFF2-40B4-BE49-F238E27FC236}">
                <a16:creationId xmlns:a16="http://schemas.microsoft.com/office/drawing/2014/main" id="{91665FAC-D69B-B336-14B4-0CBD5C58CD94}"/>
              </a:ext>
            </a:extLst>
          </p:cNvPr>
          <p:cNvSpPr txBox="1"/>
          <p:nvPr/>
        </p:nvSpPr>
        <p:spPr>
          <a:xfrm>
            <a:off x="2768600" y="6178550"/>
            <a:ext cx="99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关键结论</a:t>
            </a:r>
          </a:p>
        </p:txBody>
      </p:sp>
      <p:sp>
        <p:nvSpPr>
          <p:cNvPr id="72" name="takeaway-text">
            <a:extLst>
              <a:ext uri="{FF2B5EF4-FFF2-40B4-BE49-F238E27FC236}">
                <a16:creationId xmlns:a16="http://schemas.microsoft.com/office/drawing/2014/main" id="{A49781F0-F11B-6281-BE42-7D4C80A993B3}"/>
              </a:ext>
            </a:extLst>
          </p:cNvPr>
          <p:cNvSpPr txBox="1"/>
          <p:nvPr/>
        </p:nvSpPr>
        <p:spPr>
          <a:xfrm>
            <a:off x="3835400" y="6127750"/>
            <a:ext cx="565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7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不同回应策略的价值，体现在能否改变后续舆情轨迹</a:t>
            </a:r>
          </a:p>
        </p:txBody>
      </p:sp>
      <p:sp>
        <p:nvSpPr>
          <p:cNvPr id="78" name="step-1-accent">
            <a:extLst>
              <a:ext uri="{FF2B5EF4-FFF2-40B4-BE49-F238E27FC236}">
                <a16:creationId xmlns:a16="http://schemas.microsoft.com/office/drawing/2014/main" id="{40542C3A-505C-2069-198A-BB3150D6FDBB}"/>
              </a:ext>
            </a:extLst>
          </p:cNvPr>
          <p:cNvSpPr/>
          <p:nvPr/>
        </p:nvSpPr>
        <p:spPr>
          <a:xfrm>
            <a:off x="1038579" y="4248150"/>
            <a:ext cx="126999" cy="1295400"/>
          </a:xfrm>
          <a:prstGeom prst="rect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D1C39-DD90-5639-9CFA-3FD95E420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>
            <a:extLst>
              <a:ext uri="{FF2B5EF4-FFF2-40B4-BE49-F238E27FC236}">
                <a16:creationId xmlns:a16="http://schemas.microsoft.com/office/drawing/2014/main" id="{76CD1014-85F3-00FE-5C8B-F4BCB51309A9}"/>
              </a:ext>
            </a:extLst>
          </p:cNvPr>
          <p:cNvSpPr/>
          <p:nvPr/>
        </p:nvSpPr>
        <p:spPr>
          <a:xfrm>
            <a:off x="3302000" y="635000"/>
            <a:ext cx="5588000" cy="5588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556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1" name="圆: 空心 4">
            <a:extLst>
              <a:ext uri="{FF2B5EF4-FFF2-40B4-BE49-F238E27FC236}">
                <a16:creationId xmlns:a16="http://schemas.microsoft.com/office/drawing/2014/main" id="{73E4AA6D-1121-38E7-E760-810991518C8E}"/>
              </a:ext>
            </a:extLst>
          </p:cNvPr>
          <p:cNvSpPr/>
          <p:nvPr/>
        </p:nvSpPr>
        <p:spPr>
          <a:xfrm>
            <a:off x="1574800" y="-1092200"/>
            <a:ext cx="9042400" cy="9042400"/>
          </a:xfrm>
          <a:prstGeom prst="donut">
            <a:avLst>
              <a:gd name="adj" fmla="val 6774"/>
            </a:avLst>
          </a:prstGeom>
          <a:gradFill>
            <a:gsLst>
              <a:gs pos="43000">
                <a:srgbClr val="2257AE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F85FE99-09C6-3DA9-D6F5-38D40ED46D98}"/>
              </a:ext>
            </a:extLst>
          </p:cNvPr>
          <p:cNvSpPr txBox="1"/>
          <p:nvPr/>
        </p:nvSpPr>
        <p:spPr>
          <a:xfrm>
            <a:off x="4930719" y="3289880"/>
            <a:ext cx="2275550" cy="791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000">
                <a:solidFill>
                  <a:srgbClr val="2257AE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关键技术</a:t>
            </a:r>
            <a:endParaRPr lang="zh-CN" altLang="en-US" sz="4000" dirty="0">
              <a:solidFill>
                <a:srgbClr val="2257AE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29685EE1-5CAB-224C-1B32-503AE05FB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325" y="1803400"/>
            <a:ext cx="1403350" cy="140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10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/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0" name="直接连接符 59"/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占位符 43"/>
          <p:cNvSpPr txBox="1"/>
          <p:nvPr/>
        </p:nvSpPr>
        <p:spPr>
          <a:xfrm>
            <a:off x="399891" y="349328"/>
            <a:ext cx="9556274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关键技术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评论池生成</a:t>
            </a:r>
            <a:r>
              <a:rPr lang="en-US" altLang="zh-CN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构建多角度、多立场、多人物类型的舆情环境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5" name="generation-canvas">
            <a:extLst>
              <a:ext uri="{FF2B5EF4-FFF2-40B4-BE49-F238E27FC236}">
                <a16:creationId xmlns:a16="http://schemas.microsoft.com/office/drawing/2014/main" id="{70645C37-97E1-B7A5-23C8-6FA111EF52D1}"/>
              </a:ext>
            </a:extLst>
          </p:cNvPr>
          <p:cNvSpPr/>
          <p:nvPr/>
        </p:nvSpPr>
        <p:spPr>
          <a:xfrm>
            <a:off x="660400" y="1422400"/>
            <a:ext cx="10871200" cy="436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8F1"/>
            </a:solidFill>
          </a:ln>
          <a:effectLst>
            <a:outerShdw blurRad="88900" dist="25400" dir="5400000" rotWithShape="0">
              <a:srgbClr val="173F5F">
                <a:alpha val="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arrow-event-plan">
            <a:extLst>
              <a:ext uri="{FF2B5EF4-FFF2-40B4-BE49-F238E27FC236}">
                <a16:creationId xmlns:a16="http://schemas.microsoft.com/office/drawing/2014/main" id="{4BFFE22B-B511-E601-8D4C-96C4D7736E24}"/>
              </a:ext>
            </a:extLst>
          </p:cNvPr>
          <p:cNvCxnSpPr/>
          <p:nvPr/>
        </p:nvCxnSpPr>
        <p:spPr>
          <a:xfrm>
            <a:off x="2933700" y="3390900"/>
            <a:ext cx="6477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arrow-plan-generation">
            <a:extLst>
              <a:ext uri="{FF2B5EF4-FFF2-40B4-BE49-F238E27FC236}">
                <a16:creationId xmlns:a16="http://schemas.microsoft.com/office/drawing/2014/main" id="{688E0222-6E47-AA5E-5946-BC8DEEABC167}"/>
              </a:ext>
            </a:extLst>
          </p:cNvPr>
          <p:cNvCxnSpPr/>
          <p:nvPr/>
        </p:nvCxnSpPr>
        <p:spPr>
          <a:xfrm>
            <a:off x="5981700" y="3759200"/>
            <a:ext cx="0" cy="330200"/>
          </a:xfrm>
          <a:prstGeom prst="line">
            <a:avLst/>
          </a:prstGeom>
          <a:ln w="30480">
            <a:solidFill>
              <a:srgbClr val="24A59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arrow-generation-output">
            <a:extLst>
              <a:ext uri="{FF2B5EF4-FFF2-40B4-BE49-F238E27FC236}">
                <a16:creationId xmlns:a16="http://schemas.microsoft.com/office/drawing/2014/main" id="{9FFBC274-D872-9F9F-B9BF-4CFF10DEDF7D}"/>
              </a:ext>
            </a:extLst>
          </p:cNvPr>
          <p:cNvCxnSpPr/>
          <p:nvPr/>
        </p:nvCxnSpPr>
        <p:spPr>
          <a:xfrm>
            <a:off x="8280400" y="4533900"/>
            <a:ext cx="5207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vent-card">
            <a:extLst>
              <a:ext uri="{FF2B5EF4-FFF2-40B4-BE49-F238E27FC236}">
                <a16:creationId xmlns:a16="http://schemas.microsoft.com/office/drawing/2014/main" id="{20608A07-8A2B-9E8A-BBB5-DC642BF48AEF}"/>
              </a:ext>
            </a:extLst>
          </p:cNvPr>
          <p:cNvSpPr/>
          <p:nvPr/>
        </p:nvSpPr>
        <p:spPr>
          <a:xfrm>
            <a:off x="965200" y="1917700"/>
            <a:ext cx="1968500" cy="29464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BDD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event-icon-circle">
            <a:extLst>
              <a:ext uri="{FF2B5EF4-FFF2-40B4-BE49-F238E27FC236}">
                <a16:creationId xmlns:a16="http://schemas.microsoft.com/office/drawing/2014/main" id="{47F0A317-EE53-AB27-52A1-B64DC89E4CA9}"/>
              </a:ext>
            </a:extLst>
          </p:cNvPr>
          <p:cNvSpPr/>
          <p:nvPr/>
        </p:nvSpPr>
        <p:spPr>
          <a:xfrm>
            <a:off x="1155700" y="2133600"/>
            <a:ext cx="533400" cy="5334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event-icon-text">
            <a:extLst>
              <a:ext uri="{FF2B5EF4-FFF2-40B4-BE49-F238E27FC236}">
                <a16:creationId xmlns:a16="http://schemas.microsoft.com/office/drawing/2014/main" id="{0483A2F7-BA99-374D-C5C5-82F439DBB561}"/>
              </a:ext>
            </a:extLst>
          </p:cNvPr>
          <p:cNvSpPr txBox="1"/>
          <p:nvPr/>
        </p:nvSpPr>
        <p:spPr>
          <a:xfrm>
            <a:off x="1155700" y="2209799"/>
            <a:ext cx="5334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00" b="1">
                <a:solidFill>
                  <a:srgbClr val="2D70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</a:t>
            </a:r>
          </a:p>
        </p:txBody>
      </p:sp>
      <p:sp>
        <p:nvSpPr>
          <p:cNvPr id="14" name="event-title">
            <a:extLst>
              <a:ext uri="{FF2B5EF4-FFF2-40B4-BE49-F238E27FC236}">
                <a16:creationId xmlns:a16="http://schemas.microsoft.com/office/drawing/2014/main" id="{AA35DAAC-5A12-759A-0DF4-148EFC44306D}"/>
              </a:ext>
            </a:extLst>
          </p:cNvPr>
          <p:cNvSpPr txBox="1"/>
          <p:nvPr/>
        </p:nvSpPr>
        <p:spPr>
          <a:xfrm>
            <a:off x="1155700" y="2743199"/>
            <a:ext cx="1587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事件材料</a:t>
            </a:r>
          </a:p>
        </p:txBody>
      </p:sp>
      <p:sp>
        <p:nvSpPr>
          <p:cNvPr id="15" name="event-items-dot-0">
            <a:extLst>
              <a:ext uri="{FF2B5EF4-FFF2-40B4-BE49-F238E27FC236}">
                <a16:creationId xmlns:a16="http://schemas.microsoft.com/office/drawing/2014/main" id="{40517B64-2E6D-EC99-A83A-0E8FB1C91A39}"/>
              </a:ext>
            </a:extLst>
          </p:cNvPr>
          <p:cNvSpPr/>
          <p:nvPr/>
        </p:nvSpPr>
        <p:spPr>
          <a:xfrm>
            <a:off x="1168400" y="33655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event-items-text-0">
            <a:extLst>
              <a:ext uri="{FF2B5EF4-FFF2-40B4-BE49-F238E27FC236}">
                <a16:creationId xmlns:a16="http://schemas.microsoft.com/office/drawing/2014/main" id="{4553323E-F250-1381-6349-0992D878726A}"/>
              </a:ext>
            </a:extLst>
          </p:cNvPr>
          <p:cNvSpPr txBox="1"/>
          <p:nvPr/>
        </p:nvSpPr>
        <p:spPr>
          <a:xfrm>
            <a:off x="1346200" y="3263899"/>
            <a:ext cx="1397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事件正文</a:t>
            </a:r>
          </a:p>
        </p:txBody>
      </p:sp>
      <p:sp>
        <p:nvSpPr>
          <p:cNvPr id="17" name="event-items-dot-1">
            <a:extLst>
              <a:ext uri="{FF2B5EF4-FFF2-40B4-BE49-F238E27FC236}">
                <a16:creationId xmlns:a16="http://schemas.microsoft.com/office/drawing/2014/main" id="{602C60B4-FE67-DF27-BC39-1618F9DE9A94}"/>
              </a:ext>
            </a:extLst>
          </p:cNvPr>
          <p:cNvSpPr/>
          <p:nvPr/>
        </p:nvSpPr>
        <p:spPr>
          <a:xfrm>
            <a:off x="1168400" y="37719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event-items-text-1">
            <a:extLst>
              <a:ext uri="{FF2B5EF4-FFF2-40B4-BE49-F238E27FC236}">
                <a16:creationId xmlns:a16="http://schemas.microsoft.com/office/drawing/2014/main" id="{EF42221F-0DC6-BD46-675D-4F904BDBBA81}"/>
              </a:ext>
            </a:extLst>
          </p:cNvPr>
          <p:cNvSpPr txBox="1"/>
          <p:nvPr/>
        </p:nvSpPr>
        <p:spPr>
          <a:xfrm>
            <a:off x="1346200" y="3670299"/>
            <a:ext cx="1397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主题与情感标签</a:t>
            </a:r>
          </a:p>
        </p:txBody>
      </p:sp>
      <p:sp>
        <p:nvSpPr>
          <p:cNvPr id="19" name="event-items-dot-2">
            <a:extLst>
              <a:ext uri="{FF2B5EF4-FFF2-40B4-BE49-F238E27FC236}">
                <a16:creationId xmlns:a16="http://schemas.microsoft.com/office/drawing/2014/main" id="{9EF84B21-E580-3EF1-18B6-09D328511592}"/>
              </a:ext>
            </a:extLst>
          </p:cNvPr>
          <p:cNvSpPr/>
          <p:nvPr/>
        </p:nvSpPr>
        <p:spPr>
          <a:xfrm>
            <a:off x="1168400" y="41783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event-items-text-2">
            <a:extLst>
              <a:ext uri="{FF2B5EF4-FFF2-40B4-BE49-F238E27FC236}">
                <a16:creationId xmlns:a16="http://schemas.microsoft.com/office/drawing/2014/main" id="{8E53BF4C-8F31-BAD5-6197-1E648B2A3655}"/>
              </a:ext>
            </a:extLst>
          </p:cNvPr>
          <p:cNvSpPr txBox="1"/>
          <p:nvPr/>
        </p:nvSpPr>
        <p:spPr>
          <a:xfrm>
            <a:off x="1346200" y="4076699"/>
            <a:ext cx="1397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当前官方声明</a:t>
            </a:r>
          </a:p>
        </p:txBody>
      </p:sp>
      <p:sp>
        <p:nvSpPr>
          <p:cNvPr id="21" name="plan-title">
            <a:extLst>
              <a:ext uri="{FF2B5EF4-FFF2-40B4-BE49-F238E27FC236}">
                <a16:creationId xmlns:a16="http://schemas.microsoft.com/office/drawing/2014/main" id="{CDAF3FC4-4F8C-6893-ACD1-E6D07CB8487F}"/>
              </a:ext>
            </a:extLst>
          </p:cNvPr>
          <p:cNvSpPr txBox="1"/>
          <p:nvPr/>
        </p:nvSpPr>
        <p:spPr>
          <a:xfrm>
            <a:off x="3606800" y="1841499"/>
            <a:ext cx="4699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事件角度计划</a:t>
            </a:r>
          </a:p>
        </p:txBody>
      </p:sp>
      <p:sp>
        <p:nvSpPr>
          <p:cNvPr id="22" name="plan-body">
            <a:extLst>
              <a:ext uri="{FF2B5EF4-FFF2-40B4-BE49-F238E27FC236}">
                <a16:creationId xmlns:a16="http://schemas.microsoft.com/office/drawing/2014/main" id="{F8E281B1-5FA3-B258-FAFA-EBFEFFAE1419}"/>
              </a:ext>
            </a:extLst>
          </p:cNvPr>
          <p:cNvSpPr txBox="1"/>
          <p:nvPr/>
        </p:nvSpPr>
        <p:spPr>
          <a:xfrm>
            <a:off x="3606800" y="2209799"/>
            <a:ext cx="4699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50">
                <a:solidFill>
                  <a:srgbClr val="5C68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</a:t>
            </a:r>
            <a:r>
              <a:rPr lang="zh-CN" altLang="en-US" sz="1350">
                <a:solidFill>
                  <a:srgbClr val="5C68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提取事件特有的讨论角度
初始池与后续轮次持续复用</a:t>
            </a:r>
          </a:p>
        </p:txBody>
      </p:sp>
      <p:sp>
        <p:nvSpPr>
          <p:cNvPr id="23" name="factor-0">
            <a:extLst>
              <a:ext uri="{FF2B5EF4-FFF2-40B4-BE49-F238E27FC236}">
                <a16:creationId xmlns:a16="http://schemas.microsoft.com/office/drawing/2014/main" id="{08DFDBAB-5C12-BC3C-8F61-FBCB91B1C0D6}"/>
              </a:ext>
            </a:extLst>
          </p:cNvPr>
          <p:cNvSpPr/>
          <p:nvPr/>
        </p:nvSpPr>
        <p:spPr>
          <a:xfrm>
            <a:off x="3657600" y="2984500"/>
            <a:ext cx="1371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factor-text-0">
            <a:extLst>
              <a:ext uri="{FF2B5EF4-FFF2-40B4-BE49-F238E27FC236}">
                <a16:creationId xmlns:a16="http://schemas.microsoft.com/office/drawing/2014/main" id="{4358CA16-32A3-F9FA-B70B-D8A1F87EA981}"/>
              </a:ext>
            </a:extLst>
          </p:cNvPr>
          <p:cNvSpPr txBox="1"/>
          <p:nvPr/>
        </p:nvSpPr>
        <p:spPr>
          <a:xfrm>
            <a:off x="3657600" y="3213099"/>
            <a:ext cx="1371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500" b="1">
                <a:solidFill>
                  <a:srgbClr val="2D70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讨论角度</a:t>
            </a:r>
          </a:p>
        </p:txBody>
      </p:sp>
      <p:sp>
        <p:nvSpPr>
          <p:cNvPr id="25" name="factor-times-0">
            <a:extLst>
              <a:ext uri="{FF2B5EF4-FFF2-40B4-BE49-F238E27FC236}">
                <a16:creationId xmlns:a16="http://schemas.microsoft.com/office/drawing/2014/main" id="{6BA755A5-1DA1-F399-AD28-09308094DFEE}"/>
              </a:ext>
            </a:extLst>
          </p:cNvPr>
          <p:cNvSpPr txBox="1"/>
          <p:nvPr/>
        </p:nvSpPr>
        <p:spPr>
          <a:xfrm>
            <a:off x="5029200" y="3187699"/>
            <a:ext cx="2032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9AA5B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</a:t>
            </a:r>
            <a:endParaRPr lang="zh-CN" altLang="en-US" sz="1700" b="1">
              <a:solidFill>
                <a:srgbClr val="9AA5B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factor-1">
            <a:extLst>
              <a:ext uri="{FF2B5EF4-FFF2-40B4-BE49-F238E27FC236}">
                <a16:creationId xmlns:a16="http://schemas.microsoft.com/office/drawing/2014/main" id="{87385568-65D2-3861-52F3-C664F7E2ADF5}"/>
              </a:ext>
            </a:extLst>
          </p:cNvPr>
          <p:cNvSpPr/>
          <p:nvPr/>
        </p:nvSpPr>
        <p:spPr>
          <a:xfrm>
            <a:off x="5232400" y="2984500"/>
            <a:ext cx="1371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actor-text-1">
            <a:extLst>
              <a:ext uri="{FF2B5EF4-FFF2-40B4-BE49-F238E27FC236}">
                <a16:creationId xmlns:a16="http://schemas.microsoft.com/office/drawing/2014/main" id="{181EA7F9-C055-264C-DADD-9941EA81AD28}"/>
              </a:ext>
            </a:extLst>
          </p:cNvPr>
          <p:cNvSpPr txBox="1"/>
          <p:nvPr/>
        </p:nvSpPr>
        <p:spPr>
          <a:xfrm>
            <a:off x="5232400" y="3213099"/>
            <a:ext cx="1371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500" b="1">
                <a:solidFill>
                  <a:srgbClr val="24A5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评论派系</a:t>
            </a:r>
          </a:p>
        </p:txBody>
      </p:sp>
      <p:sp>
        <p:nvSpPr>
          <p:cNvPr id="28" name="factor-times-1">
            <a:extLst>
              <a:ext uri="{FF2B5EF4-FFF2-40B4-BE49-F238E27FC236}">
                <a16:creationId xmlns:a16="http://schemas.microsoft.com/office/drawing/2014/main" id="{F0D664E4-53E1-E407-898B-B333038F3B98}"/>
              </a:ext>
            </a:extLst>
          </p:cNvPr>
          <p:cNvSpPr txBox="1"/>
          <p:nvPr/>
        </p:nvSpPr>
        <p:spPr>
          <a:xfrm>
            <a:off x="6604000" y="3187699"/>
            <a:ext cx="2032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9AA5B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</a:t>
            </a:r>
            <a:endParaRPr lang="zh-CN" altLang="en-US" sz="1700" b="1">
              <a:solidFill>
                <a:srgbClr val="9AA5B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factor-2">
            <a:extLst>
              <a:ext uri="{FF2B5EF4-FFF2-40B4-BE49-F238E27FC236}">
                <a16:creationId xmlns:a16="http://schemas.microsoft.com/office/drawing/2014/main" id="{4FA826EB-E838-6E1B-22D7-F98415FEBE01}"/>
              </a:ext>
            </a:extLst>
          </p:cNvPr>
          <p:cNvSpPr/>
          <p:nvPr/>
        </p:nvSpPr>
        <p:spPr>
          <a:xfrm>
            <a:off x="6807200" y="2984500"/>
            <a:ext cx="1371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factor-text-2">
            <a:extLst>
              <a:ext uri="{FF2B5EF4-FFF2-40B4-BE49-F238E27FC236}">
                <a16:creationId xmlns:a16="http://schemas.microsoft.com/office/drawing/2014/main" id="{9295D006-B11F-5A61-1DFC-EE7F1BE41EA4}"/>
              </a:ext>
            </a:extLst>
          </p:cNvPr>
          <p:cNvSpPr txBox="1"/>
          <p:nvPr/>
        </p:nvSpPr>
        <p:spPr>
          <a:xfrm>
            <a:off x="6807200" y="3213099"/>
            <a:ext cx="1371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500" b="1">
                <a:solidFill>
                  <a:srgbClr val="128E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人物类型</a:t>
            </a:r>
          </a:p>
        </p:txBody>
      </p:sp>
      <p:sp>
        <p:nvSpPr>
          <p:cNvPr id="31" name="generation-box">
            <a:extLst>
              <a:ext uri="{FF2B5EF4-FFF2-40B4-BE49-F238E27FC236}">
                <a16:creationId xmlns:a16="http://schemas.microsoft.com/office/drawing/2014/main" id="{63A8575D-7410-D353-94AC-98ECB849B47B}"/>
              </a:ext>
            </a:extLst>
          </p:cNvPr>
          <p:cNvSpPr/>
          <p:nvPr/>
        </p:nvSpPr>
        <p:spPr>
          <a:xfrm>
            <a:off x="3797300" y="4089400"/>
            <a:ext cx="4368800" cy="91440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A9D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generation-title">
            <a:extLst>
              <a:ext uri="{FF2B5EF4-FFF2-40B4-BE49-F238E27FC236}">
                <a16:creationId xmlns:a16="http://schemas.microsoft.com/office/drawing/2014/main" id="{4DCFA65F-8EFD-5CD8-97C6-5EB931CD48CE}"/>
              </a:ext>
            </a:extLst>
          </p:cNvPr>
          <p:cNvSpPr txBox="1"/>
          <p:nvPr/>
        </p:nvSpPr>
        <p:spPr>
          <a:xfrm>
            <a:off x="4025900" y="4267199"/>
            <a:ext cx="1460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167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按任务生成</a:t>
            </a:r>
          </a:p>
        </p:txBody>
      </p:sp>
      <p:sp>
        <p:nvSpPr>
          <p:cNvPr id="33" name="generation-body">
            <a:extLst>
              <a:ext uri="{FF2B5EF4-FFF2-40B4-BE49-F238E27FC236}">
                <a16:creationId xmlns:a16="http://schemas.microsoft.com/office/drawing/2014/main" id="{1C3AEF54-754E-8929-3AB6-918F5CC31888}"/>
              </a:ext>
            </a:extLst>
          </p:cNvPr>
          <p:cNvSpPr txBox="1"/>
          <p:nvPr/>
        </p:nvSpPr>
        <p:spPr>
          <a:xfrm>
            <a:off x="5549900" y="4267199"/>
            <a:ext cx="241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50">
                <a:solidFill>
                  <a:srgbClr val="4A6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生成文本与结构化字段</a:t>
            </a:r>
          </a:p>
        </p:txBody>
      </p:sp>
      <p:sp>
        <p:nvSpPr>
          <p:cNvPr id="34" name="validation-title">
            <a:extLst>
              <a:ext uri="{FF2B5EF4-FFF2-40B4-BE49-F238E27FC236}">
                <a16:creationId xmlns:a16="http://schemas.microsoft.com/office/drawing/2014/main" id="{7A92D2E5-53B0-4B35-9715-A2159EA94D2D}"/>
              </a:ext>
            </a:extLst>
          </p:cNvPr>
          <p:cNvSpPr txBox="1"/>
          <p:nvPr/>
        </p:nvSpPr>
        <p:spPr>
          <a:xfrm>
            <a:off x="4025900" y="4610099"/>
            <a:ext cx="1460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0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严格校验</a:t>
            </a:r>
          </a:p>
        </p:txBody>
      </p:sp>
      <p:sp>
        <p:nvSpPr>
          <p:cNvPr id="35" name="validation-body">
            <a:extLst>
              <a:ext uri="{FF2B5EF4-FFF2-40B4-BE49-F238E27FC236}">
                <a16:creationId xmlns:a16="http://schemas.microsoft.com/office/drawing/2014/main" id="{E1B0F801-D1B4-4FDB-FC30-D66F5C1A9377}"/>
              </a:ext>
            </a:extLst>
          </p:cNvPr>
          <p:cNvSpPr txBox="1"/>
          <p:nvPr/>
        </p:nvSpPr>
        <p:spPr>
          <a:xfrm>
            <a:off x="5549900" y="4610099"/>
            <a:ext cx="2413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50">
                <a:solidFill>
                  <a:srgbClr val="5C68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字段合法 </a:t>
            </a:r>
            <a:r>
              <a:rPr lang="en-US" altLang="zh-CN" sz="1250">
                <a:solidFill>
                  <a:srgbClr val="5C68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250">
                <a:solidFill>
                  <a:srgbClr val="5C68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派系覆盖 </a:t>
            </a:r>
            <a:r>
              <a:rPr lang="en-US" altLang="zh-CN" sz="1250">
                <a:solidFill>
                  <a:srgbClr val="5C68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250">
                <a:solidFill>
                  <a:srgbClr val="5C68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文本去重</a:t>
            </a:r>
          </a:p>
        </p:txBody>
      </p:sp>
      <p:sp>
        <p:nvSpPr>
          <p:cNvPr id="36" name="output-card">
            <a:extLst>
              <a:ext uri="{FF2B5EF4-FFF2-40B4-BE49-F238E27FC236}">
                <a16:creationId xmlns:a16="http://schemas.microsoft.com/office/drawing/2014/main" id="{6151ED2E-82A6-722C-126C-1BBF57DB97FC}"/>
              </a:ext>
            </a:extLst>
          </p:cNvPr>
          <p:cNvSpPr/>
          <p:nvPr/>
        </p:nvSpPr>
        <p:spPr>
          <a:xfrm>
            <a:off x="8801100" y="1917700"/>
            <a:ext cx="2298700" cy="2946400"/>
          </a:xfrm>
          <a:prstGeom prst="roundRect">
            <a:avLst/>
          </a:prstGeom>
          <a:solidFill>
            <a:srgbClr val="FFF7EE"/>
          </a:solidFill>
          <a:ln w="12700">
            <a:solidFill>
              <a:srgbClr val="F4C4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output-icon-circle">
            <a:extLst>
              <a:ext uri="{FF2B5EF4-FFF2-40B4-BE49-F238E27FC236}">
                <a16:creationId xmlns:a16="http://schemas.microsoft.com/office/drawing/2014/main" id="{E41088F1-B742-362B-BAAC-00C2A0164A5C}"/>
              </a:ext>
            </a:extLst>
          </p:cNvPr>
          <p:cNvSpPr/>
          <p:nvPr/>
        </p:nvSpPr>
        <p:spPr>
          <a:xfrm>
            <a:off x="9029700" y="2133600"/>
            <a:ext cx="533400" cy="5334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output-icon-text">
            <a:extLst>
              <a:ext uri="{FF2B5EF4-FFF2-40B4-BE49-F238E27FC236}">
                <a16:creationId xmlns:a16="http://schemas.microsoft.com/office/drawing/2014/main" id="{E5E0450A-DF70-C0F9-8834-89AE277A62E7}"/>
              </a:ext>
            </a:extLst>
          </p:cNvPr>
          <p:cNvSpPr txBox="1"/>
          <p:nvPr/>
        </p:nvSpPr>
        <p:spPr>
          <a:xfrm>
            <a:off x="9029700" y="2209799"/>
            <a:ext cx="5334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00" b="1">
                <a:solidFill>
                  <a:srgbClr val="F28A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池</a:t>
            </a:r>
          </a:p>
        </p:txBody>
      </p:sp>
      <p:sp>
        <p:nvSpPr>
          <p:cNvPr id="39" name="initial-label">
            <a:extLst>
              <a:ext uri="{FF2B5EF4-FFF2-40B4-BE49-F238E27FC236}">
                <a16:creationId xmlns:a16="http://schemas.microsoft.com/office/drawing/2014/main" id="{7785D3D2-B239-9155-D134-EDE1D536321D}"/>
              </a:ext>
            </a:extLst>
          </p:cNvPr>
          <p:cNvSpPr txBox="1"/>
          <p:nvPr/>
        </p:nvSpPr>
        <p:spPr>
          <a:xfrm>
            <a:off x="9029700" y="2806700"/>
            <a:ext cx="1498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5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初始评论池</a:t>
            </a:r>
          </a:p>
        </p:txBody>
      </p:sp>
      <p:sp>
        <p:nvSpPr>
          <p:cNvPr id="40" name="initial-count">
            <a:extLst>
              <a:ext uri="{FF2B5EF4-FFF2-40B4-BE49-F238E27FC236}">
                <a16:creationId xmlns:a16="http://schemas.microsoft.com/office/drawing/2014/main" id="{63CC85CA-E89B-C120-4153-417524529027}"/>
              </a:ext>
            </a:extLst>
          </p:cNvPr>
          <p:cNvSpPr txBox="1"/>
          <p:nvPr/>
        </p:nvSpPr>
        <p:spPr>
          <a:xfrm>
            <a:off x="9029700" y="3073399"/>
            <a:ext cx="1778000" cy="393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400" b="1">
                <a:solidFill>
                  <a:srgbClr val="F28A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60</a:t>
            </a:r>
            <a:r>
              <a:rPr lang="zh-CN" altLang="en-US" sz="2400" b="1">
                <a:solidFill>
                  <a:srgbClr val="F28A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</a:t>
            </a:r>
          </a:p>
        </p:txBody>
      </p:sp>
      <p:cxnSp>
        <p:nvCxnSpPr>
          <p:cNvPr id="41" name="output-divider">
            <a:extLst>
              <a:ext uri="{FF2B5EF4-FFF2-40B4-BE49-F238E27FC236}">
                <a16:creationId xmlns:a16="http://schemas.microsoft.com/office/drawing/2014/main" id="{C5D1D42C-3711-8546-8C58-906DBDEC6224}"/>
              </a:ext>
            </a:extLst>
          </p:cNvPr>
          <p:cNvCxnSpPr/>
          <p:nvPr/>
        </p:nvCxnSpPr>
        <p:spPr>
          <a:xfrm>
            <a:off x="9029700" y="3581400"/>
            <a:ext cx="1828800" cy="0"/>
          </a:xfrm>
          <a:prstGeom prst="line">
            <a:avLst/>
          </a:prstGeom>
          <a:ln w="12700">
            <a:solidFill>
              <a:srgbClr val="F2D2A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incremental-label">
            <a:extLst>
              <a:ext uri="{FF2B5EF4-FFF2-40B4-BE49-F238E27FC236}">
                <a16:creationId xmlns:a16="http://schemas.microsoft.com/office/drawing/2014/main" id="{1B8BDCFC-6724-6C9B-31AE-F2DC2B9E68E6}"/>
              </a:ext>
            </a:extLst>
          </p:cNvPr>
          <p:cNvSpPr txBox="1"/>
          <p:nvPr/>
        </p:nvSpPr>
        <p:spPr>
          <a:xfrm>
            <a:off x="9029700" y="3721100"/>
            <a:ext cx="1651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5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每轮增量评论</a:t>
            </a:r>
          </a:p>
        </p:txBody>
      </p:sp>
      <p:sp>
        <p:nvSpPr>
          <p:cNvPr id="43" name="incremental-count">
            <a:extLst>
              <a:ext uri="{FF2B5EF4-FFF2-40B4-BE49-F238E27FC236}">
                <a16:creationId xmlns:a16="http://schemas.microsoft.com/office/drawing/2014/main" id="{1B484FD2-23CE-9959-A622-523F2AD97595}"/>
              </a:ext>
            </a:extLst>
          </p:cNvPr>
          <p:cNvSpPr txBox="1"/>
          <p:nvPr/>
        </p:nvSpPr>
        <p:spPr>
          <a:xfrm>
            <a:off x="9029700" y="3987799"/>
            <a:ext cx="1778000" cy="393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400" b="1">
                <a:solidFill>
                  <a:srgbClr val="F28A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sz="2400" b="1">
                <a:solidFill>
                  <a:srgbClr val="F28A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</a:t>
            </a:r>
          </a:p>
        </p:txBody>
      </p:sp>
      <p:sp>
        <p:nvSpPr>
          <p:cNvPr id="44" name="quality-note">
            <a:extLst>
              <a:ext uri="{FF2B5EF4-FFF2-40B4-BE49-F238E27FC236}">
                <a16:creationId xmlns:a16="http://schemas.microsoft.com/office/drawing/2014/main" id="{BDEC6BA6-6B6C-E067-0EFE-8D9C47582E4C}"/>
              </a:ext>
            </a:extLst>
          </p:cNvPr>
          <p:cNvSpPr txBox="1"/>
          <p:nvPr/>
        </p:nvSpPr>
        <p:spPr>
          <a:xfrm>
            <a:off x="9029700" y="4457699"/>
            <a:ext cx="18288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150">
                <a:solidFill>
                  <a:srgbClr val="7A67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不足时累计重试，并记录兜底与质量状态</a:t>
            </a:r>
          </a:p>
        </p:txBody>
      </p:sp>
      <p:sp>
        <p:nvSpPr>
          <p:cNvPr id="45" name="takeaway-box">
            <a:extLst>
              <a:ext uri="{FF2B5EF4-FFF2-40B4-BE49-F238E27FC236}">
                <a16:creationId xmlns:a16="http://schemas.microsoft.com/office/drawing/2014/main" id="{8A502A34-4AF1-B78D-CBB5-062F28CDF5EC}"/>
              </a:ext>
            </a:extLst>
          </p:cNvPr>
          <p:cNvSpPr/>
          <p:nvPr/>
        </p:nvSpPr>
        <p:spPr>
          <a:xfrm>
            <a:off x="2159000" y="6045200"/>
            <a:ext cx="7874000" cy="5588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4C4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akeaway-marker">
            <a:extLst>
              <a:ext uri="{FF2B5EF4-FFF2-40B4-BE49-F238E27FC236}">
                <a16:creationId xmlns:a16="http://schemas.microsoft.com/office/drawing/2014/main" id="{2C4EAF51-D5F1-E00A-28A3-C47DA11C07D5}"/>
              </a:ext>
            </a:extLst>
          </p:cNvPr>
          <p:cNvSpPr/>
          <p:nvPr/>
        </p:nvSpPr>
        <p:spPr>
          <a:xfrm>
            <a:off x="2387600" y="6159500"/>
            <a:ext cx="965200" cy="330200"/>
          </a:xfrm>
          <a:prstGeom prst="roundRect">
            <a:avLst/>
          </a:prstGeom>
          <a:solidFill>
            <a:srgbClr val="F28A2E"/>
          </a:solidFill>
          <a:ln w="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takeaway-label">
            <a:extLst>
              <a:ext uri="{FF2B5EF4-FFF2-40B4-BE49-F238E27FC236}">
                <a16:creationId xmlns:a16="http://schemas.microsoft.com/office/drawing/2014/main" id="{FC730D96-9D6F-3DD8-EA25-7832E4AD9AF4}"/>
              </a:ext>
            </a:extLst>
          </p:cNvPr>
          <p:cNvSpPr txBox="1"/>
          <p:nvPr/>
        </p:nvSpPr>
        <p:spPr>
          <a:xfrm>
            <a:off x="2387600" y="6210300"/>
            <a:ext cx="96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关键结论</a:t>
            </a:r>
          </a:p>
        </p:txBody>
      </p:sp>
      <p:sp>
        <p:nvSpPr>
          <p:cNvPr id="48" name="takeaway-text">
            <a:extLst>
              <a:ext uri="{FF2B5EF4-FFF2-40B4-BE49-F238E27FC236}">
                <a16:creationId xmlns:a16="http://schemas.microsoft.com/office/drawing/2014/main" id="{017CDD53-9512-E289-DCAB-007528D07B88}"/>
              </a:ext>
            </a:extLst>
          </p:cNvPr>
          <p:cNvSpPr txBox="1"/>
          <p:nvPr/>
        </p:nvSpPr>
        <p:spPr>
          <a:xfrm>
            <a:off x="3556000" y="6146799"/>
            <a:ext cx="6223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评论多样性来自结构化任务，而不是无约束随机扩写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A4787-FDC3-0AA3-018C-4BF2847F0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2FA6C42E-08FB-4E9C-8233-B0600B69755E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EB08D5B9-79CB-651F-B9F2-208B471BAD88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840D7AFA-9867-09EC-6C1C-D09FB5421BB9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占位符 43">
            <a:extLst>
              <a:ext uri="{FF2B5EF4-FFF2-40B4-BE49-F238E27FC236}">
                <a16:creationId xmlns:a16="http://schemas.microsoft.com/office/drawing/2014/main" id="{33B8056C-4FF2-E267-140B-D56D43358C60}"/>
              </a:ext>
            </a:extLst>
          </p:cNvPr>
          <p:cNvSpPr txBox="1"/>
          <p:nvPr/>
        </p:nvSpPr>
        <p:spPr>
          <a:xfrm>
            <a:off x="399891" y="349328"/>
            <a:ext cx="7096936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关键技术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决策机制</a:t>
            </a:r>
            <a:r>
              <a:rPr lang="en-US" altLang="zh-CN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zh-CN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公众如何形成态度与表达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0A15E1A1-AC88-ECE4-4267-BCE9AC214BA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C657B6-FD69-C19B-6E93-2D8AF121512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4" name="headline">
            <a:extLst>
              <a:ext uri="{FF2B5EF4-FFF2-40B4-BE49-F238E27FC236}">
                <a16:creationId xmlns:a16="http://schemas.microsoft.com/office/drawing/2014/main" id="{F1268B7A-C3C5-909E-1CC1-2A978717BC15}"/>
              </a:ext>
            </a:extLst>
          </p:cNvPr>
          <p:cNvSpPr txBox="1"/>
          <p:nvPr/>
        </p:nvSpPr>
        <p:spPr>
          <a:xfrm>
            <a:off x="2667000" y="961046"/>
            <a:ext cx="6858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7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同一信息进入不同公众画像，会形成不同判断与表达</a:t>
            </a:r>
          </a:p>
        </p:txBody>
      </p:sp>
      <p:sp>
        <p:nvSpPr>
          <p:cNvPr id="5" name="decision-canvas">
            <a:extLst>
              <a:ext uri="{FF2B5EF4-FFF2-40B4-BE49-F238E27FC236}">
                <a16:creationId xmlns:a16="http://schemas.microsoft.com/office/drawing/2014/main" id="{1A173596-67D3-B905-751A-78BD33B23395}"/>
              </a:ext>
            </a:extLst>
          </p:cNvPr>
          <p:cNvSpPr/>
          <p:nvPr/>
        </p:nvSpPr>
        <p:spPr>
          <a:xfrm>
            <a:off x="660400" y="1422400"/>
            <a:ext cx="10871200" cy="436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8F1"/>
            </a:solidFill>
          </a:ln>
          <a:effectLst>
            <a:outerShdw blurRad="88900" dist="25400" dir="5400000" rotWithShape="0">
              <a:srgbClr val="173F5F">
                <a:alpha val="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arrow-input-cognition">
            <a:extLst>
              <a:ext uri="{FF2B5EF4-FFF2-40B4-BE49-F238E27FC236}">
                <a16:creationId xmlns:a16="http://schemas.microsoft.com/office/drawing/2014/main" id="{38694DBD-1BD4-539A-F730-108B9DF5774A}"/>
              </a:ext>
            </a:extLst>
          </p:cNvPr>
          <p:cNvCxnSpPr/>
          <p:nvPr/>
        </p:nvCxnSpPr>
        <p:spPr>
          <a:xfrm>
            <a:off x="3708400" y="3581400"/>
            <a:ext cx="8890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arrow-cognition-expression">
            <a:extLst>
              <a:ext uri="{FF2B5EF4-FFF2-40B4-BE49-F238E27FC236}">
                <a16:creationId xmlns:a16="http://schemas.microsoft.com/office/drawing/2014/main" id="{3B6EDF0D-9A57-693B-748A-CA55888642B8}"/>
              </a:ext>
            </a:extLst>
          </p:cNvPr>
          <p:cNvCxnSpPr/>
          <p:nvPr/>
        </p:nvCxnSpPr>
        <p:spPr>
          <a:xfrm>
            <a:off x="6756400" y="3581400"/>
            <a:ext cx="5334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arrow-expression-output">
            <a:extLst>
              <a:ext uri="{FF2B5EF4-FFF2-40B4-BE49-F238E27FC236}">
                <a16:creationId xmlns:a16="http://schemas.microsoft.com/office/drawing/2014/main" id="{023DA66A-86A1-D981-F81C-F7FF1A133062}"/>
              </a:ext>
            </a:extLst>
          </p:cNvPr>
          <p:cNvCxnSpPr/>
          <p:nvPr/>
        </p:nvCxnSpPr>
        <p:spPr>
          <a:xfrm>
            <a:off x="9499600" y="3581400"/>
            <a:ext cx="4064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input-card">
            <a:extLst>
              <a:ext uri="{FF2B5EF4-FFF2-40B4-BE49-F238E27FC236}">
                <a16:creationId xmlns:a16="http://schemas.microsoft.com/office/drawing/2014/main" id="{A2D170A0-41B2-6BE1-5E0A-C17FDCEEC36D}"/>
              </a:ext>
            </a:extLst>
          </p:cNvPr>
          <p:cNvSpPr/>
          <p:nvPr/>
        </p:nvSpPr>
        <p:spPr>
          <a:xfrm>
            <a:off x="990600" y="1917700"/>
            <a:ext cx="2717800" cy="33020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BDD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input-title">
            <a:extLst>
              <a:ext uri="{FF2B5EF4-FFF2-40B4-BE49-F238E27FC236}">
                <a16:creationId xmlns:a16="http://schemas.microsoft.com/office/drawing/2014/main" id="{E2E6BC73-644F-77EE-BD8E-8899779B7298}"/>
              </a:ext>
            </a:extLst>
          </p:cNvPr>
          <p:cNvSpPr txBox="1"/>
          <p:nvPr/>
        </p:nvSpPr>
        <p:spPr>
          <a:xfrm>
            <a:off x="1308100" y="2203449"/>
            <a:ext cx="15748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0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个人决策输入</a:t>
            </a:r>
          </a:p>
        </p:txBody>
      </p:sp>
      <p:sp>
        <p:nvSpPr>
          <p:cNvPr id="15" name="input-items-dot-0">
            <a:extLst>
              <a:ext uri="{FF2B5EF4-FFF2-40B4-BE49-F238E27FC236}">
                <a16:creationId xmlns:a16="http://schemas.microsoft.com/office/drawing/2014/main" id="{92D1A3CE-4521-40A0-9E94-F0731DF6DA56}"/>
              </a:ext>
            </a:extLst>
          </p:cNvPr>
          <p:cNvSpPr/>
          <p:nvPr/>
        </p:nvSpPr>
        <p:spPr>
          <a:xfrm>
            <a:off x="1244600" y="30099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input-items-text-0">
            <a:extLst>
              <a:ext uri="{FF2B5EF4-FFF2-40B4-BE49-F238E27FC236}">
                <a16:creationId xmlns:a16="http://schemas.microsoft.com/office/drawing/2014/main" id="{A053126E-BC0A-09A5-37A7-022A35FC61D6}"/>
              </a:ext>
            </a:extLst>
          </p:cNvPr>
          <p:cNvSpPr txBox="1"/>
          <p:nvPr/>
        </p:nvSpPr>
        <p:spPr>
          <a:xfrm>
            <a:off x="1422400" y="2908299"/>
            <a:ext cx="1955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人物画像</a:t>
            </a:r>
          </a:p>
        </p:txBody>
      </p:sp>
      <p:sp>
        <p:nvSpPr>
          <p:cNvPr id="17" name="input-items-dot-1">
            <a:extLst>
              <a:ext uri="{FF2B5EF4-FFF2-40B4-BE49-F238E27FC236}">
                <a16:creationId xmlns:a16="http://schemas.microsoft.com/office/drawing/2014/main" id="{55DFACCB-EA49-0B13-51E1-9AC0088D4CA6}"/>
              </a:ext>
            </a:extLst>
          </p:cNvPr>
          <p:cNvSpPr/>
          <p:nvPr/>
        </p:nvSpPr>
        <p:spPr>
          <a:xfrm>
            <a:off x="1244600" y="33909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input-items-text-1">
            <a:extLst>
              <a:ext uri="{FF2B5EF4-FFF2-40B4-BE49-F238E27FC236}">
                <a16:creationId xmlns:a16="http://schemas.microsoft.com/office/drawing/2014/main" id="{8D0A1002-6369-4C60-3A03-0F694AA14EE2}"/>
              </a:ext>
            </a:extLst>
          </p:cNvPr>
          <p:cNvSpPr txBox="1"/>
          <p:nvPr/>
        </p:nvSpPr>
        <p:spPr>
          <a:xfrm>
            <a:off x="1422400" y="3289299"/>
            <a:ext cx="1955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条个人可见评论</a:t>
            </a:r>
          </a:p>
        </p:txBody>
      </p:sp>
      <p:sp>
        <p:nvSpPr>
          <p:cNvPr id="19" name="input-items-dot-2">
            <a:extLst>
              <a:ext uri="{FF2B5EF4-FFF2-40B4-BE49-F238E27FC236}">
                <a16:creationId xmlns:a16="http://schemas.microsoft.com/office/drawing/2014/main" id="{EDA95DC7-233D-FDB3-6BBE-E7B1383E131E}"/>
              </a:ext>
            </a:extLst>
          </p:cNvPr>
          <p:cNvSpPr/>
          <p:nvPr/>
        </p:nvSpPr>
        <p:spPr>
          <a:xfrm>
            <a:off x="1244600" y="37719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input-items-text-2">
            <a:extLst>
              <a:ext uri="{FF2B5EF4-FFF2-40B4-BE49-F238E27FC236}">
                <a16:creationId xmlns:a16="http://schemas.microsoft.com/office/drawing/2014/main" id="{7C8E8A6A-6F20-FD56-8072-FC68D5B31FDE}"/>
              </a:ext>
            </a:extLst>
          </p:cNvPr>
          <p:cNvSpPr txBox="1"/>
          <p:nvPr/>
        </p:nvSpPr>
        <p:spPr>
          <a:xfrm>
            <a:off x="1422400" y="3670299"/>
            <a:ext cx="1955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官方声明</a:t>
            </a:r>
          </a:p>
        </p:txBody>
      </p:sp>
      <p:sp>
        <p:nvSpPr>
          <p:cNvPr id="21" name="input-items-dot-3">
            <a:extLst>
              <a:ext uri="{FF2B5EF4-FFF2-40B4-BE49-F238E27FC236}">
                <a16:creationId xmlns:a16="http://schemas.microsoft.com/office/drawing/2014/main" id="{0CECA1D0-C908-450D-72CC-6819B0908668}"/>
              </a:ext>
            </a:extLst>
          </p:cNvPr>
          <p:cNvSpPr/>
          <p:nvPr/>
        </p:nvSpPr>
        <p:spPr>
          <a:xfrm>
            <a:off x="1244600" y="41529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input-items-text-3">
            <a:extLst>
              <a:ext uri="{FF2B5EF4-FFF2-40B4-BE49-F238E27FC236}">
                <a16:creationId xmlns:a16="http://schemas.microsoft.com/office/drawing/2014/main" id="{3A0446DE-9C59-B2BA-DE3B-0D3831FF7954}"/>
              </a:ext>
            </a:extLst>
          </p:cNvPr>
          <p:cNvSpPr txBox="1"/>
          <p:nvPr/>
        </p:nvSpPr>
        <p:spPr>
          <a:xfrm>
            <a:off x="1422400" y="4051299"/>
            <a:ext cx="1955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个人评论历史</a:t>
            </a:r>
          </a:p>
        </p:txBody>
      </p:sp>
      <p:sp>
        <p:nvSpPr>
          <p:cNvPr id="23" name="input-items-dot-4">
            <a:extLst>
              <a:ext uri="{FF2B5EF4-FFF2-40B4-BE49-F238E27FC236}">
                <a16:creationId xmlns:a16="http://schemas.microsoft.com/office/drawing/2014/main" id="{29B1576A-347C-397F-D2F0-7D329AF69981}"/>
              </a:ext>
            </a:extLst>
          </p:cNvPr>
          <p:cNvSpPr/>
          <p:nvPr/>
        </p:nvSpPr>
        <p:spPr>
          <a:xfrm>
            <a:off x="1244600" y="45339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input-items-text-4">
            <a:extLst>
              <a:ext uri="{FF2B5EF4-FFF2-40B4-BE49-F238E27FC236}">
                <a16:creationId xmlns:a16="http://schemas.microsoft.com/office/drawing/2014/main" id="{3C73E418-016B-1CE9-EEE4-EB796641DD77}"/>
              </a:ext>
            </a:extLst>
          </p:cNvPr>
          <p:cNvSpPr txBox="1"/>
          <p:nvPr/>
        </p:nvSpPr>
        <p:spPr>
          <a:xfrm>
            <a:off x="1422400" y="4432299"/>
            <a:ext cx="1955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最近状态</a:t>
            </a:r>
          </a:p>
        </p:txBody>
      </p:sp>
      <p:sp>
        <p:nvSpPr>
          <p:cNvPr id="25" name="cognition-ring">
            <a:extLst>
              <a:ext uri="{FF2B5EF4-FFF2-40B4-BE49-F238E27FC236}">
                <a16:creationId xmlns:a16="http://schemas.microsoft.com/office/drawing/2014/main" id="{DCC918FE-2B21-7D5A-3045-D7F67973EC68}"/>
              </a:ext>
            </a:extLst>
          </p:cNvPr>
          <p:cNvSpPr/>
          <p:nvPr/>
        </p:nvSpPr>
        <p:spPr>
          <a:xfrm>
            <a:off x="4597400" y="2501900"/>
            <a:ext cx="2159000" cy="2159000"/>
          </a:xfrm>
          <a:prstGeom prst="ellipse">
            <a:avLst/>
          </a:prstGeom>
          <a:solidFill>
            <a:srgbClr val="E7F6F3"/>
          </a:solidFill>
          <a:ln w="2540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cognition-title">
            <a:extLst>
              <a:ext uri="{FF2B5EF4-FFF2-40B4-BE49-F238E27FC236}">
                <a16:creationId xmlns:a16="http://schemas.microsoft.com/office/drawing/2014/main" id="{C972C5BD-A10B-C3F5-D483-FF4E8298CA1F}"/>
              </a:ext>
            </a:extLst>
          </p:cNvPr>
          <p:cNvSpPr txBox="1"/>
          <p:nvPr/>
        </p:nvSpPr>
        <p:spPr>
          <a:xfrm>
            <a:off x="4876800" y="3340099"/>
            <a:ext cx="16002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167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</a:t>
            </a:r>
            <a:r>
              <a:rPr lang="zh-CN" altLang="en-US" sz="1700" b="1">
                <a:solidFill>
                  <a:srgbClr val="167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认知判断</a:t>
            </a:r>
          </a:p>
        </p:txBody>
      </p:sp>
      <p:sp>
        <p:nvSpPr>
          <p:cNvPr id="29" name="cognition-items">
            <a:extLst>
              <a:ext uri="{FF2B5EF4-FFF2-40B4-BE49-F238E27FC236}">
                <a16:creationId xmlns:a16="http://schemas.microsoft.com/office/drawing/2014/main" id="{675E96A0-019C-1AA8-37B3-5246E98A1001}"/>
              </a:ext>
            </a:extLst>
          </p:cNvPr>
          <p:cNvSpPr txBox="1"/>
          <p:nvPr/>
        </p:nvSpPr>
        <p:spPr>
          <a:xfrm>
            <a:off x="4991100" y="3771899"/>
            <a:ext cx="13716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00">
                <a:solidFill>
                  <a:srgbClr val="4A6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当前情绪
对官方态度
是否评论
评论派系</a:t>
            </a:r>
          </a:p>
        </p:txBody>
      </p:sp>
      <p:sp>
        <p:nvSpPr>
          <p:cNvPr id="30" name="expression-card">
            <a:extLst>
              <a:ext uri="{FF2B5EF4-FFF2-40B4-BE49-F238E27FC236}">
                <a16:creationId xmlns:a16="http://schemas.microsoft.com/office/drawing/2014/main" id="{BC28E2BF-8D9E-CE48-2735-8E5D24B86BF8}"/>
              </a:ext>
            </a:extLst>
          </p:cNvPr>
          <p:cNvSpPr/>
          <p:nvPr/>
        </p:nvSpPr>
        <p:spPr>
          <a:xfrm>
            <a:off x="7289800" y="1917700"/>
            <a:ext cx="22098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9D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expression-title">
            <a:extLst>
              <a:ext uri="{FF2B5EF4-FFF2-40B4-BE49-F238E27FC236}">
                <a16:creationId xmlns:a16="http://schemas.microsoft.com/office/drawing/2014/main" id="{8AE49BDB-7BB3-7806-C4BE-F5EBCFD7358E}"/>
              </a:ext>
            </a:extLst>
          </p:cNvPr>
          <p:cNvSpPr txBox="1"/>
          <p:nvPr/>
        </p:nvSpPr>
        <p:spPr>
          <a:xfrm>
            <a:off x="7632700" y="2141443"/>
            <a:ext cx="12065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受约束表达</a:t>
            </a:r>
          </a:p>
        </p:txBody>
      </p:sp>
      <p:sp>
        <p:nvSpPr>
          <p:cNvPr id="34" name="rule-dot-0">
            <a:extLst>
              <a:ext uri="{FF2B5EF4-FFF2-40B4-BE49-F238E27FC236}">
                <a16:creationId xmlns:a16="http://schemas.microsoft.com/office/drawing/2014/main" id="{7498EFAB-898B-33C3-7C72-E8300943381C}"/>
              </a:ext>
            </a:extLst>
          </p:cNvPr>
          <p:cNvSpPr/>
          <p:nvPr/>
        </p:nvSpPr>
        <p:spPr>
          <a:xfrm>
            <a:off x="7518400" y="2870200"/>
            <a:ext cx="228600" cy="228600"/>
          </a:xfrm>
          <a:prstGeom prst="ellipse">
            <a:avLst/>
          </a:prstGeom>
          <a:solidFill>
            <a:srgbClr val="E6F6F7"/>
          </a:solidFill>
          <a:ln w="1270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rule-no-0">
            <a:extLst>
              <a:ext uri="{FF2B5EF4-FFF2-40B4-BE49-F238E27FC236}">
                <a16:creationId xmlns:a16="http://schemas.microsoft.com/office/drawing/2014/main" id="{0CDCBB30-1A80-3BF5-53EA-372858086D2E}"/>
              </a:ext>
            </a:extLst>
          </p:cNvPr>
          <p:cNvSpPr txBox="1"/>
          <p:nvPr/>
        </p:nvSpPr>
        <p:spPr>
          <a:xfrm>
            <a:off x="7518400" y="2895600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128E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950" b="1">
              <a:solidFill>
                <a:srgbClr val="128E9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rule-text-0">
            <a:extLst>
              <a:ext uri="{FF2B5EF4-FFF2-40B4-BE49-F238E27FC236}">
                <a16:creationId xmlns:a16="http://schemas.microsoft.com/office/drawing/2014/main" id="{0D9D8266-1BFB-F1F3-B18C-01E456D694CE}"/>
              </a:ext>
            </a:extLst>
          </p:cNvPr>
          <p:cNvSpPr txBox="1"/>
          <p:nvPr/>
        </p:nvSpPr>
        <p:spPr>
          <a:xfrm>
            <a:off x="7848600" y="2819399"/>
            <a:ext cx="1447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态度与立场匹配</a:t>
            </a:r>
          </a:p>
        </p:txBody>
      </p:sp>
      <p:sp>
        <p:nvSpPr>
          <p:cNvPr id="37" name="rule-dot-1">
            <a:extLst>
              <a:ext uri="{FF2B5EF4-FFF2-40B4-BE49-F238E27FC236}">
                <a16:creationId xmlns:a16="http://schemas.microsoft.com/office/drawing/2014/main" id="{61BFD704-B15B-EC9F-DCDF-AB97729568F9}"/>
              </a:ext>
            </a:extLst>
          </p:cNvPr>
          <p:cNvSpPr/>
          <p:nvPr/>
        </p:nvSpPr>
        <p:spPr>
          <a:xfrm>
            <a:off x="7518400" y="3365500"/>
            <a:ext cx="228600" cy="228600"/>
          </a:xfrm>
          <a:prstGeom prst="ellipse">
            <a:avLst/>
          </a:prstGeom>
          <a:solidFill>
            <a:srgbClr val="E6F6F7"/>
          </a:solidFill>
          <a:ln w="1270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ule-no-1">
            <a:extLst>
              <a:ext uri="{FF2B5EF4-FFF2-40B4-BE49-F238E27FC236}">
                <a16:creationId xmlns:a16="http://schemas.microsoft.com/office/drawing/2014/main" id="{CA7D7BC8-37E1-E3E8-76D2-639D0B22BFEB}"/>
              </a:ext>
            </a:extLst>
          </p:cNvPr>
          <p:cNvSpPr txBox="1"/>
          <p:nvPr/>
        </p:nvSpPr>
        <p:spPr>
          <a:xfrm>
            <a:off x="7518400" y="3390900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128E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950" b="1">
              <a:solidFill>
                <a:srgbClr val="128E9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rule-text-1">
            <a:extLst>
              <a:ext uri="{FF2B5EF4-FFF2-40B4-BE49-F238E27FC236}">
                <a16:creationId xmlns:a16="http://schemas.microsoft.com/office/drawing/2014/main" id="{391B8961-758E-8880-D0D2-6AEC764C5AFA}"/>
              </a:ext>
            </a:extLst>
          </p:cNvPr>
          <p:cNvSpPr txBox="1"/>
          <p:nvPr/>
        </p:nvSpPr>
        <p:spPr>
          <a:xfrm>
            <a:off x="7848600" y="3314699"/>
            <a:ext cx="1447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排除个人历史重复</a:t>
            </a:r>
          </a:p>
        </p:txBody>
      </p:sp>
      <p:sp>
        <p:nvSpPr>
          <p:cNvPr id="40" name="rule-dot-2">
            <a:extLst>
              <a:ext uri="{FF2B5EF4-FFF2-40B4-BE49-F238E27FC236}">
                <a16:creationId xmlns:a16="http://schemas.microsoft.com/office/drawing/2014/main" id="{CF8A7076-2A55-8B08-8AB5-315863D3BF14}"/>
              </a:ext>
            </a:extLst>
          </p:cNvPr>
          <p:cNvSpPr/>
          <p:nvPr/>
        </p:nvSpPr>
        <p:spPr>
          <a:xfrm>
            <a:off x="7518400" y="3860800"/>
            <a:ext cx="228600" cy="228600"/>
          </a:xfrm>
          <a:prstGeom prst="ellipse">
            <a:avLst/>
          </a:prstGeom>
          <a:solidFill>
            <a:srgbClr val="E6F6F7"/>
          </a:solidFill>
          <a:ln w="1270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rule-no-2">
            <a:extLst>
              <a:ext uri="{FF2B5EF4-FFF2-40B4-BE49-F238E27FC236}">
                <a16:creationId xmlns:a16="http://schemas.microsoft.com/office/drawing/2014/main" id="{35926E96-5E5E-6896-6077-0C1977D5EE85}"/>
              </a:ext>
            </a:extLst>
          </p:cNvPr>
          <p:cNvSpPr txBox="1"/>
          <p:nvPr/>
        </p:nvSpPr>
        <p:spPr>
          <a:xfrm>
            <a:off x="7518400" y="3886200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128E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950" b="1">
              <a:solidFill>
                <a:srgbClr val="128E9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rule-text-2">
            <a:extLst>
              <a:ext uri="{FF2B5EF4-FFF2-40B4-BE49-F238E27FC236}">
                <a16:creationId xmlns:a16="http://schemas.microsoft.com/office/drawing/2014/main" id="{B0A86BB4-F5B3-0017-F879-9726765CA6F7}"/>
              </a:ext>
            </a:extLst>
          </p:cNvPr>
          <p:cNvSpPr txBox="1"/>
          <p:nvPr/>
        </p:nvSpPr>
        <p:spPr>
          <a:xfrm>
            <a:off x="7848600" y="3809999"/>
            <a:ext cx="1447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2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主题</a:t>
            </a:r>
            <a:r>
              <a:rPr lang="en-US" altLang="zh-CN" sz="12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lang="zh-CN" altLang="en-US" sz="12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情绪</a:t>
            </a:r>
            <a:r>
              <a:rPr lang="en-US" altLang="zh-CN" sz="12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lang="zh-CN" altLang="en-US" sz="12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派系</a:t>
            </a:r>
            <a:r>
              <a:rPr lang="en-US" altLang="zh-CN" sz="12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lang="zh-CN" altLang="en-US" sz="12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取向评分</a:t>
            </a:r>
          </a:p>
        </p:txBody>
      </p:sp>
      <p:sp>
        <p:nvSpPr>
          <p:cNvPr id="43" name="rule-dot-3">
            <a:extLst>
              <a:ext uri="{FF2B5EF4-FFF2-40B4-BE49-F238E27FC236}">
                <a16:creationId xmlns:a16="http://schemas.microsoft.com/office/drawing/2014/main" id="{AF0DF2B3-A5CB-27AC-D3B3-83433BCC81FA}"/>
              </a:ext>
            </a:extLst>
          </p:cNvPr>
          <p:cNvSpPr/>
          <p:nvPr/>
        </p:nvSpPr>
        <p:spPr>
          <a:xfrm>
            <a:off x="7518400" y="4356100"/>
            <a:ext cx="228600" cy="228600"/>
          </a:xfrm>
          <a:prstGeom prst="ellipse">
            <a:avLst/>
          </a:prstGeom>
          <a:solidFill>
            <a:srgbClr val="E6F6F7"/>
          </a:solidFill>
          <a:ln w="1270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rule-no-3">
            <a:extLst>
              <a:ext uri="{FF2B5EF4-FFF2-40B4-BE49-F238E27FC236}">
                <a16:creationId xmlns:a16="http://schemas.microsoft.com/office/drawing/2014/main" id="{36A67423-99AA-3963-A15B-C26ABAE00B6C}"/>
              </a:ext>
            </a:extLst>
          </p:cNvPr>
          <p:cNvSpPr txBox="1"/>
          <p:nvPr/>
        </p:nvSpPr>
        <p:spPr>
          <a:xfrm>
            <a:off x="7518400" y="4381500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50" b="1">
                <a:solidFill>
                  <a:srgbClr val="128E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950" b="1">
              <a:solidFill>
                <a:srgbClr val="128E9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rule-text-3">
            <a:extLst>
              <a:ext uri="{FF2B5EF4-FFF2-40B4-BE49-F238E27FC236}">
                <a16:creationId xmlns:a16="http://schemas.microsoft.com/office/drawing/2014/main" id="{6DB0EE6E-B236-139D-FDEF-101851AC1360}"/>
              </a:ext>
            </a:extLst>
          </p:cNvPr>
          <p:cNvSpPr txBox="1"/>
          <p:nvPr/>
        </p:nvSpPr>
        <p:spPr>
          <a:xfrm>
            <a:off x="7848600" y="4305299"/>
            <a:ext cx="1447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Top3</a:t>
            </a:r>
            <a:r>
              <a:rPr lang="zh-CN" altLang="en-US" sz="12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固定种子选择</a:t>
            </a:r>
          </a:p>
        </p:txBody>
      </p:sp>
      <p:sp>
        <p:nvSpPr>
          <p:cNvPr id="46" name="output-card">
            <a:extLst>
              <a:ext uri="{FF2B5EF4-FFF2-40B4-BE49-F238E27FC236}">
                <a16:creationId xmlns:a16="http://schemas.microsoft.com/office/drawing/2014/main" id="{8B6E581B-AB84-B3BC-5B2D-8E2F4CBB8283}"/>
              </a:ext>
            </a:extLst>
          </p:cNvPr>
          <p:cNvSpPr/>
          <p:nvPr/>
        </p:nvSpPr>
        <p:spPr>
          <a:xfrm>
            <a:off x="9906000" y="2387600"/>
            <a:ext cx="1320800" cy="2387600"/>
          </a:xfrm>
          <a:prstGeom prst="roundRect">
            <a:avLst/>
          </a:prstGeom>
          <a:solidFill>
            <a:srgbClr val="FFF7EE"/>
          </a:solidFill>
          <a:ln w="12700">
            <a:solidFill>
              <a:srgbClr val="F4C4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output-title">
            <a:extLst>
              <a:ext uri="{FF2B5EF4-FFF2-40B4-BE49-F238E27FC236}">
                <a16:creationId xmlns:a16="http://schemas.microsoft.com/office/drawing/2014/main" id="{3C94563C-658C-B280-BE5B-3899C1C1B732}"/>
              </a:ext>
            </a:extLst>
          </p:cNvPr>
          <p:cNvSpPr txBox="1"/>
          <p:nvPr/>
        </p:nvSpPr>
        <p:spPr>
          <a:xfrm>
            <a:off x="10033000" y="2603499"/>
            <a:ext cx="10668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500" b="1">
                <a:solidFill>
                  <a:srgbClr val="8A440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输出并留痕</a:t>
            </a:r>
          </a:p>
        </p:txBody>
      </p:sp>
      <p:sp>
        <p:nvSpPr>
          <p:cNvPr id="48" name="output-items">
            <a:extLst>
              <a:ext uri="{FF2B5EF4-FFF2-40B4-BE49-F238E27FC236}">
                <a16:creationId xmlns:a16="http://schemas.microsoft.com/office/drawing/2014/main" id="{F369A3A9-974D-DD29-77AB-AD23D70ACC51}"/>
              </a:ext>
            </a:extLst>
          </p:cNvPr>
          <p:cNvSpPr txBox="1"/>
          <p:nvPr/>
        </p:nvSpPr>
        <p:spPr>
          <a:xfrm>
            <a:off x="10058400" y="3276599"/>
            <a:ext cx="1016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3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最终评论
</a:t>
            </a:r>
            <a:r>
              <a:rPr lang="en-US" altLang="zh-CN" sz="123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23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新状态
个人评论历史</a:t>
            </a:r>
          </a:p>
        </p:txBody>
      </p:sp>
      <p:sp>
        <p:nvSpPr>
          <p:cNvPr id="49" name="takeaway-box">
            <a:extLst>
              <a:ext uri="{FF2B5EF4-FFF2-40B4-BE49-F238E27FC236}">
                <a16:creationId xmlns:a16="http://schemas.microsoft.com/office/drawing/2014/main" id="{3DCFD531-48DC-E3D8-7C90-1E3AA6D27B12}"/>
              </a:ext>
            </a:extLst>
          </p:cNvPr>
          <p:cNvSpPr/>
          <p:nvPr/>
        </p:nvSpPr>
        <p:spPr>
          <a:xfrm>
            <a:off x="2159000" y="6045200"/>
            <a:ext cx="7874000" cy="558800"/>
          </a:xfrm>
          <a:prstGeom prst="roundRect">
            <a:avLst/>
          </a:prstGeom>
          <a:solidFill>
            <a:srgbClr val="EAF7F5"/>
          </a:solidFill>
          <a:ln w="12700">
            <a:solidFill>
              <a:srgbClr val="A9D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takeaway-marker">
            <a:extLst>
              <a:ext uri="{FF2B5EF4-FFF2-40B4-BE49-F238E27FC236}">
                <a16:creationId xmlns:a16="http://schemas.microsoft.com/office/drawing/2014/main" id="{D1413791-BE97-2545-4FC2-0687F2EBDBDB}"/>
              </a:ext>
            </a:extLst>
          </p:cNvPr>
          <p:cNvSpPr/>
          <p:nvPr/>
        </p:nvSpPr>
        <p:spPr>
          <a:xfrm>
            <a:off x="2387600" y="6159500"/>
            <a:ext cx="965200" cy="330200"/>
          </a:xfrm>
          <a:prstGeom prst="roundRect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takeaway-label">
            <a:extLst>
              <a:ext uri="{FF2B5EF4-FFF2-40B4-BE49-F238E27FC236}">
                <a16:creationId xmlns:a16="http://schemas.microsoft.com/office/drawing/2014/main" id="{837DAB89-0C93-BD13-EA4D-1C0A2577DF29}"/>
              </a:ext>
            </a:extLst>
          </p:cNvPr>
          <p:cNvSpPr txBox="1"/>
          <p:nvPr/>
        </p:nvSpPr>
        <p:spPr>
          <a:xfrm>
            <a:off x="2387600" y="6210300"/>
            <a:ext cx="96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关键结论</a:t>
            </a:r>
          </a:p>
        </p:txBody>
      </p:sp>
      <p:sp>
        <p:nvSpPr>
          <p:cNvPr id="52" name="takeaway-text">
            <a:extLst>
              <a:ext uri="{FF2B5EF4-FFF2-40B4-BE49-F238E27FC236}">
                <a16:creationId xmlns:a16="http://schemas.microsoft.com/office/drawing/2014/main" id="{949298CC-9530-9BFC-56EA-4EC1E9F87365}"/>
              </a:ext>
            </a:extLst>
          </p:cNvPr>
          <p:cNvSpPr txBox="1"/>
          <p:nvPr/>
        </p:nvSpPr>
        <p:spPr>
          <a:xfrm>
            <a:off x="3556000" y="6146799"/>
            <a:ext cx="6223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6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</a:t>
            </a:r>
            <a:r>
              <a:rPr lang="zh-CN" altLang="en-US" sz="16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负责形成认知，规则负责约束行为并保证结果可复现</a:t>
            </a:r>
          </a:p>
        </p:txBody>
      </p:sp>
      <p:pic>
        <p:nvPicPr>
          <p:cNvPr id="3" name="simulation-icon-2">
            <a:extLst>
              <a:ext uri="{FF2B5EF4-FFF2-40B4-BE49-F238E27FC236}">
                <a16:creationId xmlns:a16="http://schemas.microsoft.com/office/drawing/2014/main" id="{AD3169AE-A5DC-9A84-B2B8-8C7EC22C19DA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0" y="2679699"/>
            <a:ext cx="5715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7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79F78-F799-2748-B214-18FDA7D02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10C1864E-6BBA-14E2-FAC6-FFD91A0396FA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00A794F0-7169-0279-A108-87198DBA3B2F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22EB6988-5A70-646F-B073-331EF6AFA2C7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占位符 43">
            <a:extLst>
              <a:ext uri="{FF2B5EF4-FFF2-40B4-BE49-F238E27FC236}">
                <a16:creationId xmlns:a16="http://schemas.microsoft.com/office/drawing/2014/main" id="{83B5598F-DF62-98F1-767F-E2548A86FF2A}"/>
              </a:ext>
            </a:extLst>
          </p:cNvPr>
          <p:cNvSpPr txBox="1"/>
          <p:nvPr/>
        </p:nvSpPr>
        <p:spPr>
          <a:xfrm>
            <a:off x="399891" y="349328"/>
            <a:ext cx="7096936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关键技术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动态进场</a:t>
            </a:r>
            <a:r>
              <a:rPr lang="en-US" altLang="zh-CN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何时触发官方回应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930DC7C7-A91D-DC6C-5F12-2F524373351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7FF8E40-D96C-7CC6-F80B-51C3C4A29FB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4" name="headline">
            <a:extLst>
              <a:ext uri="{FF2B5EF4-FFF2-40B4-BE49-F238E27FC236}">
                <a16:creationId xmlns:a16="http://schemas.microsoft.com/office/drawing/2014/main" id="{224F25EA-B448-8146-FE17-B00E7C875A4D}"/>
              </a:ext>
            </a:extLst>
          </p:cNvPr>
          <p:cNvSpPr txBox="1"/>
          <p:nvPr/>
        </p:nvSpPr>
        <p:spPr>
          <a:xfrm>
            <a:off x="2159000" y="1219200"/>
            <a:ext cx="6858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7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官方不按固定轮次出现，而由舆情状态决定下一轮进场</a:t>
            </a:r>
          </a:p>
        </p:txBody>
      </p:sp>
      <p:cxnSp>
        <p:nvCxnSpPr>
          <p:cNvPr id="5" name="timeline-1">
            <a:extLst>
              <a:ext uri="{FF2B5EF4-FFF2-40B4-BE49-F238E27FC236}">
                <a16:creationId xmlns:a16="http://schemas.microsoft.com/office/drawing/2014/main" id="{87CFBC5C-7826-31DB-2C9A-14E3B7CAB673}"/>
              </a:ext>
            </a:extLst>
          </p:cNvPr>
          <p:cNvCxnSpPr/>
          <p:nvPr/>
        </p:nvCxnSpPr>
        <p:spPr>
          <a:xfrm>
            <a:off x="2616200" y="2235200"/>
            <a:ext cx="20193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imeline-2">
            <a:extLst>
              <a:ext uri="{FF2B5EF4-FFF2-40B4-BE49-F238E27FC236}">
                <a16:creationId xmlns:a16="http://schemas.microsoft.com/office/drawing/2014/main" id="{4E96C3F3-4940-D223-3A91-D4AB61F4C117}"/>
              </a:ext>
            </a:extLst>
          </p:cNvPr>
          <p:cNvCxnSpPr>
            <a:cxnSpLocks/>
          </p:cNvCxnSpPr>
          <p:nvPr/>
        </p:nvCxnSpPr>
        <p:spPr>
          <a:xfrm>
            <a:off x="6108103" y="2235200"/>
            <a:ext cx="2667597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meline-node-1">
            <a:extLst>
              <a:ext uri="{FF2B5EF4-FFF2-40B4-BE49-F238E27FC236}">
                <a16:creationId xmlns:a16="http://schemas.microsoft.com/office/drawing/2014/main" id="{9CC02E36-7481-632D-0B27-66F74A2B5860}"/>
              </a:ext>
            </a:extLst>
          </p:cNvPr>
          <p:cNvSpPr/>
          <p:nvPr/>
        </p:nvSpPr>
        <p:spPr>
          <a:xfrm>
            <a:off x="1651000" y="1828800"/>
            <a:ext cx="812800" cy="812800"/>
          </a:xfrm>
          <a:prstGeom prst="ellipse">
            <a:avLst/>
          </a:prstGeom>
          <a:solidFill>
            <a:srgbClr val="EAF2FC"/>
          </a:solidFill>
          <a:ln w="2032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imeline-node-1-icon">
            <a:extLst>
              <a:ext uri="{FF2B5EF4-FFF2-40B4-BE49-F238E27FC236}">
                <a16:creationId xmlns:a16="http://schemas.microsoft.com/office/drawing/2014/main" id="{E0E24D3F-5DAC-37AD-B694-37F5BC9E3892}"/>
              </a:ext>
            </a:extLst>
          </p:cNvPr>
          <p:cNvSpPr txBox="1"/>
          <p:nvPr/>
        </p:nvSpPr>
        <p:spPr>
          <a:xfrm>
            <a:off x="1651000" y="2044699"/>
            <a:ext cx="812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2D70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</a:t>
            </a:r>
          </a:p>
        </p:txBody>
      </p:sp>
      <p:sp>
        <p:nvSpPr>
          <p:cNvPr id="11" name="timeline-label-1">
            <a:extLst>
              <a:ext uri="{FF2B5EF4-FFF2-40B4-BE49-F238E27FC236}">
                <a16:creationId xmlns:a16="http://schemas.microsoft.com/office/drawing/2014/main" id="{C442D216-3156-CEC5-55D6-C8865338D4C8}"/>
              </a:ext>
            </a:extLst>
          </p:cNvPr>
          <p:cNvSpPr txBox="1"/>
          <p:nvPr/>
        </p:nvSpPr>
        <p:spPr>
          <a:xfrm>
            <a:off x="1155700" y="2705099"/>
            <a:ext cx="1803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4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进场前共享演化</a:t>
            </a:r>
          </a:p>
        </p:txBody>
      </p:sp>
      <p:sp>
        <p:nvSpPr>
          <p:cNvPr id="12" name="timeline-node-2">
            <a:extLst>
              <a:ext uri="{FF2B5EF4-FFF2-40B4-BE49-F238E27FC236}">
                <a16:creationId xmlns:a16="http://schemas.microsoft.com/office/drawing/2014/main" id="{918B7E7A-F264-95D1-07D5-3EFB2B570269}"/>
              </a:ext>
            </a:extLst>
          </p:cNvPr>
          <p:cNvSpPr/>
          <p:nvPr/>
        </p:nvSpPr>
        <p:spPr>
          <a:xfrm>
            <a:off x="4864100" y="1828800"/>
            <a:ext cx="812800" cy="812800"/>
          </a:xfrm>
          <a:prstGeom prst="ellipse">
            <a:avLst/>
          </a:prstGeom>
          <a:solidFill>
            <a:srgbClr val="E7F6F3"/>
          </a:solidFill>
          <a:ln w="2032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imeline-node-2-icon">
            <a:extLst>
              <a:ext uri="{FF2B5EF4-FFF2-40B4-BE49-F238E27FC236}">
                <a16:creationId xmlns:a16="http://schemas.microsoft.com/office/drawing/2014/main" id="{8928FDE9-C5B8-B14E-CA42-649D22447083}"/>
              </a:ext>
            </a:extLst>
          </p:cNvPr>
          <p:cNvSpPr txBox="1"/>
          <p:nvPr/>
        </p:nvSpPr>
        <p:spPr>
          <a:xfrm>
            <a:off x="4864100" y="2044699"/>
            <a:ext cx="812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24A5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</a:t>
            </a:r>
          </a:p>
        </p:txBody>
      </p:sp>
      <p:sp>
        <p:nvSpPr>
          <p:cNvPr id="14" name="timeline-label-2">
            <a:extLst>
              <a:ext uri="{FF2B5EF4-FFF2-40B4-BE49-F238E27FC236}">
                <a16:creationId xmlns:a16="http://schemas.microsoft.com/office/drawing/2014/main" id="{3EA379D2-965C-F016-F04B-C163A0D3084F}"/>
              </a:ext>
            </a:extLst>
          </p:cNvPr>
          <p:cNvSpPr txBox="1"/>
          <p:nvPr/>
        </p:nvSpPr>
        <p:spPr>
          <a:xfrm>
            <a:off x="4368800" y="2705099"/>
            <a:ext cx="1803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4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完成本轮决策与指标</a:t>
            </a:r>
          </a:p>
        </p:txBody>
      </p:sp>
      <p:sp>
        <p:nvSpPr>
          <p:cNvPr id="15" name="timeline-node-3">
            <a:extLst>
              <a:ext uri="{FF2B5EF4-FFF2-40B4-BE49-F238E27FC236}">
                <a16:creationId xmlns:a16="http://schemas.microsoft.com/office/drawing/2014/main" id="{01D85339-E90B-C0A8-3F02-B745169B86BF}"/>
              </a:ext>
            </a:extLst>
          </p:cNvPr>
          <p:cNvSpPr/>
          <p:nvPr/>
        </p:nvSpPr>
        <p:spPr>
          <a:xfrm>
            <a:off x="9004300" y="1828800"/>
            <a:ext cx="812800" cy="812800"/>
          </a:xfrm>
          <a:prstGeom prst="ellipse">
            <a:avLst/>
          </a:prstGeom>
          <a:solidFill>
            <a:srgbClr val="FFF1E2"/>
          </a:solidFill>
          <a:ln w="2032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imeline-node-3-icon">
            <a:extLst>
              <a:ext uri="{FF2B5EF4-FFF2-40B4-BE49-F238E27FC236}">
                <a16:creationId xmlns:a16="http://schemas.microsoft.com/office/drawing/2014/main" id="{007DDE6D-789B-B859-2324-3E6A0204812F}"/>
              </a:ext>
            </a:extLst>
          </p:cNvPr>
          <p:cNvSpPr txBox="1"/>
          <p:nvPr/>
        </p:nvSpPr>
        <p:spPr>
          <a:xfrm>
            <a:off x="9004300" y="2044699"/>
            <a:ext cx="812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b="1">
                <a:solidFill>
                  <a:srgbClr val="F28A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</a:t>
            </a:r>
          </a:p>
        </p:txBody>
      </p:sp>
      <p:sp>
        <p:nvSpPr>
          <p:cNvPr id="17" name="timeline-label-3">
            <a:extLst>
              <a:ext uri="{FF2B5EF4-FFF2-40B4-BE49-F238E27FC236}">
                <a16:creationId xmlns:a16="http://schemas.microsoft.com/office/drawing/2014/main" id="{1FFA56E7-0ACD-11E3-0B93-E11D988D4693}"/>
              </a:ext>
            </a:extLst>
          </p:cNvPr>
          <p:cNvSpPr txBox="1"/>
          <p:nvPr/>
        </p:nvSpPr>
        <p:spPr>
          <a:xfrm>
            <a:off x="8496300" y="2705099"/>
            <a:ext cx="1854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450" b="1">
                <a:solidFill>
                  <a:srgbClr val="8A440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下一轮发布一次声明</a:t>
            </a:r>
          </a:p>
        </p:txBody>
      </p:sp>
      <p:sp>
        <p:nvSpPr>
          <p:cNvPr id="18" name="judge-label">
            <a:extLst>
              <a:ext uri="{FF2B5EF4-FFF2-40B4-BE49-F238E27FC236}">
                <a16:creationId xmlns:a16="http://schemas.microsoft.com/office/drawing/2014/main" id="{AC6A3A2B-A96D-EF18-0ECC-9CB410262B41}"/>
              </a:ext>
            </a:extLst>
          </p:cNvPr>
          <p:cNvSpPr txBox="1"/>
          <p:nvPr/>
        </p:nvSpPr>
        <p:spPr>
          <a:xfrm>
            <a:off x="6413500" y="1917699"/>
            <a:ext cx="2235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统一判断下一轮是否进场</a:t>
            </a:r>
          </a:p>
        </p:txBody>
      </p:sp>
      <p:sp>
        <p:nvSpPr>
          <p:cNvPr id="19" name="trigger-card-0">
            <a:extLst>
              <a:ext uri="{FF2B5EF4-FFF2-40B4-BE49-F238E27FC236}">
                <a16:creationId xmlns:a16="http://schemas.microsoft.com/office/drawing/2014/main" id="{176656DF-E390-E3EA-BF40-39897B0964AD}"/>
              </a:ext>
            </a:extLst>
          </p:cNvPr>
          <p:cNvSpPr/>
          <p:nvPr/>
        </p:nvSpPr>
        <p:spPr>
          <a:xfrm>
            <a:off x="1333500" y="3429000"/>
            <a:ext cx="2743200" cy="11557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rigger-title-0">
            <a:extLst>
              <a:ext uri="{FF2B5EF4-FFF2-40B4-BE49-F238E27FC236}">
                <a16:creationId xmlns:a16="http://schemas.microsoft.com/office/drawing/2014/main" id="{1840EBDE-BEED-67EE-CA96-A99B18443BBA}"/>
              </a:ext>
            </a:extLst>
          </p:cNvPr>
          <p:cNvSpPr txBox="1"/>
          <p:nvPr/>
        </p:nvSpPr>
        <p:spPr>
          <a:xfrm>
            <a:off x="2171700" y="3670299"/>
            <a:ext cx="16764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2D70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负面阈值</a:t>
            </a:r>
          </a:p>
        </p:txBody>
      </p:sp>
      <p:sp>
        <p:nvSpPr>
          <p:cNvPr id="23" name="trigger-body-0">
            <a:extLst>
              <a:ext uri="{FF2B5EF4-FFF2-40B4-BE49-F238E27FC236}">
                <a16:creationId xmlns:a16="http://schemas.microsoft.com/office/drawing/2014/main" id="{061C3C2E-D2AF-D4B5-1F55-E1A3D88D6E0D}"/>
              </a:ext>
            </a:extLst>
          </p:cNvPr>
          <p:cNvSpPr txBox="1"/>
          <p:nvPr/>
        </p:nvSpPr>
        <p:spPr>
          <a:xfrm>
            <a:off x="1587500" y="4178299"/>
            <a:ext cx="2235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负面率 ≥ </a:t>
            </a:r>
            <a:r>
              <a:rPr lang="en-US" altLang="zh-CN" sz="13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0.5</a:t>
            </a:r>
            <a:endParaRPr lang="zh-CN" altLang="en-US" sz="1350">
              <a:solidFill>
                <a:srgbClr val="4A56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trigger-card-1">
            <a:extLst>
              <a:ext uri="{FF2B5EF4-FFF2-40B4-BE49-F238E27FC236}">
                <a16:creationId xmlns:a16="http://schemas.microsoft.com/office/drawing/2014/main" id="{CEDC3102-1DB0-9379-AD2B-332451C42772}"/>
              </a:ext>
            </a:extLst>
          </p:cNvPr>
          <p:cNvSpPr/>
          <p:nvPr/>
        </p:nvSpPr>
        <p:spPr>
          <a:xfrm>
            <a:off x="4495800" y="3429000"/>
            <a:ext cx="2743200" cy="1155700"/>
          </a:xfrm>
          <a:prstGeom prst="roundRect">
            <a:avLst/>
          </a:prstGeom>
          <a:solidFill>
            <a:srgbClr val="E7F6F3"/>
          </a:solidFill>
          <a:ln w="1270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rigger-title-1">
            <a:extLst>
              <a:ext uri="{FF2B5EF4-FFF2-40B4-BE49-F238E27FC236}">
                <a16:creationId xmlns:a16="http://schemas.microsoft.com/office/drawing/2014/main" id="{AE5BF536-1607-5047-94A5-BA589FBC119C}"/>
              </a:ext>
            </a:extLst>
          </p:cNvPr>
          <p:cNvSpPr txBox="1"/>
          <p:nvPr/>
        </p:nvSpPr>
        <p:spPr>
          <a:xfrm>
            <a:off x="5334000" y="3670299"/>
            <a:ext cx="16764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24A5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全局恶化</a:t>
            </a:r>
          </a:p>
        </p:txBody>
      </p:sp>
      <p:sp>
        <p:nvSpPr>
          <p:cNvPr id="28" name="trigger-body-1">
            <a:extLst>
              <a:ext uri="{FF2B5EF4-FFF2-40B4-BE49-F238E27FC236}">
                <a16:creationId xmlns:a16="http://schemas.microsoft.com/office/drawing/2014/main" id="{C12DF07D-F8B5-6410-B139-64958C13BD5A}"/>
              </a:ext>
            </a:extLst>
          </p:cNvPr>
          <p:cNvSpPr txBox="1"/>
          <p:nvPr/>
        </p:nvSpPr>
        <p:spPr>
          <a:xfrm>
            <a:off x="4749800" y="4178299"/>
            <a:ext cx="2235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趋势为 </a:t>
            </a:r>
            <a:r>
              <a:rPr lang="en-US" altLang="zh-CN" sz="13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worsening</a:t>
            </a:r>
            <a:endParaRPr lang="zh-CN" altLang="en-US" sz="1350">
              <a:solidFill>
                <a:srgbClr val="4A56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trigger-card-2">
            <a:extLst>
              <a:ext uri="{FF2B5EF4-FFF2-40B4-BE49-F238E27FC236}">
                <a16:creationId xmlns:a16="http://schemas.microsoft.com/office/drawing/2014/main" id="{A27E4072-547A-5AEF-5B7D-738C75B80125}"/>
              </a:ext>
            </a:extLst>
          </p:cNvPr>
          <p:cNvSpPr/>
          <p:nvPr/>
        </p:nvSpPr>
        <p:spPr>
          <a:xfrm>
            <a:off x="7658100" y="3429000"/>
            <a:ext cx="2743200" cy="1155700"/>
          </a:xfrm>
          <a:prstGeom prst="roundRect">
            <a:avLst/>
          </a:prstGeom>
          <a:solidFill>
            <a:srgbClr val="FFF1E2"/>
          </a:solidFill>
          <a:ln w="1270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rigger-title-2">
            <a:extLst>
              <a:ext uri="{FF2B5EF4-FFF2-40B4-BE49-F238E27FC236}">
                <a16:creationId xmlns:a16="http://schemas.microsoft.com/office/drawing/2014/main" id="{0F537F27-5708-FEE9-93EE-53D99E2D394D}"/>
              </a:ext>
            </a:extLst>
          </p:cNvPr>
          <p:cNvSpPr txBox="1"/>
          <p:nvPr/>
        </p:nvSpPr>
        <p:spPr>
          <a:xfrm>
            <a:off x="8496300" y="3670299"/>
            <a:ext cx="16764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F28A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连续停滞</a:t>
            </a:r>
          </a:p>
        </p:txBody>
      </p:sp>
      <p:sp>
        <p:nvSpPr>
          <p:cNvPr id="33" name="trigger-body-2">
            <a:extLst>
              <a:ext uri="{FF2B5EF4-FFF2-40B4-BE49-F238E27FC236}">
                <a16:creationId xmlns:a16="http://schemas.microsoft.com/office/drawing/2014/main" id="{2B30C3A3-4FF4-9559-44BC-47E85747306D}"/>
              </a:ext>
            </a:extLst>
          </p:cNvPr>
          <p:cNvSpPr txBox="1"/>
          <p:nvPr/>
        </p:nvSpPr>
        <p:spPr>
          <a:xfrm>
            <a:off x="7912100" y="4178299"/>
            <a:ext cx="2235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稳定且连续</a:t>
            </a:r>
            <a:r>
              <a:rPr lang="en-US" altLang="zh-CN" sz="13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3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
改善不超过</a:t>
            </a:r>
            <a:r>
              <a:rPr lang="en-US" altLang="zh-CN" sz="13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0.05</a:t>
            </a:r>
            <a:endParaRPr lang="zh-CN" altLang="en-US" sz="1350">
              <a:solidFill>
                <a:srgbClr val="4A56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combined-band">
            <a:extLst>
              <a:ext uri="{FF2B5EF4-FFF2-40B4-BE49-F238E27FC236}">
                <a16:creationId xmlns:a16="http://schemas.microsoft.com/office/drawing/2014/main" id="{41F4EAC2-B563-A816-2353-E2DC1F27CF23}"/>
              </a:ext>
            </a:extLst>
          </p:cNvPr>
          <p:cNvSpPr/>
          <p:nvPr/>
        </p:nvSpPr>
        <p:spPr>
          <a:xfrm>
            <a:off x="2959100" y="5295899"/>
            <a:ext cx="6248400" cy="4318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BD8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combined-text">
            <a:extLst>
              <a:ext uri="{FF2B5EF4-FFF2-40B4-BE49-F238E27FC236}">
                <a16:creationId xmlns:a16="http://schemas.microsoft.com/office/drawing/2014/main" id="{FD7334EB-71F3-5C94-A386-47898A9E4FB6}"/>
              </a:ext>
            </a:extLst>
          </p:cNvPr>
          <p:cNvSpPr txBox="1"/>
          <p:nvPr/>
        </p:nvSpPr>
        <p:spPr>
          <a:xfrm>
            <a:off x="3301552" y="5372099"/>
            <a:ext cx="594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combined_policy</a:t>
            </a:r>
            <a:r>
              <a:rPr lang="zh-CN" altLang="en-US" sz="14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：满足任一条件即可触发</a:t>
            </a:r>
          </a:p>
        </p:txBody>
      </p:sp>
      <p:sp>
        <p:nvSpPr>
          <p:cNvPr id="36" name="not-run-note">
            <a:extLst>
              <a:ext uri="{FF2B5EF4-FFF2-40B4-BE49-F238E27FC236}">
                <a16:creationId xmlns:a16="http://schemas.microsoft.com/office/drawing/2014/main" id="{5C68410D-E67B-ACED-1183-692A950DDEF3}"/>
              </a:ext>
            </a:extLst>
          </p:cNvPr>
          <p:cNvSpPr txBox="1"/>
          <p:nvPr/>
        </p:nvSpPr>
        <p:spPr>
          <a:xfrm>
            <a:off x="2475903" y="5702299"/>
            <a:ext cx="726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>
                <a:solidFill>
                  <a:srgbClr val="6A74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未触发进场：回应场景标记为 </a:t>
            </a:r>
            <a:r>
              <a:rPr lang="en-US" altLang="zh-CN" sz="1250">
                <a:solidFill>
                  <a:srgbClr val="6A74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not_run</a:t>
            </a:r>
            <a:r>
              <a:rPr lang="zh-CN" altLang="en-US" sz="1250">
                <a:solidFill>
                  <a:srgbClr val="6A74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，不参与策略比较</a:t>
            </a:r>
          </a:p>
        </p:txBody>
      </p:sp>
      <p:sp>
        <p:nvSpPr>
          <p:cNvPr id="37" name="takeaway-box">
            <a:extLst>
              <a:ext uri="{FF2B5EF4-FFF2-40B4-BE49-F238E27FC236}">
                <a16:creationId xmlns:a16="http://schemas.microsoft.com/office/drawing/2014/main" id="{B94893A6-E20B-3CD3-4F98-684F8826782B}"/>
              </a:ext>
            </a:extLst>
          </p:cNvPr>
          <p:cNvSpPr/>
          <p:nvPr/>
        </p:nvSpPr>
        <p:spPr>
          <a:xfrm>
            <a:off x="2159000" y="6045200"/>
            <a:ext cx="7874000" cy="5588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4C4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akeaway-marker">
            <a:extLst>
              <a:ext uri="{FF2B5EF4-FFF2-40B4-BE49-F238E27FC236}">
                <a16:creationId xmlns:a16="http://schemas.microsoft.com/office/drawing/2014/main" id="{D28341DD-57E6-EFC6-FDFF-63EB69F64032}"/>
              </a:ext>
            </a:extLst>
          </p:cNvPr>
          <p:cNvSpPr/>
          <p:nvPr/>
        </p:nvSpPr>
        <p:spPr>
          <a:xfrm>
            <a:off x="2387600" y="6159500"/>
            <a:ext cx="965200" cy="330200"/>
          </a:xfrm>
          <a:prstGeom prst="roundRect">
            <a:avLst/>
          </a:prstGeom>
          <a:solidFill>
            <a:srgbClr val="F28A2E"/>
          </a:solidFill>
          <a:ln w="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akeaway-label">
            <a:extLst>
              <a:ext uri="{FF2B5EF4-FFF2-40B4-BE49-F238E27FC236}">
                <a16:creationId xmlns:a16="http://schemas.microsoft.com/office/drawing/2014/main" id="{562B6044-229B-98E2-3963-66B2170CD3B9}"/>
              </a:ext>
            </a:extLst>
          </p:cNvPr>
          <p:cNvSpPr txBox="1"/>
          <p:nvPr/>
        </p:nvSpPr>
        <p:spPr>
          <a:xfrm>
            <a:off x="2387600" y="6210300"/>
            <a:ext cx="96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关键结论</a:t>
            </a:r>
          </a:p>
        </p:txBody>
      </p:sp>
      <p:sp>
        <p:nvSpPr>
          <p:cNvPr id="40" name="takeaway-text">
            <a:extLst>
              <a:ext uri="{FF2B5EF4-FFF2-40B4-BE49-F238E27FC236}">
                <a16:creationId xmlns:a16="http://schemas.microsoft.com/office/drawing/2014/main" id="{DE48B7CF-0F39-A32E-F6E9-1F8A5BB7029E}"/>
              </a:ext>
            </a:extLst>
          </p:cNvPr>
          <p:cNvSpPr txBox="1"/>
          <p:nvPr/>
        </p:nvSpPr>
        <p:spPr>
          <a:xfrm>
            <a:off x="3556000" y="6146799"/>
            <a:ext cx="6223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进场判断只读取共享基线，回应发生前不混入任何策略差异</a:t>
            </a:r>
          </a:p>
        </p:txBody>
      </p:sp>
    </p:spTree>
    <p:extLst>
      <p:ext uri="{BB962C8B-B14F-4D97-AF65-F5344CB8AC3E}">
        <p14:creationId xmlns:p14="http://schemas.microsoft.com/office/powerpoint/2010/main" val="83787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80B5-9F24-8FC4-3A7B-B297DE2D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366496D5-C312-F647-E9CE-4173E2124F22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66E531AF-8CDB-2321-9BB7-AFFC0C4D4731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EF17B2DC-EAD5-56B0-548D-14FF92F5DA65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占位符 43">
            <a:extLst>
              <a:ext uri="{FF2B5EF4-FFF2-40B4-BE49-F238E27FC236}">
                <a16:creationId xmlns:a16="http://schemas.microsoft.com/office/drawing/2014/main" id="{FDBED0D1-5BF6-46EC-60F1-1D95AE756154}"/>
              </a:ext>
            </a:extLst>
          </p:cNvPr>
          <p:cNvSpPr txBox="1"/>
          <p:nvPr/>
        </p:nvSpPr>
        <p:spPr>
          <a:xfrm>
            <a:off x="399891" y="349328"/>
            <a:ext cx="7096936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关键技术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策略对照</a:t>
            </a:r>
            <a:r>
              <a:rPr lang="en-US" altLang="zh-CN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不同回应方案如何公平比较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4631ACEE-D4EA-47F8-C9A6-BD4DC351712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BFD0AB8-52EA-CE59-B036-049CA95E005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4" name="headline">
            <a:extLst>
              <a:ext uri="{FF2B5EF4-FFF2-40B4-BE49-F238E27FC236}">
                <a16:creationId xmlns:a16="http://schemas.microsoft.com/office/drawing/2014/main" id="{B918C2CE-0EC6-79B3-1F1C-BBA03A2DB09E}"/>
              </a:ext>
            </a:extLst>
          </p:cNvPr>
          <p:cNvSpPr txBox="1"/>
          <p:nvPr/>
        </p:nvSpPr>
        <p:spPr>
          <a:xfrm>
            <a:off x="2387600" y="1035050"/>
            <a:ext cx="6858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7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所有策略从同一进场前快照分流，差异只来自回应内容</a:t>
            </a:r>
          </a:p>
        </p:txBody>
      </p:sp>
      <p:sp>
        <p:nvSpPr>
          <p:cNvPr id="5" name="strategy-canvas">
            <a:extLst>
              <a:ext uri="{FF2B5EF4-FFF2-40B4-BE49-F238E27FC236}">
                <a16:creationId xmlns:a16="http://schemas.microsoft.com/office/drawing/2014/main" id="{7B2CCEF1-41D2-A963-44CF-050DFC036969}"/>
              </a:ext>
            </a:extLst>
          </p:cNvPr>
          <p:cNvSpPr/>
          <p:nvPr/>
        </p:nvSpPr>
        <p:spPr>
          <a:xfrm>
            <a:off x="660400" y="1422400"/>
            <a:ext cx="10871200" cy="436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8F1"/>
            </a:solidFill>
          </a:ln>
          <a:effectLst>
            <a:outerShdw blurRad="88900" dist="25400" dir="5400000" rotWithShape="0">
              <a:srgbClr val="173F5F">
                <a:alpha val="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baseline-trunk">
            <a:extLst>
              <a:ext uri="{FF2B5EF4-FFF2-40B4-BE49-F238E27FC236}">
                <a16:creationId xmlns:a16="http://schemas.microsoft.com/office/drawing/2014/main" id="{869FA747-7C44-8AF2-408D-698E5410E881}"/>
              </a:ext>
            </a:extLst>
          </p:cNvPr>
          <p:cNvCxnSpPr/>
          <p:nvPr/>
        </p:nvCxnSpPr>
        <p:spPr>
          <a:xfrm>
            <a:off x="3238500" y="3556000"/>
            <a:ext cx="8255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tegy-spine">
            <a:extLst>
              <a:ext uri="{FF2B5EF4-FFF2-40B4-BE49-F238E27FC236}">
                <a16:creationId xmlns:a16="http://schemas.microsoft.com/office/drawing/2014/main" id="{9BE0CB75-1678-4BF2-D060-BEA64675DA9F}"/>
              </a:ext>
            </a:extLst>
          </p:cNvPr>
          <p:cNvCxnSpPr/>
          <p:nvPr/>
        </p:nvCxnSpPr>
        <p:spPr>
          <a:xfrm>
            <a:off x="4064000" y="2387600"/>
            <a:ext cx="0" cy="2336800"/>
          </a:xfrm>
          <a:prstGeom prst="line">
            <a:avLst/>
          </a:prstGeom>
          <a:ln w="30480">
            <a:solidFill>
              <a:srgbClr val="2D70D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branch-0">
            <a:extLst>
              <a:ext uri="{FF2B5EF4-FFF2-40B4-BE49-F238E27FC236}">
                <a16:creationId xmlns:a16="http://schemas.microsoft.com/office/drawing/2014/main" id="{ED9F80DD-C1A3-0861-D66F-526E66635600}"/>
              </a:ext>
            </a:extLst>
          </p:cNvPr>
          <p:cNvCxnSpPr/>
          <p:nvPr/>
        </p:nvCxnSpPr>
        <p:spPr>
          <a:xfrm>
            <a:off x="4064000" y="2387600"/>
            <a:ext cx="6350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merge-0">
            <a:extLst>
              <a:ext uri="{FF2B5EF4-FFF2-40B4-BE49-F238E27FC236}">
                <a16:creationId xmlns:a16="http://schemas.microsoft.com/office/drawing/2014/main" id="{17F9186A-5D41-5CB1-D68D-6F1FDA034175}"/>
              </a:ext>
            </a:extLst>
          </p:cNvPr>
          <p:cNvCxnSpPr/>
          <p:nvPr/>
        </p:nvCxnSpPr>
        <p:spPr>
          <a:xfrm>
            <a:off x="6604000" y="2387600"/>
            <a:ext cx="965200" cy="0"/>
          </a:xfrm>
          <a:prstGeom prst="line">
            <a:avLst/>
          </a:prstGeom>
          <a:ln w="27940">
            <a:solidFill>
              <a:srgbClr val="24A59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ranch-1">
            <a:extLst>
              <a:ext uri="{FF2B5EF4-FFF2-40B4-BE49-F238E27FC236}">
                <a16:creationId xmlns:a16="http://schemas.microsoft.com/office/drawing/2014/main" id="{F8FDAF8C-66B1-4A7A-03D2-E5F9969ACB7E}"/>
              </a:ext>
            </a:extLst>
          </p:cNvPr>
          <p:cNvCxnSpPr/>
          <p:nvPr/>
        </p:nvCxnSpPr>
        <p:spPr>
          <a:xfrm>
            <a:off x="4064000" y="2971800"/>
            <a:ext cx="6350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merge-1">
            <a:extLst>
              <a:ext uri="{FF2B5EF4-FFF2-40B4-BE49-F238E27FC236}">
                <a16:creationId xmlns:a16="http://schemas.microsoft.com/office/drawing/2014/main" id="{D5A28328-2850-FB96-78A5-F9FBF2A5A383}"/>
              </a:ext>
            </a:extLst>
          </p:cNvPr>
          <p:cNvCxnSpPr/>
          <p:nvPr/>
        </p:nvCxnSpPr>
        <p:spPr>
          <a:xfrm>
            <a:off x="6604000" y="2971800"/>
            <a:ext cx="965200" cy="0"/>
          </a:xfrm>
          <a:prstGeom prst="line">
            <a:avLst/>
          </a:prstGeom>
          <a:ln w="27940">
            <a:solidFill>
              <a:srgbClr val="24A59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branch-2">
            <a:extLst>
              <a:ext uri="{FF2B5EF4-FFF2-40B4-BE49-F238E27FC236}">
                <a16:creationId xmlns:a16="http://schemas.microsoft.com/office/drawing/2014/main" id="{E810E0FC-611E-526A-ADF9-8891DA985A5B}"/>
              </a:ext>
            </a:extLst>
          </p:cNvPr>
          <p:cNvCxnSpPr/>
          <p:nvPr/>
        </p:nvCxnSpPr>
        <p:spPr>
          <a:xfrm>
            <a:off x="4064000" y="3556000"/>
            <a:ext cx="6350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merge-2">
            <a:extLst>
              <a:ext uri="{FF2B5EF4-FFF2-40B4-BE49-F238E27FC236}">
                <a16:creationId xmlns:a16="http://schemas.microsoft.com/office/drawing/2014/main" id="{7E7E208D-EC89-716D-EA29-A6BBEF603079}"/>
              </a:ext>
            </a:extLst>
          </p:cNvPr>
          <p:cNvCxnSpPr/>
          <p:nvPr/>
        </p:nvCxnSpPr>
        <p:spPr>
          <a:xfrm>
            <a:off x="6604000" y="3556000"/>
            <a:ext cx="965200" cy="0"/>
          </a:xfrm>
          <a:prstGeom prst="line">
            <a:avLst/>
          </a:prstGeom>
          <a:ln w="27940">
            <a:solidFill>
              <a:srgbClr val="24A59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branch-3">
            <a:extLst>
              <a:ext uri="{FF2B5EF4-FFF2-40B4-BE49-F238E27FC236}">
                <a16:creationId xmlns:a16="http://schemas.microsoft.com/office/drawing/2014/main" id="{FAD3255D-8681-D839-A0F6-512622BB2DAD}"/>
              </a:ext>
            </a:extLst>
          </p:cNvPr>
          <p:cNvCxnSpPr/>
          <p:nvPr/>
        </p:nvCxnSpPr>
        <p:spPr>
          <a:xfrm>
            <a:off x="4064000" y="4140200"/>
            <a:ext cx="6350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merge-3">
            <a:extLst>
              <a:ext uri="{FF2B5EF4-FFF2-40B4-BE49-F238E27FC236}">
                <a16:creationId xmlns:a16="http://schemas.microsoft.com/office/drawing/2014/main" id="{FA9B8211-BCA2-FA46-A7D6-9B2639EB1472}"/>
              </a:ext>
            </a:extLst>
          </p:cNvPr>
          <p:cNvCxnSpPr/>
          <p:nvPr/>
        </p:nvCxnSpPr>
        <p:spPr>
          <a:xfrm>
            <a:off x="6604000" y="4140200"/>
            <a:ext cx="965200" cy="0"/>
          </a:xfrm>
          <a:prstGeom prst="line">
            <a:avLst/>
          </a:prstGeom>
          <a:ln w="27940">
            <a:solidFill>
              <a:srgbClr val="24A59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ranch-4">
            <a:extLst>
              <a:ext uri="{FF2B5EF4-FFF2-40B4-BE49-F238E27FC236}">
                <a16:creationId xmlns:a16="http://schemas.microsoft.com/office/drawing/2014/main" id="{05AEA63B-F2C5-58D0-ADD6-B680E24AA31D}"/>
              </a:ext>
            </a:extLst>
          </p:cNvPr>
          <p:cNvCxnSpPr/>
          <p:nvPr/>
        </p:nvCxnSpPr>
        <p:spPr>
          <a:xfrm>
            <a:off x="4064000" y="4724400"/>
            <a:ext cx="6350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merge-4">
            <a:extLst>
              <a:ext uri="{FF2B5EF4-FFF2-40B4-BE49-F238E27FC236}">
                <a16:creationId xmlns:a16="http://schemas.microsoft.com/office/drawing/2014/main" id="{4A9A80C0-320C-47DD-57E7-D31F25316C57}"/>
              </a:ext>
            </a:extLst>
          </p:cNvPr>
          <p:cNvCxnSpPr/>
          <p:nvPr/>
        </p:nvCxnSpPr>
        <p:spPr>
          <a:xfrm>
            <a:off x="6604000" y="4724400"/>
            <a:ext cx="965200" cy="0"/>
          </a:xfrm>
          <a:prstGeom prst="line">
            <a:avLst/>
          </a:prstGeom>
          <a:ln w="27940">
            <a:solidFill>
              <a:srgbClr val="24A59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merge-spine">
            <a:extLst>
              <a:ext uri="{FF2B5EF4-FFF2-40B4-BE49-F238E27FC236}">
                <a16:creationId xmlns:a16="http://schemas.microsoft.com/office/drawing/2014/main" id="{616BF083-A2FA-0EA7-EB1F-B950D8F75664}"/>
              </a:ext>
            </a:extLst>
          </p:cNvPr>
          <p:cNvCxnSpPr/>
          <p:nvPr/>
        </p:nvCxnSpPr>
        <p:spPr>
          <a:xfrm>
            <a:off x="7569200" y="2387600"/>
            <a:ext cx="0" cy="2336800"/>
          </a:xfrm>
          <a:prstGeom prst="line">
            <a:avLst/>
          </a:prstGeom>
          <a:ln w="27940">
            <a:solidFill>
              <a:srgbClr val="24A59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merge-output">
            <a:extLst>
              <a:ext uri="{FF2B5EF4-FFF2-40B4-BE49-F238E27FC236}">
                <a16:creationId xmlns:a16="http://schemas.microsoft.com/office/drawing/2014/main" id="{28BA8010-323F-ECC5-F86F-D4BEE0DD7F9A}"/>
              </a:ext>
            </a:extLst>
          </p:cNvPr>
          <p:cNvCxnSpPr/>
          <p:nvPr/>
        </p:nvCxnSpPr>
        <p:spPr>
          <a:xfrm>
            <a:off x="7569200" y="3556000"/>
            <a:ext cx="1282700" cy="0"/>
          </a:xfrm>
          <a:prstGeom prst="line">
            <a:avLst/>
          </a:prstGeom>
          <a:ln w="30480">
            <a:solidFill>
              <a:srgbClr val="24A59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airness-band">
            <a:extLst>
              <a:ext uri="{FF2B5EF4-FFF2-40B4-BE49-F238E27FC236}">
                <a16:creationId xmlns:a16="http://schemas.microsoft.com/office/drawing/2014/main" id="{0556AEC1-5084-C864-C72D-0CCBC671187E}"/>
              </a:ext>
            </a:extLst>
          </p:cNvPr>
          <p:cNvSpPr/>
          <p:nvPr/>
        </p:nvSpPr>
        <p:spPr>
          <a:xfrm>
            <a:off x="1346200" y="1536701"/>
            <a:ext cx="9499600" cy="4953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BDD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fairness-title">
            <a:extLst>
              <a:ext uri="{FF2B5EF4-FFF2-40B4-BE49-F238E27FC236}">
                <a16:creationId xmlns:a16="http://schemas.microsoft.com/office/drawing/2014/main" id="{638AE83C-8499-579E-6CFD-3516D84971D7}"/>
              </a:ext>
            </a:extLst>
          </p:cNvPr>
          <p:cNvSpPr txBox="1"/>
          <p:nvPr/>
        </p:nvSpPr>
        <p:spPr>
          <a:xfrm>
            <a:off x="1574800" y="1708151"/>
            <a:ext cx="1447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5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公平比较前提</a:t>
            </a:r>
          </a:p>
        </p:txBody>
      </p:sp>
      <p:sp>
        <p:nvSpPr>
          <p:cNvPr id="24" name="fairness-items">
            <a:extLst>
              <a:ext uri="{FF2B5EF4-FFF2-40B4-BE49-F238E27FC236}">
                <a16:creationId xmlns:a16="http://schemas.microsoft.com/office/drawing/2014/main" id="{B8596CDA-6EB1-15C8-A8B7-09F129750145}"/>
              </a:ext>
            </a:extLst>
          </p:cNvPr>
          <p:cNvSpPr txBox="1"/>
          <p:nvPr/>
        </p:nvSpPr>
        <p:spPr>
          <a:xfrm>
            <a:off x="3035300" y="1673039"/>
            <a:ext cx="7581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50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同一事件   </a:t>
            </a:r>
            <a:r>
              <a:rPr lang="en-US" altLang="zh-CN" sz="1350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 </a:t>
            </a:r>
            <a:r>
              <a:rPr lang="zh-CN" altLang="en-US" sz="1350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同一进场轮次   </a:t>
            </a:r>
            <a:r>
              <a:rPr lang="en-US" altLang="zh-CN" sz="1350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 </a:t>
            </a:r>
            <a:r>
              <a:rPr lang="zh-CN" altLang="en-US" sz="1350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同一状态快照   </a:t>
            </a:r>
            <a:r>
              <a:rPr lang="en-US" altLang="zh-CN" sz="1350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 </a:t>
            </a:r>
            <a:r>
              <a:rPr lang="zh-CN" altLang="en-US" sz="1350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相同运行参数</a:t>
            </a:r>
          </a:p>
        </p:txBody>
      </p:sp>
      <p:sp>
        <p:nvSpPr>
          <p:cNvPr id="25" name="baseline-card">
            <a:extLst>
              <a:ext uri="{FF2B5EF4-FFF2-40B4-BE49-F238E27FC236}">
                <a16:creationId xmlns:a16="http://schemas.microsoft.com/office/drawing/2014/main" id="{84EC5B4A-53B5-056B-FBBB-E14C45CD5DBD}"/>
              </a:ext>
            </a:extLst>
          </p:cNvPr>
          <p:cNvSpPr/>
          <p:nvPr/>
        </p:nvSpPr>
        <p:spPr>
          <a:xfrm>
            <a:off x="1041400" y="2768600"/>
            <a:ext cx="2197100" cy="15748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baseline-icon-circle">
            <a:extLst>
              <a:ext uri="{FF2B5EF4-FFF2-40B4-BE49-F238E27FC236}">
                <a16:creationId xmlns:a16="http://schemas.microsoft.com/office/drawing/2014/main" id="{A0A93453-8F2E-2A03-01AF-48C9044BC438}"/>
              </a:ext>
            </a:extLst>
          </p:cNvPr>
          <p:cNvSpPr/>
          <p:nvPr/>
        </p:nvSpPr>
        <p:spPr>
          <a:xfrm>
            <a:off x="1244600" y="2997200"/>
            <a:ext cx="533400" cy="5334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baseline-icon-text">
            <a:extLst>
              <a:ext uri="{FF2B5EF4-FFF2-40B4-BE49-F238E27FC236}">
                <a16:creationId xmlns:a16="http://schemas.microsoft.com/office/drawing/2014/main" id="{5354F448-C73D-D4F3-9E03-0A89F4580FF1}"/>
              </a:ext>
            </a:extLst>
          </p:cNvPr>
          <p:cNvSpPr txBox="1"/>
          <p:nvPr/>
        </p:nvSpPr>
        <p:spPr>
          <a:xfrm>
            <a:off x="1244600" y="3073399"/>
            <a:ext cx="5334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00" b="1">
                <a:solidFill>
                  <a:srgbClr val="2D70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</a:t>
            </a:r>
          </a:p>
        </p:txBody>
      </p:sp>
      <p:sp>
        <p:nvSpPr>
          <p:cNvPr id="28" name="baseline-title">
            <a:extLst>
              <a:ext uri="{FF2B5EF4-FFF2-40B4-BE49-F238E27FC236}">
                <a16:creationId xmlns:a16="http://schemas.microsoft.com/office/drawing/2014/main" id="{DCEF0AF7-360B-38D0-FC3A-151CA853F5F0}"/>
              </a:ext>
            </a:extLst>
          </p:cNvPr>
          <p:cNvSpPr txBox="1"/>
          <p:nvPr/>
        </p:nvSpPr>
        <p:spPr>
          <a:xfrm>
            <a:off x="1905000" y="3060699"/>
            <a:ext cx="12573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共享基线快照</a:t>
            </a:r>
          </a:p>
        </p:txBody>
      </p:sp>
      <p:sp>
        <p:nvSpPr>
          <p:cNvPr id="29" name="baseline-body">
            <a:extLst>
              <a:ext uri="{FF2B5EF4-FFF2-40B4-BE49-F238E27FC236}">
                <a16:creationId xmlns:a16="http://schemas.microsoft.com/office/drawing/2014/main" id="{2EA68ECD-2088-5EBB-B054-801954D86ACB}"/>
              </a:ext>
            </a:extLst>
          </p:cNvPr>
          <p:cNvSpPr txBox="1"/>
          <p:nvPr/>
        </p:nvSpPr>
        <p:spPr>
          <a:xfrm>
            <a:off x="1282700" y="3632199"/>
            <a:ext cx="1701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3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
评论与指标历史</a:t>
            </a:r>
          </a:p>
        </p:txBody>
      </p:sp>
      <p:sp>
        <p:nvSpPr>
          <p:cNvPr id="30" name="strategy-0">
            <a:extLst>
              <a:ext uri="{FF2B5EF4-FFF2-40B4-BE49-F238E27FC236}">
                <a16:creationId xmlns:a16="http://schemas.microsoft.com/office/drawing/2014/main" id="{8975BD09-728C-ABB9-3371-A23A872AFF85}"/>
              </a:ext>
            </a:extLst>
          </p:cNvPr>
          <p:cNvSpPr/>
          <p:nvPr/>
        </p:nvSpPr>
        <p:spPr>
          <a:xfrm>
            <a:off x="4699000" y="2159000"/>
            <a:ext cx="1905000" cy="457200"/>
          </a:xfrm>
          <a:prstGeom prst="roundRect">
            <a:avLst/>
          </a:prstGeom>
          <a:solidFill>
            <a:srgbClr val="F2F5F8"/>
          </a:solidFill>
          <a:ln w="15240">
            <a:solidFill>
              <a:srgbClr val="8C99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strategy-text-0">
            <a:extLst>
              <a:ext uri="{FF2B5EF4-FFF2-40B4-BE49-F238E27FC236}">
                <a16:creationId xmlns:a16="http://schemas.microsoft.com/office/drawing/2014/main" id="{24EFD3DC-FAF1-A32D-5DD0-2E55053725E1}"/>
              </a:ext>
            </a:extLst>
          </p:cNvPr>
          <p:cNvSpPr txBox="1"/>
          <p:nvPr/>
        </p:nvSpPr>
        <p:spPr>
          <a:xfrm>
            <a:off x="4699000" y="2235199"/>
            <a:ext cx="1905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4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不回应</a:t>
            </a:r>
          </a:p>
        </p:txBody>
      </p:sp>
      <p:sp>
        <p:nvSpPr>
          <p:cNvPr id="32" name="strategy-1">
            <a:extLst>
              <a:ext uri="{FF2B5EF4-FFF2-40B4-BE49-F238E27FC236}">
                <a16:creationId xmlns:a16="http://schemas.microsoft.com/office/drawing/2014/main" id="{9D523E07-8B71-D03C-7FD2-C695B63D9F0C}"/>
              </a:ext>
            </a:extLst>
          </p:cNvPr>
          <p:cNvSpPr/>
          <p:nvPr/>
        </p:nvSpPr>
        <p:spPr>
          <a:xfrm>
            <a:off x="4699000" y="2743200"/>
            <a:ext cx="1905000" cy="457200"/>
          </a:xfrm>
          <a:prstGeom prst="roundRect">
            <a:avLst/>
          </a:prstGeom>
          <a:solidFill>
            <a:srgbClr val="EAF2FC"/>
          </a:solidFill>
          <a:ln w="1524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strategy-text-1">
            <a:extLst>
              <a:ext uri="{FF2B5EF4-FFF2-40B4-BE49-F238E27FC236}">
                <a16:creationId xmlns:a16="http://schemas.microsoft.com/office/drawing/2014/main" id="{49121ED1-9278-183E-4D22-673799BC0715}"/>
              </a:ext>
            </a:extLst>
          </p:cNvPr>
          <p:cNvSpPr txBox="1"/>
          <p:nvPr/>
        </p:nvSpPr>
        <p:spPr>
          <a:xfrm>
            <a:off x="4699000" y="2819399"/>
            <a:ext cx="1905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4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事实通报</a:t>
            </a:r>
          </a:p>
        </p:txBody>
      </p:sp>
      <p:sp>
        <p:nvSpPr>
          <p:cNvPr id="34" name="strategy-2">
            <a:extLst>
              <a:ext uri="{FF2B5EF4-FFF2-40B4-BE49-F238E27FC236}">
                <a16:creationId xmlns:a16="http://schemas.microsoft.com/office/drawing/2014/main" id="{FEC62B64-D4AD-EA28-C6FA-623F86EB0FD0}"/>
              </a:ext>
            </a:extLst>
          </p:cNvPr>
          <p:cNvSpPr/>
          <p:nvPr/>
        </p:nvSpPr>
        <p:spPr>
          <a:xfrm>
            <a:off x="4699000" y="3327400"/>
            <a:ext cx="1905000" cy="457200"/>
          </a:xfrm>
          <a:prstGeom prst="roundRect">
            <a:avLst/>
          </a:prstGeom>
          <a:solidFill>
            <a:srgbClr val="E7F6F3"/>
          </a:solidFill>
          <a:ln w="1524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trategy-text-2">
            <a:extLst>
              <a:ext uri="{FF2B5EF4-FFF2-40B4-BE49-F238E27FC236}">
                <a16:creationId xmlns:a16="http://schemas.microsoft.com/office/drawing/2014/main" id="{03CF26AB-AFD3-ECBB-1555-A18059122D35}"/>
              </a:ext>
            </a:extLst>
          </p:cNvPr>
          <p:cNvSpPr txBox="1"/>
          <p:nvPr/>
        </p:nvSpPr>
        <p:spPr>
          <a:xfrm>
            <a:off x="4699000" y="3403599"/>
            <a:ext cx="1905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4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共情安抚</a:t>
            </a:r>
          </a:p>
        </p:txBody>
      </p:sp>
      <p:sp>
        <p:nvSpPr>
          <p:cNvPr id="36" name="strategy-3">
            <a:extLst>
              <a:ext uri="{FF2B5EF4-FFF2-40B4-BE49-F238E27FC236}">
                <a16:creationId xmlns:a16="http://schemas.microsoft.com/office/drawing/2014/main" id="{DE07BCEF-18C6-DDEB-9EB6-07C26B4F0971}"/>
              </a:ext>
            </a:extLst>
          </p:cNvPr>
          <p:cNvSpPr/>
          <p:nvPr/>
        </p:nvSpPr>
        <p:spPr>
          <a:xfrm>
            <a:off x="4699000" y="3911600"/>
            <a:ext cx="1905000" cy="457200"/>
          </a:xfrm>
          <a:prstGeom prst="roundRect">
            <a:avLst/>
          </a:prstGeom>
          <a:solidFill>
            <a:srgbClr val="E6F6F7"/>
          </a:solidFill>
          <a:ln w="1524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trategy-text-3">
            <a:extLst>
              <a:ext uri="{FF2B5EF4-FFF2-40B4-BE49-F238E27FC236}">
                <a16:creationId xmlns:a16="http://schemas.microsoft.com/office/drawing/2014/main" id="{B3EF9F73-0497-8F33-ECA7-6BB7FD088C1E}"/>
              </a:ext>
            </a:extLst>
          </p:cNvPr>
          <p:cNvSpPr txBox="1"/>
          <p:nvPr/>
        </p:nvSpPr>
        <p:spPr>
          <a:xfrm>
            <a:off x="4699000" y="3987799"/>
            <a:ext cx="1905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4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辟谣澄清</a:t>
            </a:r>
          </a:p>
        </p:txBody>
      </p:sp>
      <p:sp>
        <p:nvSpPr>
          <p:cNvPr id="38" name="strategy-4">
            <a:extLst>
              <a:ext uri="{FF2B5EF4-FFF2-40B4-BE49-F238E27FC236}">
                <a16:creationId xmlns:a16="http://schemas.microsoft.com/office/drawing/2014/main" id="{D479D36A-6DAA-8A9A-57DB-610F3110B957}"/>
              </a:ext>
            </a:extLst>
          </p:cNvPr>
          <p:cNvSpPr/>
          <p:nvPr/>
        </p:nvSpPr>
        <p:spPr>
          <a:xfrm>
            <a:off x="4699000" y="4495800"/>
            <a:ext cx="1905000" cy="457200"/>
          </a:xfrm>
          <a:prstGeom prst="roundRect">
            <a:avLst/>
          </a:prstGeom>
          <a:solidFill>
            <a:srgbClr val="FFF1E2"/>
          </a:solidFill>
          <a:ln w="1524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trategy-text-4">
            <a:extLst>
              <a:ext uri="{FF2B5EF4-FFF2-40B4-BE49-F238E27FC236}">
                <a16:creationId xmlns:a16="http://schemas.microsoft.com/office/drawing/2014/main" id="{8D3F8568-D611-EB4B-5B02-3BA98997763B}"/>
              </a:ext>
            </a:extLst>
          </p:cNvPr>
          <p:cNvSpPr txBox="1"/>
          <p:nvPr/>
        </p:nvSpPr>
        <p:spPr>
          <a:xfrm>
            <a:off x="4699000" y="4571999"/>
            <a:ext cx="1905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4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处置进展</a:t>
            </a:r>
          </a:p>
        </p:txBody>
      </p:sp>
      <p:sp>
        <p:nvSpPr>
          <p:cNvPr id="42" name="compare-card">
            <a:extLst>
              <a:ext uri="{FF2B5EF4-FFF2-40B4-BE49-F238E27FC236}">
                <a16:creationId xmlns:a16="http://schemas.microsoft.com/office/drawing/2014/main" id="{5EDCDAC6-CB35-41BC-4DCF-FC68C15E60E0}"/>
              </a:ext>
            </a:extLst>
          </p:cNvPr>
          <p:cNvSpPr/>
          <p:nvPr/>
        </p:nvSpPr>
        <p:spPr>
          <a:xfrm>
            <a:off x="8851900" y="2768600"/>
            <a:ext cx="2247900" cy="1574800"/>
          </a:xfrm>
          <a:prstGeom prst="roundRect">
            <a:avLst/>
          </a:prstGeom>
          <a:solidFill>
            <a:srgbClr val="FFF7EE"/>
          </a:solidFill>
          <a:ln w="1270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compare-icon-circle">
            <a:extLst>
              <a:ext uri="{FF2B5EF4-FFF2-40B4-BE49-F238E27FC236}">
                <a16:creationId xmlns:a16="http://schemas.microsoft.com/office/drawing/2014/main" id="{817A2DE8-CB82-CF3D-5117-849EC095C5CE}"/>
              </a:ext>
            </a:extLst>
          </p:cNvPr>
          <p:cNvSpPr/>
          <p:nvPr/>
        </p:nvSpPr>
        <p:spPr>
          <a:xfrm>
            <a:off x="9093200" y="2997200"/>
            <a:ext cx="533400" cy="5334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compare-icon-text">
            <a:extLst>
              <a:ext uri="{FF2B5EF4-FFF2-40B4-BE49-F238E27FC236}">
                <a16:creationId xmlns:a16="http://schemas.microsoft.com/office/drawing/2014/main" id="{34E3E290-2624-01FA-9668-6EA08CFDE6A4}"/>
              </a:ext>
            </a:extLst>
          </p:cNvPr>
          <p:cNvSpPr txBox="1"/>
          <p:nvPr/>
        </p:nvSpPr>
        <p:spPr>
          <a:xfrm>
            <a:off x="9093200" y="3073399"/>
            <a:ext cx="5334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00" b="1">
                <a:solidFill>
                  <a:srgbClr val="F28A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</a:t>
            </a:r>
          </a:p>
        </p:txBody>
      </p:sp>
      <p:sp>
        <p:nvSpPr>
          <p:cNvPr id="45" name="compare-title">
            <a:extLst>
              <a:ext uri="{FF2B5EF4-FFF2-40B4-BE49-F238E27FC236}">
                <a16:creationId xmlns:a16="http://schemas.microsoft.com/office/drawing/2014/main" id="{515C9672-E13C-A073-8E75-4655CCB196CD}"/>
              </a:ext>
            </a:extLst>
          </p:cNvPr>
          <p:cNvSpPr txBox="1"/>
          <p:nvPr/>
        </p:nvSpPr>
        <p:spPr>
          <a:xfrm>
            <a:off x="9753600" y="3060699"/>
            <a:ext cx="12446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50" b="1">
                <a:solidFill>
                  <a:srgbClr val="8A440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统一汇总比较</a:t>
            </a:r>
          </a:p>
        </p:txBody>
      </p:sp>
      <p:sp>
        <p:nvSpPr>
          <p:cNvPr id="46" name="compare-body">
            <a:extLst>
              <a:ext uri="{FF2B5EF4-FFF2-40B4-BE49-F238E27FC236}">
                <a16:creationId xmlns:a16="http://schemas.microsoft.com/office/drawing/2014/main" id="{416C4244-6055-B64A-C7D7-A4DFC1A18DA9}"/>
              </a:ext>
            </a:extLst>
          </p:cNvPr>
          <p:cNvSpPr txBox="1"/>
          <p:nvPr/>
        </p:nvSpPr>
        <p:spPr>
          <a:xfrm>
            <a:off x="9169400" y="3568699"/>
            <a:ext cx="16764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5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指标排序
并列结果
数据质量</a:t>
            </a:r>
          </a:p>
        </p:txBody>
      </p:sp>
      <p:sp>
        <p:nvSpPr>
          <p:cNvPr id="48" name="takeaway-box">
            <a:extLst>
              <a:ext uri="{FF2B5EF4-FFF2-40B4-BE49-F238E27FC236}">
                <a16:creationId xmlns:a16="http://schemas.microsoft.com/office/drawing/2014/main" id="{49B03AA8-9457-E668-6E74-1D7A20AF3332}"/>
              </a:ext>
            </a:extLst>
          </p:cNvPr>
          <p:cNvSpPr/>
          <p:nvPr/>
        </p:nvSpPr>
        <p:spPr>
          <a:xfrm>
            <a:off x="2159000" y="6045200"/>
            <a:ext cx="7874000" cy="5588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4C4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takeaway-marker">
            <a:extLst>
              <a:ext uri="{FF2B5EF4-FFF2-40B4-BE49-F238E27FC236}">
                <a16:creationId xmlns:a16="http://schemas.microsoft.com/office/drawing/2014/main" id="{07259FF5-06D9-3F96-43A2-50CA1CD369E3}"/>
              </a:ext>
            </a:extLst>
          </p:cNvPr>
          <p:cNvSpPr/>
          <p:nvPr/>
        </p:nvSpPr>
        <p:spPr>
          <a:xfrm>
            <a:off x="2387600" y="6159500"/>
            <a:ext cx="965200" cy="330200"/>
          </a:xfrm>
          <a:prstGeom prst="roundRect">
            <a:avLst/>
          </a:prstGeom>
          <a:solidFill>
            <a:srgbClr val="F28A2E"/>
          </a:solidFill>
          <a:ln w="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takeaway-label">
            <a:extLst>
              <a:ext uri="{FF2B5EF4-FFF2-40B4-BE49-F238E27FC236}">
                <a16:creationId xmlns:a16="http://schemas.microsoft.com/office/drawing/2014/main" id="{139A8C94-EE85-7A0E-2A13-A9F45419E4D0}"/>
              </a:ext>
            </a:extLst>
          </p:cNvPr>
          <p:cNvSpPr txBox="1"/>
          <p:nvPr/>
        </p:nvSpPr>
        <p:spPr>
          <a:xfrm>
            <a:off x="2387600" y="6210300"/>
            <a:ext cx="96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关键结论</a:t>
            </a:r>
          </a:p>
        </p:txBody>
      </p:sp>
      <p:sp>
        <p:nvSpPr>
          <p:cNvPr id="51" name="takeaway-text">
            <a:extLst>
              <a:ext uri="{FF2B5EF4-FFF2-40B4-BE49-F238E27FC236}">
                <a16:creationId xmlns:a16="http://schemas.microsoft.com/office/drawing/2014/main" id="{4A66DDAB-EDC6-8EE6-5201-F95BC9161954}"/>
              </a:ext>
            </a:extLst>
          </p:cNvPr>
          <p:cNvSpPr txBox="1"/>
          <p:nvPr/>
        </p:nvSpPr>
        <p:spPr>
          <a:xfrm>
            <a:off x="3556000" y="6146799"/>
            <a:ext cx="6223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共享基线保证可比，独立演化保留不同回应策略的真实影响</a:t>
            </a:r>
          </a:p>
        </p:txBody>
      </p:sp>
    </p:spTree>
    <p:extLst>
      <p:ext uri="{BB962C8B-B14F-4D97-AF65-F5344CB8AC3E}">
        <p14:creationId xmlns:p14="http://schemas.microsoft.com/office/powerpoint/2010/main" val="1354232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9" name="直接连接符 68"/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文本占位符 43"/>
          <p:cNvSpPr txBox="1"/>
          <p:nvPr/>
        </p:nvSpPr>
        <p:spPr>
          <a:xfrm>
            <a:off x="408781" y="260448"/>
            <a:ext cx="9243219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关键技术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指标评估</a:t>
            </a:r>
            <a:r>
              <a:rPr lang="en-US" altLang="zh-CN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负面率、质疑率、接受率及情绪恢复效果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3" name="metrics-canvas">
            <a:extLst>
              <a:ext uri="{FF2B5EF4-FFF2-40B4-BE49-F238E27FC236}">
                <a16:creationId xmlns:a16="http://schemas.microsoft.com/office/drawing/2014/main" id="{AD2F00EE-82F4-7704-0896-D3DECF11AA52}"/>
              </a:ext>
            </a:extLst>
          </p:cNvPr>
          <p:cNvSpPr/>
          <p:nvPr/>
        </p:nvSpPr>
        <p:spPr>
          <a:xfrm>
            <a:off x="660400" y="1422400"/>
            <a:ext cx="10871200" cy="436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8F1"/>
            </a:solidFill>
          </a:ln>
          <a:effectLst>
            <a:outerShdw blurRad="88900" dist="25400" dir="5400000" rotWithShape="0">
              <a:srgbClr val="173F5F">
                <a:alpha val="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low-band">
            <a:extLst>
              <a:ext uri="{FF2B5EF4-FFF2-40B4-BE49-F238E27FC236}">
                <a16:creationId xmlns:a16="http://schemas.microsoft.com/office/drawing/2014/main" id="{547E7AC9-0216-9C90-B1E3-61C90E2AF349}"/>
              </a:ext>
            </a:extLst>
          </p:cNvPr>
          <p:cNvSpPr/>
          <p:nvPr/>
        </p:nvSpPr>
        <p:spPr>
          <a:xfrm>
            <a:off x="2641600" y="1727200"/>
            <a:ext cx="6908800" cy="4826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BDD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low-text">
            <a:extLst>
              <a:ext uri="{FF2B5EF4-FFF2-40B4-BE49-F238E27FC236}">
                <a16:creationId xmlns:a16="http://schemas.microsoft.com/office/drawing/2014/main" id="{896BD53E-EA3C-3A1E-C69B-57AED0C2B921}"/>
              </a:ext>
            </a:extLst>
          </p:cNvPr>
          <p:cNvSpPr txBox="1"/>
          <p:nvPr/>
        </p:nvSpPr>
        <p:spPr>
          <a:xfrm>
            <a:off x="2794000" y="1828799"/>
            <a:ext cx="6604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0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逐轮记录  →  时间序列  →  场景比较</a:t>
            </a:r>
          </a:p>
        </p:txBody>
      </p:sp>
      <p:sp>
        <p:nvSpPr>
          <p:cNvPr id="11" name="round-card">
            <a:extLst>
              <a:ext uri="{FF2B5EF4-FFF2-40B4-BE49-F238E27FC236}">
                <a16:creationId xmlns:a16="http://schemas.microsoft.com/office/drawing/2014/main" id="{3B6F9C8C-7FDB-BF5E-C5A4-33D3F37B1F24}"/>
              </a:ext>
            </a:extLst>
          </p:cNvPr>
          <p:cNvSpPr/>
          <p:nvPr/>
        </p:nvSpPr>
        <p:spPr>
          <a:xfrm>
            <a:off x="1079500" y="2514600"/>
            <a:ext cx="2921000" cy="2425700"/>
          </a:xfrm>
          <a:prstGeom prst="roundRect">
            <a:avLst/>
          </a:prstGeom>
          <a:solidFill>
            <a:srgbClr val="F4F8FD"/>
          </a:solidFill>
          <a:ln w="1270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ound-title">
            <a:extLst>
              <a:ext uri="{FF2B5EF4-FFF2-40B4-BE49-F238E27FC236}">
                <a16:creationId xmlns:a16="http://schemas.microsoft.com/office/drawing/2014/main" id="{04E14CE0-0539-958E-B5F3-521AF467CC5E}"/>
              </a:ext>
            </a:extLst>
          </p:cNvPr>
          <p:cNvSpPr txBox="1"/>
          <p:nvPr/>
        </p:nvSpPr>
        <p:spPr>
          <a:xfrm>
            <a:off x="1993900" y="2844799"/>
            <a:ext cx="18034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0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当轮状态</a:t>
            </a:r>
          </a:p>
        </p:txBody>
      </p:sp>
      <p:sp>
        <p:nvSpPr>
          <p:cNvPr id="19" name="round-items-dot-0">
            <a:extLst>
              <a:ext uri="{FF2B5EF4-FFF2-40B4-BE49-F238E27FC236}">
                <a16:creationId xmlns:a16="http://schemas.microsoft.com/office/drawing/2014/main" id="{B1B98CC1-FDBF-C627-E1FB-D1FAEFA63B6D}"/>
              </a:ext>
            </a:extLst>
          </p:cNvPr>
          <p:cNvSpPr/>
          <p:nvPr/>
        </p:nvSpPr>
        <p:spPr>
          <a:xfrm>
            <a:off x="1358900" y="36068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ound-items-text-0">
            <a:extLst>
              <a:ext uri="{FF2B5EF4-FFF2-40B4-BE49-F238E27FC236}">
                <a16:creationId xmlns:a16="http://schemas.microsoft.com/office/drawing/2014/main" id="{76B291F1-DF9A-0F7A-866B-C8C9AFC14E91}"/>
              </a:ext>
            </a:extLst>
          </p:cNvPr>
          <p:cNvSpPr txBox="1"/>
          <p:nvPr/>
        </p:nvSpPr>
        <p:spPr>
          <a:xfrm>
            <a:off x="1536700" y="3505200"/>
            <a:ext cx="2197100" cy="3979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负面率与情绪分布</a:t>
            </a:r>
          </a:p>
        </p:txBody>
      </p:sp>
      <p:sp>
        <p:nvSpPr>
          <p:cNvPr id="23" name="round-items-dot-1">
            <a:extLst>
              <a:ext uri="{FF2B5EF4-FFF2-40B4-BE49-F238E27FC236}">
                <a16:creationId xmlns:a16="http://schemas.microsoft.com/office/drawing/2014/main" id="{A516C089-5284-D094-0925-27723E375EC4}"/>
              </a:ext>
            </a:extLst>
          </p:cNvPr>
          <p:cNvSpPr/>
          <p:nvPr/>
        </p:nvSpPr>
        <p:spPr>
          <a:xfrm>
            <a:off x="1358900" y="4004733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ound-items-text-1">
            <a:extLst>
              <a:ext uri="{FF2B5EF4-FFF2-40B4-BE49-F238E27FC236}">
                <a16:creationId xmlns:a16="http://schemas.microsoft.com/office/drawing/2014/main" id="{D80473BD-1C2B-7FC5-5873-3F77D5BDBAEE}"/>
              </a:ext>
            </a:extLst>
          </p:cNvPr>
          <p:cNvSpPr txBox="1"/>
          <p:nvPr/>
        </p:nvSpPr>
        <p:spPr>
          <a:xfrm>
            <a:off x="1536700" y="3903133"/>
            <a:ext cx="2197100" cy="3979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质疑率与接受率</a:t>
            </a:r>
          </a:p>
        </p:txBody>
      </p:sp>
      <p:sp>
        <p:nvSpPr>
          <p:cNvPr id="27" name="round-items-dot-2">
            <a:extLst>
              <a:ext uri="{FF2B5EF4-FFF2-40B4-BE49-F238E27FC236}">
                <a16:creationId xmlns:a16="http://schemas.microsoft.com/office/drawing/2014/main" id="{48E9BE0F-8C42-162C-7814-BC49E41093E9}"/>
              </a:ext>
            </a:extLst>
          </p:cNvPr>
          <p:cNvSpPr/>
          <p:nvPr/>
        </p:nvSpPr>
        <p:spPr>
          <a:xfrm>
            <a:off x="1358900" y="4402667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round-items-text-2">
            <a:extLst>
              <a:ext uri="{FF2B5EF4-FFF2-40B4-BE49-F238E27FC236}">
                <a16:creationId xmlns:a16="http://schemas.microsoft.com/office/drawing/2014/main" id="{B2DECD23-13B1-18A0-5ACC-5438FE291A63}"/>
              </a:ext>
            </a:extLst>
          </p:cNvPr>
          <p:cNvSpPr txBox="1"/>
          <p:nvPr/>
        </p:nvSpPr>
        <p:spPr>
          <a:xfrm>
            <a:off x="1536700" y="4301067"/>
            <a:ext cx="2197100" cy="3979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全局趋势</a:t>
            </a:r>
          </a:p>
        </p:txBody>
      </p:sp>
      <p:sp>
        <p:nvSpPr>
          <p:cNvPr id="31" name="process-card">
            <a:extLst>
              <a:ext uri="{FF2B5EF4-FFF2-40B4-BE49-F238E27FC236}">
                <a16:creationId xmlns:a16="http://schemas.microsoft.com/office/drawing/2014/main" id="{77A91AB9-E0E2-A228-D12A-647A15C6C71A}"/>
              </a:ext>
            </a:extLst>
          </p:cNvPr>
          <p:cNvSpPr/>
          <p:nvPr/>
        </p:nvSpPr>
        <p:spPr>
          <a:xfrm>
            <a:off x="4635500" y="2514600"/>
            <a:ext cx="2921000" cy="2425700"/>
          </a:xfrm>
          <a:prstGeom prst="roundRect">
            <a:avLst/>
          </a:prstGeom>
          <a:solidFill>
            <a:srgbClr val="F2FAF8"/>
          </a:solidFill>
          <a:ln w="1270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rocess-title">
            <a:extLst>
              <a:ext uri="{FF2B5EF4-FFF2-40B4-BE49-F238E27FC236}">
                <a16:creationId xmlns:a16="http://schemas.microsoft.com/office/drawing/2014/main" id="{ED1F99EE-F0E7-66D7-1949-E3335B01BFBD}"/>
              </a:ext>
            </a:extLst>
          </p:cNvPr>
          <p:cNvSpPr txBox="1"/>
          <p:nvPr/>
        </p:nvSpPr>
        <p:spPr>
          <a:xfrm>
            <a:off x="5549900" y="2844799"/>
            <a:ext cx="18034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0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全过程效果</a:t>
            </a:r>
          </a:p>
        </p:txBody>
      </p:sp>
      <p:sp>
        <p:nvSpPr>
          <p:cNvPr id="39" name="process-items-dot-0">
            <a:extLst>
              <a:ext uri="{FF2B5EF4-FFF2-40B4-BE49-F238E27FC236}">
                <a16:creationId xmlns:a16="http://schemas.microsoft.com/office/drawing/2014/main" id="{09CA07C2-0480-3424-5E5F-A5B0501F6B7F}"/>
              </a:ext>
            </a:extLst>
          </p:cNvPr>
          <p:cNvSpPr/>
          <p:nvPr/>
        </p:nvSpPr>
        <p:spPr>
          <a:xfrm>
            <a:off x="4914900" y="360680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process-items-text-0">
            <a:extLst>
              <a:ext uri="{FF2B5EF4-FFF2-40B4-BE49-F238E27FC236}">
                <a16:creationId xmlns:a16="http://schemas.microsoft.com/office/drawing/2014/main" id="{67DF19C1-E009-8546-FDFD-1AD83B4F5E38}"/>
              </a:ext>
            </a:extLst>
          </p:cNvPr>
          <p:cNvSpPr txBox="1"/>
          <p:nvPr/>
        </p:nvSpPr>
        <p:spPr>
          <a:xfrm>
            <a:off x="5092700" y="3505200"/>
            <a:ext cx="2197100" cy="238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负面峰值与峰值轮次</a:t>
            </a:r>
          </a:p>
        </p:txBody>
      </p:sp>
      <p:sp>
        <p:nvSpPr>
          <p:cNvPr id="43" name="process-items-dot-1">
            <a:extLst>
              <a:ext uri="{FF2B5EF4-FFF2-40B4-BE49-F238E27FC236}">
                <a16:creationId xmlns:a16="http://schemas.microsoft.com/office/drawing/2014/main" id="{7390CD39-E3C1-256B-A5F2-338583946E9E}"/>
              </a:ext>
            </a:extLst>
          </p:cNvPr>
          <p:cNvSpPr/>
          <p:nvPr/>
        </p:nvSpPr>
        <p:spPr>
          <a:xfrm>
            <a:off x="4914900" y="384556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process-items-text-1">
            <a:extLst>
              <a:ext uri="{FF2B5EF4-FFF2-40B4-BE49-F238E27FC236}">
                <a16:creationId xmlns:a16="http://schemas.microsoft.com/office/drawing/2014/main" id="{44641D00-30F9-D1CD-7885-284F2BD69DD7}"/>
              </a:ext>
            </a:extLst>
          </p:cNvPr>
          <p:cNvSpPr txBox="1"/>
          <p:nvPr/>
        </p:nvSpPr>
        <p:spPr>
          <a:xfrm>
            <a:off x="5092700" y="3743960"/>
            <a:ext cx="2197100" cy="238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累计负面面积</a:t>
            </a:r>
          </a:p>
        </p:txBody>
      </p:sp>
      <p:sp>
        <p:nvSpPr>
          <p:cNvPr id="47" name="process-items-dot-2">
            <a:extLst>
              <a:ext uri="{FF2B5EF4-FFF2-40B4-BE49-F238E27FC236}">
                <a16:creationId xmlns:a16="http://schemas.microsoft.com/office/drawing/2014/main" id="{66578192-188A-BA77-A8CA-5BEB6EF6A1E2}"/>
              </a:ext>
            </a:extLst>
          </p:cNvPr>
          <p:cNvSpPr/>
          <p:nvPr/>
        </p:nvSpPr>
        <p:spPr>
          <a:xfrm>
            <a:off x="4914900" y="408432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process-items-text-2">
            <a:extLst>
              <a:ext uri="{FF2B5EF4-FFF2-40B4-BE49-F238E27FC236}">
                <a16:creationId xmlns:a16="http://schemas.microsoft.com/office/drawing/2014/main" id="{0E641892-F36B-2F73-FFE2-CC8A51347BBB}"/>
              </a:ext>
            </a:extLst>
          </p:cNvPr>
          <p:cNvSpPr txBox="1"/>
          <p:nvPr/>
        </p:nvSpPr>
        <p:spPr>
          <a:xfrm>
            <a:off x="5092700" y="3982720"/>
            <a:ext cx="2197100" cy="238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情绪恢复率</a:t>
            </a:r>
          </a:p>
        </p:txBody>
      </p:sp>
      <p:sp>
        <p:nvSpPr>
          <p:cNvPr id="51" name="process-items-dot-3">
            <a:extLst>
              <a:ext uri="{FF2B5EF4-FFF2-40B4-BE49-F238E27FC236}">
                <a16:creationId xmlns:a16="http://schemas.microsoft.com/office/drawing/2014/main" id="{04063887-0AEA-352C-211E-1A6FD5EB78C6}"/>
              </a:ext>
            </a:extLst>
          </p:cNvPr>
          <p:cNvSpPr/>
          <p:nvPr/>
        </p:nvSpPr>
        <p:spPr>
          <a:xfrm>
            <a:off x="4914900" y="432308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process-items-text-3">
            <a:extLst>
              <a:ext uri="{FF2B5EF4-FFF2-40B4-BE49-F238E27FC236}">
                <a16:creationId xmlns:a16="http://schemas.microsoft.com/office/drawing/2014/main" id="{F18B0E36-F267-1975-F40D-A5C3BE44DE72}"/>
              </a:ext>
            </a:extLst>
          </p:cNvPr>
          <p:cNvSpPr txBox="1"/>
          <p:nvPr/>
        </p:nvSpPr>
        <p:spPr>
          <a:xfrm>
            <a:off x="5092700" y="4221480"/>
            <a:ext cx="2197100" cy="238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效果持续轮数</a:t>
            </a:r>
          </a:p>
        </p:txBody>
      </p:sp>
      <p:sp>
        <p:nvSpPr>
          <p:cNvPr id="55" name="process-items-dot-4">
            <a:extLst>
              <a:ext uri="{FF2B5EF4-FFF2-40B4-BE49-F238E27FC236}">
                <a16:creationId xmlns:a16="http://schemas.microsoft.com/office/drawing/2014/main" id="{ED390A36-750B-73AB-6CC1-A89FAB4C5F0D}"/>
              </a:ext>
            </a:extLst>
          </p:cNvPr>
          <p:cNvSpPr/>
          <p:nvPr/>
        </p:nvSpPr>
        <p:spPr>
          <a:xfrm>
            <a:off x="4914900" y="456184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process-items-text-4">
            <a:extLst>
              <a:ext uri="{FF2B5EF4-FFF2-40B4-BE49-F238E27FC236}">
                <a16:creationId xmlns:a16="http://schemas.microsoft.com/office/drawing/2014/main" id="{27A2B1FD-5462-D0C6-0F76-381FD5986FE7}"/>
              </a:ext>
            </a:extLst>
          </p:cNvPr>
          <p:cNvSpPr txBox="1"/>
          <p:nvPr/>
        </p:nvSpPr>
        <p:spPr>
          <a:xfrm>
            <a:off x="5092700" y="4460240"/>
            <a:ext cx="2197100" cy="2387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反弹率</a:t>
            </a:r>
          </a:p>
        </p:txBody>
      </p:sp>
      <p:sp>
        <p:nvSpPr>
          <p:cNvPr id="59" name="compare-card">
            <a:extLst>
              <a:ext uri="{FF2B5EF4-FFF2-40B4-BE49-F238E27FC236}">
                <a16:creationId xmlns:a16="http://schemas.microsoft.com/office/drawing/2014/main" id="{BD3F1ADF-FB56-246F-5F99-F762B8B439E1}"/>
              </a:ext>
            </a:extLst>
          </p:cNvPr>
          <p:cNvSpPr/>
          <p:nvPr/>
        </p:nvSpPr>
        <p:spPr>
          <a:xfrm>
            <a:off x="8191500" y="2514600"/>
            <a:ext cx="2921000" cy="242570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compare-title">
            <a:extLst>
              <a:ext uri="{FF2B5EF4-FFF2-40B4-BE49-F238E27FC236}">
                <a16:creationId xmlns:a16="http://schemas.microsoft.com/office/drawing/2014/main" id="{4BC7086F-B2A9-BB40-F0E6-4D0DD302C84F}"/>
              </a:ext>
            </a:extLst>
          </p:cNvPr>
          <p:cNvSpPr txBox="1"/>
          <p:nvPr/>
        </p:nvSpPr>
        <p:spPr>
          <a:xfrm>
            <a:off x="9105900" y="2844799"/>
            <a:ext cx="18034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0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场景比较</a:t>
            </a:r>
          </a:p>
        </p:txBody>
      </p:sp>
      <p:sp>
        <p:nvSpPr>
          <p:cNvPr id="67" name="compare-items-dot-0">
            <a:extLst>
              <a:ext uri="{FF2B5EF4-FFF2-40B4-BE49-F238E27FC236}">
                <a16:creationId xmlns:a16="http://schemas.microsoft.com/office/drawing/2014/main" id="{044C9101-2415-D659-44CB-1E3F55C66532}"/>
              </a:ext>
            </a:extLst>
          </p:cNvPr>
          <p:cNvSpPr/>
          <p:nvPr/>
        </p:nvSpPr>
        <p:spPr>
          <a:xfrm>
            <a:off x="8470900" y="3606800"/>
            <a:ext cx="63500" cy="63500"/>
          </a:xfrm>
          <a:prstGeom prst="ellipse">
            <a:avLst/>
          </a:prstGeom>
          <a:solidFill>
            <a:srgbClr val="F28A2E"/>
          </a:solidFill>
          <a:ln w="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compare-items-text-0">
            <a:extLst>
              <a:ext uri="{FF2B5EF4-FFF2-40B4-BE49-F238E27FC236}">
                <a16:creationId xmlns:a16="http://schemas.microsoft.com/office/drawing/2014/main" id="{D7D8E633-3615-C05D-0A52-9A8E5C0320C9}"/>
              </a:ext>
            </a:extLst>
          </p:cNvPr>
          <p:cNvSpPr txBox="1"/>
          <p:nvPr/>
        </p:nvSpPr>
        <p:spPr>
          <a:xfrm>
            <a:off x="8648700" y="3505200"/>
            <a:ext cx="2197100" cy="3979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相对不回应的净改善</a:t>
            </a:r>
          </a:p>
        </p:txBody>
      </p:sp>
      <p:sp>
        <p:nvSpPr>
          <p:cNvPr id="75" name="compare-items-dot-1">
            <a:extLst>
              <a:ext uri="{FF2B5EF4-FFF2-40B4-BE49-F238E27FC236}">
                <a16:creationId xmlns:a16="http://schemas.microsoft.com/office/drawing/2014/main" id="{24D2F106-2181-22AA-3474-946A25580AFC}"/>
              </a:ext>
            </a:extLst>
          </p:cNvPr>
          <p:cNvSpPr/>
          <p:nvPr/>
        </p:nvSpPr>
        <p:spPr>
          <a:xfrm>
            <a:off x="8470900" y="4004733"/>
            <a:ext cx="63500" cy="63500"/>
          </a:xfrm>
          <a:prstGeom prst="ellipse">
            <a:avLst/>
          </a:prstGeom>
          <a:solidFill>
            <a:srgbClr val="F28A2E"/>
          </a:solidFill>
          <a:ln w="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compare-items-text-1">
            <a:extLst>
              <a:ext uri="{FF2B5EF4-FFF2-40B4-BE49-F238E27FC236}">
                <a16:creationId xmlns:a16="http://schemas.microsoft.com/office/drawing/2014/main" id="{C8DD6E1D-4D38-52FE-39FA-E3DC4BB25407}"/>
              </a:ext>
            </a:extLst>
          </p:cNvPr>
          <p:cNvSpPr txBox="1"/>
          <p:nvPr/>
        </p:nvSpPr>
        <p:spPr>
          <a:xfrm>
            <a:off x="8648700" y="3903133"/>
            <a:ext cx="2197100" cy="3979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并列结果如实返回</a:t>
            </a:r>
          </a:p>
        </p:txBody>
      </p:sp>
      <p:sp>
        <p:nvSpPr>
          <p:cNvPr id="79" name="compare-items-dot-2">
            <a:extLst>
              <a:ext uri="{FF2B5EF4-FFF2-40B4-BE49-F238E27FC236}">
                <a16:creationId xmlns:a16="http://schemas.microsoft.com/office/drawing/2014/main" id="{C5620036-AD97-B360-102C-7A7BEF21A5A2}"/>
              </a:ext>
            </a:extLst>
          </p:cNvPr>
          <p:cNvSpPr/>
          <p:nvPr/>
        </p:nvSpPr>
        <p:spPr>
          <a:xfrm>
            <a:off x="8470900" y="4402667"/>
            <a:ext cx="63500" cy="63500"/>
          </a:xfrm>
          <a:prstGeom prst="ellipse">
            <a:avLst/>
          </a:prstGeom>
          <a:solidFill>
            <a:srgbClr val="F28A2E"/>
          </a:solidFill>
          <a:ln w="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compare-items-text-2">
            <a:extLst>
              <a:ext uri="{FF2B5EF4-FFF2-40B4-BE49-F238E27FC236}">
                <a16:creationId xmlns:a16="http://schemas.microsoft.com/office/drawing/2014/main" id="{D7012A6B-1BC5-A58C-D748-B98EF6926667}"/>
              </a:ext>
            </a:extLst>
          </p:cNvPr>
          <p:cNvSpPr txBox="1"/>
          <p:nvPr/>
        </p:nvSpPr>
        <p:spPr>
          <a:xfrm>
            <a:off x="8648700" y="4301067"/>
            <a:ext cx="2197100" cy="3979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数据质量状态与告警</a:t>
            </a:r>
          </a:p>
        </p:txBody>
      </p:sp>
      <p:sp>
        <p:nvSpPr>
          <p:cNvPr id="83" name="metric-note">
            <a:extLst>
              <a:ext uri="{FF2B5EF4-FFF2-40B4-BE49-F238E27FC236}">
                <a16:creationId xmlns:a16="http://schemas.microsoft.com/office/drawing/2014/main" id="{71965E5B-1017-BAF0-4EC2-70D0A8DCC679}"/>
              </a:ext>
            </a:extLst>
          </p:cNvPr>
          <p:cNvSpPr/>
          <p:nvPr/>
        </p:nvSpPr>
        <p:spPr>
          <a:xfrm>
            <a:off x="3200400" y="5219700"/>
            <a:ext cx="5791200" cy="3937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C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metric-note-text">
            <a:extLst>
              <a:ext uri="{FF2B5EF4-FFF2-40B4-BE49-F238E27FC236}">
                <a16:creationId xmlns:a16="http://schemas.microsoft.com/office/drawing/2014/main" id="{FA649189-CB84-17C1-2AAB-EF07199FE47C}"/>
              </a:ext>
            </a:extLst>
          </p:cNvPr>
          <p:cNvSpPr txBox="1"/>
          <p:nvPr/>
        </p:nvSpPr>
        <p:spPr>
          <a:xfrm>
            <a:off x="3352800" y="529590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>
                <a:solidFill>
                  <a:srgbClr val="5C68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无官方声明时，质疑率和接受率标记为不适用</a:t>
            </a:r>
          </a:p>
        </p:txBody>
      </p:sp>
      <p:sp>
        <p:nvSpPr>
          <p:cNvPr id="87" name="takeaway-box">
            <a:extLst>
              <a:ext uri="{FF2B5EF4-FFF2-40B4-BE49-F238E27FC236}">
                <a16:creationId xmlns:a16="http://schemas.microsoft.com/office/drawing/2014/main" id="{E5D3C1FD-33D1-D9B4-EC4A-A9C66DBE488D}"/>
              </a:ext>
            </a:extLst>
          </p:cNvPr>
          <p:cNvSpPr/>
          <p:nvPr/>
        </p:nvSpPr>
        <p:spPr>
          <a:xfrm>
            <a:off x="2159000" y="6045200"/>
            <a:ext cx="7874000" cy="5588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BDD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takeaway-marker">
            <a:extLst>
              <a:ext uri="{FF2B5EF4-FFF2-40B4-BE49-F238E27FC236}">
                <a16:creationId xmlns:a16="http://schemas.microsoft.com/office/drawing/2014/main" id="{92448378-510A-B839-2B94-9F5F5D7BA0D3}"/>
              </a:ext>
            </a:extLst>
          </p:cNvPr>
          <p:cNvSpPr/>
          <p:nvPr/>
        </p:nvSpPr>
        <p:spPr>
          <a:xfrm>
            <a:off x="2387600" y="6159500"/>
            <a:ext cx="965200" cy="330200"/>
          </a:xfrm>
          <a:prstGeom prst="roundRect">
            <a:avLst/>
          </a:prstGeom>
          <a:solidFill>
            <a:srgbClr val="245DA8"/>
          </a:solidFill>
          <a:ln w="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takeaway-label">
            <a:extLst>
              <a:ext uri="{FF2B5EF4-FFF2-40B4-BE49-F238E27FC236}">
                <a16:creationId xmlns:a16="http://schemas.microsoft.com/office/drawing/2014/main" id="{6F53674C-7388-B21E-847E-AFC675C266B8}"/>
              </a:ext>
            </a:extLst>
          </p:cNvPr>
          <p:cNvSpPr txBox="1"/>
          <p:nvPr/>
        </p:nvSpPr>
        <p:spPr>
          <a:xfrm>
            <a:off x="2387600" y="6210300"/>
            <a:ext cx="965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关键结论</a:t>
            </a:r>
          </a:p>
        </p:txBody>
      </p:sp>
      <p:sp>
        <p:nvSpPr>
          <p:cNvPr id="93" name="takeaway-text">
            <a:extLst>
              <a:ext uri="{FF2B5EF4-FFF2-40B4-BE49-F238E27FC236}">
                <a16:creationId xmlns:a16="http://schemas.microsoft.com/office/drawing/2014/main" id="{30E1988C-0A35-6C1C-8B0D-308AD373ABA6}"/>
              </a:ext>
            </a:extLst>
          </p:cNvPr>
          <p:cNvSpPr txBox="1"/>
          <p:nvPr/>
        </p:nvSpPr>
        <p:spPr>
          <a:xfrm>
            <a:off x="3556000" y="6146799"/>
            <a:ext cx="6223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实时指标决定何时回应，全过程指标判断回应是否真正有效</a:t>
            </a:r>
          </a:p>
        </p:txBody>
      </p:sp>
      <p:sp>
        <p:nvSpPr>
          <p:cNvPr id="267" name="headline">
            <a:extLst>
              <a:ext uri="{FF2B5EF4-FFF2-40B4-BE49-F238E27FC236}">
                <a16:creationId xmlns:a16="http://schemas.microsoft.com/office/drawing/2014/main" id="{5FF50D66-1B1A-4CF7-584E-E1E6866DDE12}"/>
              </a:ext>
            </a:extLst>
          </p:cNvPr>
          <p:cNvSpPr txBox="1"/>
          <p:nvPr/>
        </p:nvSpPr>
        <p:spPr>
          <a:xfrm>
            <a:off x="2540000" y="939800"/>
            <a:ext cx="6858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7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不只看最终一轮，还评估峰值、累积压力与持续效果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8E8AB-929C-BD6E-3B31-FEE1688B1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E14018AA-EC6C-C164-727A-5E1337104801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911E58CC-2B4E-10AE-DA91-78502138DCD9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EECA87-463A-42E1-B35F-0066C0B11A72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占位符 43">
            <a:extLst>
              <a:ext uri="{FF2B5EF4-FFF2-40B4-BE49-F238E27FC236}">
                <a16:creationId xmlns:a16="http://schemas.microsoft.com/office/drawing/2014/main" id="{06A7A9CC-0DE2-27E6-1859-9ED6000E1E5A}"/>
              </a:ext>
            </a:extLst>
          </p:cNvPr>
          <p:cNvSpPr txBox="1"/>
          <p:nvPr/>
        </p:nvSpPr>
        <p:spPr>
          <a:xfrm>
            <a:off x="399891" y="349328"/>
            <a:ext cx="7096936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关键技术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混合智能</a:t>
            </a:r>
            <a:r>
              <a:rPr lang="en-US" altLang="zh-CN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明确规则边界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8BAFC508-B8CA-5A1A-6D3B-A2B40CC5BFB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4A40699-C952-3C4C-D5F8-C92AC280D51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2" name="main-canvas">
            <a:extLst>
              <a:ext uri="{FF2B5EF4-FFF2-40B4-BE49-F238E27FC236}">
                <a16:creationId xmlns:a16="http://schemas.microsoft.com/office/drawing/2014/main" id="{01755AD7-0A69-882F-804B-18027DD822F2}"/>
              </a:ext>
            </a:extLst>
          </p:cNvPr>
          <p:cNvSpPr/>
          <p:nvPr/>
        </p:nvSpPr>
        <p:spPr>
          <a:xfrm>
            <a:off x="660400" y="1422400"/>
            <a:ext cx="10871200" cy="436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8F1"/>
            </a:solidFill>
          </a:ln>
          <a:effectLst>
            <a:outerShdw blurRad="88900" dist="25400" dir="5400000" rotWithShape="0">
              <a:srgbClr val="173F5F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bridge-left">
            <a:extLst>
              <a:ext uri="{FF2B5EF4-FFF2-40B4-BE49-F238E27FC236}">
                <a16:creationId xmlns:a16="http://schemas.microsoft.com/office/drawing/2014/main" id="{15913440-4923-B81B-F125-EAD724F1BF79}"/>
              </a:ext>
            </a:extLst>
          </p:cNvPr>
          <p:cNvCxnSpPr/>
          <p:nvPr/>
        </p:nvCxnSpPr>
        <p:spPr>
          <a:xfrm>
            <a:off x="4851400" y="3517900"/>
            <a:ext cx="546100" cy="0"/>
          </a:xfrm>
          <a:prstGeom prst="line">
            <a:avLst/>
          </a:prstGeom>
          <a:ln w="29210">
            <a:solidFill>
              <a:srgbClr val="7892AD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bridge-right">
            <a:extLst>
              <a:ext uri="{FF2B5EF4-FFF2-40B4-BE49-F238E27FC236}">
                <a16:creationId xmlns:a16="http://schemas.microsoft.com/office/drawing/2014/main" id="{FF7B1848-6381-AAAD-D68C-9B26F7B56BAA}"/>
              </a:ext>
            </a:extLst>
          </p:cNvPr>
          <p:cNvCxnSpPr/>
          <p:nvPr/>
        </p:nvCxnSpPr>
        <p:spPr>
          <a:xfrm>
            <a:off x="6794500" y="3517900"/>
            <a:ext cx="546100" cy="0"/>
          </a:xfrm>
          <a:prstGeom prst="line">
            <a:avLst/>
          </a:prstGeom>
          <a:ln w="29210">
            <a:solidFill>
              <a:srgbClr val="7892AD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llm-card">
            <a:extLst>
              <a:ext uri="{FF2B5EF4-FFF2-40B4-BE49-F238E27FC236}">
                <a16:creationId xmlns:a16="http://schemas.microsoft.com/office/drawing/2014/main" id="{D0CAFF98-1EB3-50AD-E729-261D924B98B0}"/>
              </a:ext>
            </a:extLst>
          </p:cNvPr>
          <p:cNvSpPr/>
          <p:nvPr/>
        </p:nvSpPr>
        <p:spPr>
          <a:xfrm>
            <a:off x="1041400" y="1905000"/>
            <a:ext cx="3810000" cy="3111500"/>
          </a:xfrm>
          <a:prstGeom prst="roundRect">
            <a:avLst/>
          </a:prstGeom>
          <a:solidFill>
            <a:srgbClr val="F3F8FE"/>
          </a:solidFill>
          <a:ln w="12700">
            <a:solidFill>
              <a:srgbClr val="AFC9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llm-title">
            <a:extLst>
              <a:ext uri="{FF2B5EF4-FFF2-40B4-BE49-F238E27FC236}">
                <a16:creationId xmlns:a16="http://schemas.microsoft.com/office/drawing/2014/main" id="{DB5E9D64-CAB4-D754-1802-5A0C87A74180}"/>
              </a:ext>
            </a:extLst>
          </p:cNvPr>
          <p:cNvSpPr txBox="1"/>
          <p:nvPr/>
        </p:nvSpPr>
        <p:spPr>
          <a:xfrm>
            <a:off x="1816100" y="2224067"/>
            <a:ext cx="2413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</a:t>
            </a:r>
            <a:r>
              <a:rPr lang="zh-CN" altLang="en-US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语义能力</a:t>
            </a:r>
          </a:p>
        </p:txBody>
      </p:sp>
      <p:sp>
        <p:nvSpPr>
          <p:cNvPr id="11" name="llm-items-dot-0">
            <a:extLst>
              <a:ext uri="{FF2B5EF4-FFF2-40B4-BE49-F238E27FC236}">
                <a16:creationId xmlns:a16="http://schemas.microsoft.com/office/drawing/2014/main" id="{027E4872-D1B1-F946-8C33-7009B6D6EB23}"/>
              </a:ext>
            </a:extLst>
          </p:cNvPr>
          <p:cNvSpPr/>
          <p:nvPr/>
        </p:nvSpPr>
        <p:spPr>
          <a:xfrm>
            <a:off x="1371600" y="30607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llm-items-text-0">
            <a:extLst>
              <a:ext uri="{FF2B5EF4-FFF2-40B4-BE49-F238E27FC236}">
                <a16:creationId xmlns:a16="http://schemas.microsoft.com/office/drawing/2014/main" id="{57D4C903-0D99-394C-CEC8-3BBFBA1CC1C8}"/>
              </a:ext>
            </a:extLst>
          </p:cNvPr>
          <p:cNvSpPr txBox="1"/>
          <p:nvPr/>
        </p:nvSpPr>
        <p:spPr>
          <a:xfrm>
            <a:off x="1562100" y="2959099"/>
            <a:ext cx="2921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事件讨论角度规划</a:t>
            </a:r>
          </a:p>
        </p:txBody>
      </p:sp>
      <p:sp>
        <p:nvSpPr>
          <p:cNvPr id="13" name="llm-items-dot-1">
            <a:extLst>
              <a:ext uri="{FF2B5EF4-FFF2-40B4-BE49-F238E27FC236}">
                <a16:creationId xmlns:a16="http://schemas.microsoft.com/office/drawing/2014/main" id="{8912318E-BAA6-5C5F-1164-0E04A893F616}"/>
              </a:ext>
            </a:extLst>
          </p:cNvPr>
          <p:cNvSpPr/>
          <p:nvPr/>
        </p:nvSpPr>
        <p:spPr>
          <a:xfrm>
            <a:off x="1371600" y="34671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llm-items-text-1">
            <a:extLst>
              <a:ext uri="{FF2B5EF4-FFF2-40B4-BE49-F238E27FC236}">
                <a16:creationId xmlns:a16="http://schemas.microsoft.com/office/drawing/2014/main" id="{0EFB12B3-64AC-902C-AA7F-C6000D0839C5}"/>
              </a:ext>
            </a:extLst>
          </p:cNvPr>
          <p:cNvSpPr txBox="1"/>
          <p:nvPr/>
        </p:nvSpPr>
        <p:spPr>
          <a:xfrm>
            <a:off x="1562100" y="3365499"/>
            <a:ext cx="2921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初始与增量评论生成</a:t>
            </a:r>
          </a:p>
        </p:txBody>
      </p:sp>
      <p:sp>
        <p:nvSpPr>
          <p:cNvPr id="15" name="llm-items-dot-2">
            <a:extLst>
              <a:ext uri="{FF2B5EF4-FFF2-40B4-BE49-F238E27FC236}">
                <a16:creationId xmlns:a16="http://schemas.microsoft.com/office/drawing/2014/main" id="{B355D399-F3EC-C517-D31D-3D5C54E20112}"/>
              </a:ext>
            </a:extLst>
          </p:cNvPr>
          <p:cNvSpPr/>
          <p:nvPr/>
        </p:nvSpPr>
        <p:spPr>
          <a:xfrm>
            <a:off x="1371600" y="38735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llm-items-text-2">
            <a:extLst>
              <a:ext uri="{FF2B5EF4-FFF2-40B4-BE49-F238E27FC236}">
                <a16:creationId xmlns:a16="http://schemas.microsoft.com/office/drawing/2014/main" id="{8793705D-7A79-B9E5-D6AA-A1EA126CD2A3}"/>
              </a:ext>
            </a:extLst>
          </p:cNvPr>
          <p:cNvSpPr txBox="1"/>
          <p:nvPr/>
        </p:nvSpPr>
        <p:spPr>
          <a:xfrm>
            <a:off x="1562100" y="3771899"/>
            <a:ext cx="2921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认知状态判断</a:t>
            </a:r>
          </a:p>
        </p:txBody>
      </p:sp>
      <p:sp>
        <p:nvSpPr>
          <p:cNvPr id="17" name="llm-items-dot-3">
            <a:extLst>
              <a:ext uri="{FF2B5EF4-FFF2-40B4-BE49-F238E27FC236}">
                <a16:creationId xmlns:a16="http://schemas.microsoft.com/office/drawing/2014/main" id="{E94793E4-F5D2-0705-4AD3-4325B36AF8EA}"/>
              </a:ext>
            </a:extLst>
          </p:cNvPr>
          <p:cNvSpPr/>
          <p:nvPr/>
        </p:nvSpPr>
        <p:spPr>
          <a:xfrm>
            <a:off x="1371600" y="42799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llm-items-text-3">
            <a:extLst>
              <a:ext uri="{FF2B5EF4-FFF2-40B4-BE49-F238E27FC236}">
                <a16:creationId xmlns:a16="http://schemas.microsoft.com/office/drawing/2014/main" id="{1A39FABB-F800-4F05-67E8-C42841B47CA2}"/>
              </a:ext>
            </a:extLst>
          </p:cNvPr>
          <p:cNvSpPr txBox="1"/>
          <p:nvPr/>
        </p:nvSpPr>
        <p:spPr>
          <a:xfrm>
            <a:off x="1562100" y="4178299"/>
            <a:ext cx="2921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全局舆情趋势分析</a:t>
            </a:r>
          </a:p>
        </p:txBody>
      </p:sp>
      <p:sp>
        <p:nvSpPr>
          <p:cNvPr id="19" name="bridge-card">
            <a:extLst>
              <a:ext uri="{FF2B5EF4-FFF2-40B4-BE49-F238E27FC236}">
                <a16:creationId xmlns:a16="http://schemas.microsoft.com/office/drawing/2014/main" id="{A3E8548E-7C55-3555-27E0-0528DCC7DB82}"/>
              </a:ext>
            </a:extLst>
          </p:cNvPr>
          <p:cNvSpPr/>
          <p:nvPr/>
        </p:nvSpPr>
        <p:spPr>
          <a:xfrm>
            <a:off x="5397500" y="2844800"/>
            <a:ext cx="1397000" cy="134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9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json-ring">
            <a:extLst>
              <a:ext uri="{FF2B5EF4-FFF2-40B4-BE49-F238E27FC236}">
                <a16:creationId xmlns:a16="http://schemas.microsoft.com/office/drawing/2014/main" id="{3B54DD7F-DC35-CE83-AAAD-85598970F3CE}"/>
              </a:ext>
            </a:extLst>
          </p:cNvPr>
          <p:cNvSpPr/>
          <p:nvPr/>
        </p:nvSpPr>
        <p:spPr>
          <a:xfrm>
            <a:off x="5829300" y="3022600"/>
            <a:ext cx="533400" cy="533400"/>
          </a:xfrm>
          <a:prstGeom prst="ellipse">
            <a:avLst/>
          </a:prstGeom>
          <a:solidFill>
            <a:srgbClr val="EEF3F7"/>
          </a:solidFill>
          <a:ln w="16510">
            <a:solidFill>
              <a:srgbClr val="789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json-text">
            <a:extLst>
              <a:ext uri="{FF2B5EF4-FFF2-40B4-BE49-F238E27FC236}">
                <a16:creationId xmlns:a16="http://schemas.microsoft.com/office/drawing/2014/main" id="{D10070E5-97ED-6CFE-88D1-5899DEB96572}"/>
              </a:ext>
            </a:extLst>
          </p:cNvPr>
          <p:cNvSpPr txBox="1"/>
          <p:nvPr/>
        </p:nvSpPr>
        <p:spPr>
          <a:xfrm>
            <a:off x="5829300" y="3149600"/>
            <a:ext cx="533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50" b="1">
                <a:solidFill>
                  <a:srgbClr val="4E6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</a:t>
            </a:r>
            <a:endParaRPr lang="zh-CN" altLang="en-US" sz="1150" b="1">
              <a:solidFill>
                <a:srgbClr val="4E6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bridge-text">
            <a:extLst>
              <a:ext uri="{FF2B5EF4-FFF2-40B4-BE49-F238E27FC236}">
                <a16:creationId xmlns:a16="http://schemas.microsoft.com/office/drawing/2014/main" id="{A64D27CE-D4E0-1ADC-578E-5CBA093F94B1}"/>
              </a:ext>
            </a:extLst>
          </p:cNvPr>
          <p:cNvSpPr txBox="1"/>
          <p:nvPr/>
        </p:nvSpPr>
        <p:spPr>
          <a:xfrm>
            <a:off x="5524500" y="3632199"/>
            <a:ext cx="1143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4E6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结构化</a:t>
            </a:r>
            <a:r>
              <a:rPr lang="en-US" altLang="zh-CN" sz="1150" b="1">
                <a:solidFill>
                  <a:srgbClr val="4E6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
</a:t>
            </a:r>
            <a:r>
              <a:rPr lang="zh-CN" altLang="en-US" sz="1150" b="1">
                <a:solidFill>
                  <a:srgbClr val="4E6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统一接口</a:t>
            </a:r>
          </a:p>
        </p:txBody>
      </p:sp>
      <p:sp>
        <p:nvSpPr>
          <p:cNvPr id="23" name="rule-card">
            <a:extLst>
              <a:ext uri="{FF2B5EF4-FFF2-40B4-BE49-F238E27FC236}">
                <a16:creationId xmlns:a16="http://schemas.microsoft.com/office/drawing/2014/main" id="{C88D9DB7-9FAB-14F9-5B44-FD2585163D26}"/>
              </a:ext>
            </a:extLst>
          </p:cNvPr>
          <p:cNvSpPr/>
          <p:nvPr/>
        </p:nvSpPr>
        <p:spPr>
          <a:xfrm>
            <a:off x="7340600" y="1905000"/>
            <a:ext cx="3810000" cy="3111500"/>
          </a:xfrm>
          <a:prstGeom prst="roundRect">
            <a:avLst/>
          </a:prstGeom>
          <a:solidFill>
            <a:srgbClr val="F1FAF8"/>
          </a:solidFill>
          <a:ln w="12700">
            <a:solidFill>
              <a:srgbClr val="A9D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ule-title">
            <a:extLst>
              <a:ext uri="{FF2B5EF4-FFF2-40B4-BE49-F238E27FC236}">
                <a16:creationId xmlns:a16="http://schemas.microsoft.com/office/drawing/2014/main" id="{49952231-B7C2-C039-AAA8-5ED8702F5290}"/>
              </a:ext>
            </a:extLst>
          </p:cNvPr>
          <p:cNvSpPr txBox="1"/>
          <p:nvPr/>
        </p:nvSpPr>
        <p:spPr>
          <a:xfrm>
            <a:off x="8236323" y="2222573"/>
            <a:ext cx="24765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本地确定性规则</a:t>
            </a:r>
          </a:p>
        </p:txBody>
      </p:sp>
      <p:sp>
        <p:nvSpPr>
          <p:cNvPr id="27" name="rule-items-dot-0">
            <a:extLst>
              <a:ext uri="{FF2B5EF4-FFF2-40B4-BE49-F238E27FC236}">
                <a16:creationId xmlns:a16="http://schemas.microsoft.com/office/drawing/2014/main" id="{36DF4578-A501-1E83-7011-6110AC0FA142}"/>
              </a:ext>
            </a:extLst>
          </p:cNvPr>
          <p:cNvSpPr/>
          <p:nvPr/>
        </p:nvSpPr>
        <p:spPr>
          <a:xfrm>
            <a:off x="7683500" y="294640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ule-items-text-0">
            <a:extLst>
              <a:ext uri="{FF2B5EF4-FFF2-40B4-BE49-F238E27FC236}">
                <a16:creationId xmlns:a16="http://schemas.microsoft.com/office/drawing/2014/main" id="{511BFA62-AEAC-FCC1-C87B-1C42FAA4C9D7}"/>
              </a:ext>
            </a:extLst>
          </p:cNvPr>
          <p:cNvSpPr txBox="1"/>
          <p:nvPr/>
        </p:nvSpPr>
        <p:spPr>
          <a:xfrm>
            <a:off x="7874000" y="2844799"/>
            <a:ext cx="2921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</a:t>
            </a:r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与字段严格校验</a:t>
            </a:r>
          </a:p>
        </p:txBody>
      </p:sp>
      <p:sp>
        <p:nvSpPr>
          <p:cNvPr id="29" name="rule-items-dot-1">
            <a:extLst>
              <a:ext uri="{FF2B5EF4-FFF2-40B4-BE49-F238E27FC236}">
                <a16:creationId xmlns:a16="http://schemas.microsoft.com/office/drawing/2014/main" id="{D738F9CB-BC96-7399-AA72-9D422A9CA384}"/>
              </a:ext>
            </a:extLst>
          </p:cNvPr>
          <p:cNvSpPr/>
          <p:nvPr/>
        </p:nvSpPr>
        <p:spPr>
          <a:xfrm>
            <a:off x="7683500" y="331470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rule-items-text-1">
            <a:extLst>
              <a:ext uri="{FF2B5EF4-FFF2-40B4-BE49-F238E27FC236}">
                <a16:creationId xmlns:a16="http://schemas.microsoft.com/office/drawing/2014/main" id="{00431243-6717-DE25-279F-10A74B22B61D}"/>
              </a:ext>
            </a:extLst>
          </p:cNvPr>
          <p:cNvSpPr txBox="1"/>
          <p:nvPr/>
        </p:nvSpPr>
        <p:spPr>
          <a:xfrm>
            <a:off x="7874000" y="3213099"/>
            <a:ext cx="2921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个人可见评论抽样</a:t>
            </a:r>
          </a:p>
        </p:txBody>
      </p:sp>
      <p:sp>
        <p:nvSpPr>
          <p:cNvPr id="31" name="rule-items-dot-2">
            <a:extLst>
              <a:ext uri="{FF2B5EF4-FFF2-40B4-BE49-F238E27FC236}">
                <a16:creationId xmlns:a16="http://schemas.microsoft.com/office/drawing/2014/main" id="{160E281E-35D4-55EB-8222-F8D8BA51490C}"/>
              </a:ext>
            </a:extLst>
          </p:cNvPr>
          <p:cNvSpPr/>
          <p:nvPr/>
        </p:nvSpPr>
        <p:spPr>
          <a:xfrm>
            <a:off x="7683500" y="368300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rule-items-text-2">
            <a:extLst>
              <a:ext uri="{FF2B5EF4-FFF2-40B4-BE49-F238E27FC236}">
                <a16:creationId xmlns:a16="http://schemas.microsoft.com/office/drawing/2014/main" id="{291D5C25-4DBE-F2D3-63B2-5BF4EC3EA632}"/>
              </a:ext>
            </a:extLst>
          </p:cNvPr>
          <p:cNvSpPr txBox="1"/>
          <p:nvPr/>
        </p:nvSpPr>
        <p:spPr>
          <a:xfrm>
            <a:off x="7874000" y="3581399"/>
            <a:ext cx="2921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候选过滤、评分与</a:t>
            </a:r>
            <a:r>
              <a:rPr lang="en-US" altLang="zh-CN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Top3</a:t>
            </a:r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</a:t>
            </a:r>
          </a:p>
        </p:txBody>
      </p:sp>
      <p:sp>
        <p:nvSpPr>
          <p:cNvPr id="33" name="rule-items-dot-3">
            <a:extLst>
              <a:ext uri="{FF2B5EF4-FFF2-40B4-BE49-F238E27FC236}">
                <a16:creationId xmlns:a16="http://schemas.microsoft.com/office/drawing/2014/main" id="{9D24ED6E-C972-AE23-BE11-05ACF0B5455F}"/>
              </a:ext>
            </a:extLst>
          </p:cNvPr>
          <p:cNvSpPr/>
          <p:nvPr/>
        </p:nvSpPr>
        <p:spPr>
          <a:xfrm>
            <a:off x="7683500" y="405130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rule-items-text-3">
            <a:extLst>
              <a:ext uri="{FF2B5EF4-FFF2-40B4-BE49-F238E27FC236}">
                <a16:creationId xmlns:a16="http://schemas.microsoft.com/office/drawing/2014/main" id="{D854F772-0B18-79F1-CFB6-12FAF391BCDB}"/>
              </a:ext>
            </a:extLst>
          </p:cNvPr>
          <p:cNvSpPr txBox="1"/>
          <p:nvPr/>
        </p:nvSpPr>
        <p:spPr>
          <a:xfrm>
            <a:off x="7874000" y="3949699"/>
            <a:ext cx="2921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动态进场与指标计算</a:t>
            </a:r>
          </a:p>
        </p:txBody>
      </p:sp>
      <p:sp>
        <p:nvSpPr>
          <p:cNvPr id="35" name="rule-items-dot-4">
            <a:extLst>
              <a:ext uri="{FF2B5EF4-FFF2-40B4-BE49-F238E27FC236}">
                <a16:creationId xmlns:a16="http://schemas.microsoft.com/office/drawing/2014/main" id="{B9A5B7DF-AAA6-4759-E964-BF5510812FA1}"/>
              </a:ext>
            </a:extLst>
          </p:cNvPr>
          <p:cNvSpPr/>
          <p:nvPr/>
        </p:nvSpPr>
        <p:spPr>
          <a:xfrm>
            <a:off x="7683500" y="441960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ule-items-text-4">
            <a:extLst>
              <a:ext uri="{FF2B5EF4-FFF2-40B4-BE49-F238E27FC236}">
                <a16:creationId xmlns:a16="http://schemas.microsoft.com/office/drawing/2014/main" id="{CC02CC2B-3242-7102-EE40-A9338CE9FA0E}"/>
              </a:ext>
            </a:extLst>
          </p:cNvPr>
          <p:cNvSpPr txBox="1"/>
          <p:nvPr/>
        </p:nvSpPr>
        <p:spPr>
          <a:xfrm>
            <a:off x="7874000" y="4317999"/>
            <a:ext cx="2921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策略比较和并列处理</a:t>
            </a:r>
          </a:p>
        </p:txBody>
      </p:sp>
      <p:sp>
        <p:nvSpPr>
          <p:cNvPr id="39" name="takeaway-box">
            <a:extLst>
              <a:ext uri="{FF2B5EF4-FFF2-40B4-BE49-F238E27FC236}">
                <a16:creationId xmlns:a16="http://schemas.microsoft.com/office/drawing/2014/main" id="{7CE58016-674B-F83E-3A55-569A7217385D}"/>
              </a:ext>
            </a:extLst>
          </p:cNvPr>
          <p:cNvSpPr/>
          <p:nvPr/>
        </p:nvSpPr>
        <p:spPr>
          <a:xfrm>
            <a:off x="1905000" y="6045200"/>
            <a:ext cx="8382000" cy="5588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BDD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takeaway-marker">
            <a:extLst>
              <a:ext uri="{FF2B5EF4-FFF2-40B4-BE49-F238E27FC236}">
                <a16:creationId xmlns:a16="http://schemas.microsoft.com/office/drawing/2014/main" id="{385C7702-B339-7476-AFEC-ACA96EABFB12}"/>
              </a:ext>
            </a:extLst>
          </p:cNvPr>
          <p:cNvSpPr/>
          <p:nvPr/>
        </p:nvSpPr>
        <p:spPr>
          <a:xfrm>
            <a:off x="2159000" y="6159500"/>
            <a:ext cx="990600" cy="330200"/>
          </a:xfrm>
          <a:prstGeom prst="roundRect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takeaway-label">
            <a:extLst>
              <a:ext uri="{FF2B5EF4-FFF2-40B4-BE49-F238E27FC236}">
                <a16:creationId xmlns:a16="http://schemas.microsoft.com/office/drawing/2014/main" id="{0E7EEAB4-604A-104B-7EA1-0E13698E8C5D}"/>
              </a:ext>
            </a:extLst>
          </p:cNvPr>
          <p:cNvSpPr txBox="1"/>
          <p:nvPr/>
        </p:nvSpPr>
        <p:spPr>
          <a:xfrm>
            <a:off x="2159000" y="6210300"/>
            <a:ext cx="990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关键结论</a:t>
            </a:r>
          </a:p>
        </p:txBody>
      </p:sp>
      <p:sp>
        <p:nvSpPr>
          <p:cNvPr id="42" name="takeaway-text">
            <a:extLst>
              <a:ext uri="{FF2B5EF4-FFF2-40B4-BE49-F238E27FC236}">
                <a16:creationId xmlns:a16="http://schemas.microsoft.com/office/drawing/2014/main" id="{1E8DA858-E0D3-88E8-F9D4-A6FC5669CCF5}"/>
              </a:ext>
            </a:extLst>
          </p:cNvPr>
          <p:cNvSpPr txBox="1"/>
          <p:nvPr/>
        </p:nvSpPr>
        <p:spPr>
          <a:xfrm>
            <a:off x="3365500" y="6146799"/>
            <a:ext cx="66675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2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系统不是把全部判断交给大模型，而是把不确定性限制在可校验的边界内</a:t>
            </a:r>
          </a:p>
        </p:txBody>
      </p:sp>
    </p:spTree>
    <p:extLst>
      <p:ext uri="{BB962C8B-B14F-4D97-AF65-F5344CB8AC3E}">
        <p14:creationId xmlns:p14="http://schemas.microsoft.com/office/powerpoint/2010/main" val="313321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C42DD-3078-B4AC-0BA2-AB1EF306A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94583E70-2EC8-9067-BAB7-1D5B875E7AA5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0585C984-2CFC-A318-64C8-EF726F89DBBF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047E69FF-629F-B2D4-C390-F22D8239A220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占位符 43">
            <a:extLst>
              <a:ext uri="{FF2B5EF4-FFF2-40B4-BE49-F238E27FC236}">
                <a16:creationId xmlns:a16="http://schemas.microsoft.com/office/drawing/2014/main" id="{23149247-85D0-7A28-E4E1-0C52C71F4BBA}"/>
              </a:ext>
            </a:extLst>
          </p:cNvPr>
          <p:cNvSpPr txBox="1"/>
          <p:nvPr/>
        </p:nvSpPr>
        <p:spPr>
          <a:xfrm>
            <a:off x="399891" y="349328"/>
            <a:ext cx="7096936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关键技术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信息可见性</a:t>
            </a:r>
            <a:r>
              <a:rPr lang="en-US" altLang="zh-CN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模拟信息茧房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C264B8FB-20B9-4946-CC08-C923FE6DEB6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29136ED-3E89-EE97-BB17-FADA4C22BBD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24" name="headline">
            <a:extLst>
              <a:ext uri="{FF2B5EF4-FFF2-40B4-BE49-F238E27FC236}">
                <a16:creationId xmlns:a16="http://schemas.microsoft.com/office/drawing/2014/main" id="{7D389DFF-A4E1-D92A-C22A-05CFE1BE24DC}"/>
              </a:ext>
            </a:extLst>
          </p:cNvPr>
          <p:cNvSpPr txBox="1"/>
          <p:nvPr/>
        </p:nvSpPr>
        <p:spPr>
          <a:xfrm>
            <a:off x="2298700" y="935469"/>
            <a:ext cx="8255000" cy="393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72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</a:t>
            </a:r>
            <a:r>
              <a:rPr lang="en-US" altLang="zh-CN" sz="172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72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看见不同评论，信息差异来自分层抽样而不是画像标签硬编码</a:t>
            </a:r>
          </a:p>
        </p:txBody>
      </p:sp>
      <p:sp>
        <p:nvSpPr>
          <p:cNvPr id="25" name="main-canvas">
            <a:extLst>
              <a:ext uri="{FF2B5EF4-FFF2-40B4-BE49-F238E27FC236}">
                <a16:creationId xmlns:a16="http://schemas.microsoft.com/office/drawing/2014/main" id="{8D131FA3-B828-19C8-7275-4EF1968541AD}"/>
              </a:ext>
            </a:extLst>
          </p:cNvPr>
          <p:cNvSpPr/>
          <p:nvPr/>
        </p:nvSpPr>
        <p:spPr>
          <a:xfrm>
            <a:off x="660400" y="1422400"/>
            <a:ext cx="10871200" cy="436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8F1"/>
            </a:solidFill>
          </a:ln>
          <a:effectLst>
            <a:outerShdw blurRad="88900" dist="25400" dir="5400000" rotWithShape="0">
              <a:srgbClr val="173F5F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board-to-sample">
            <a:extLst>
              <a:ext uri="{FF2B5EF4-FFF2-40B4-BE49-F238E27FC236}">
                <a16:creationId xmlns:a16="http://schemas.microsoft.com/office/drawing/2014/main" id="{FA824936-CB0F-93D7-43C4-7F341F8B6711}"/>
              </a:ext>
            </a:extLst>
          </p:cNvPr>
          <p:cNvCxnSpPr/>
          <p:nvPr/>
        </p:nvCxnSpPr>
        <p:spPr>
          <a:xfrm>
            <a:off x="3784600" y="3479800"/>
            <a:ext cx="8636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ample-to-agents">
            <a:extLst>
              <a:ext uri="{FF2B5EF4-FFF2-40B4-BE49-F238E27FC236}">
                <a16:creationId xmlns:a16="http://schemas.microsoft.com/office/drawing/2014/main" id="{E2E8DB51-907C-15A6-0CF7-AE2C63C6E3CB}"/>
              </a:ext>
            </a:extLst>
          </p:cNvPr>
          <p:cNvCxnSpPr>
            <a:cxnSpLocks/>
          </p:cNvCxnSpPr>
          <p:nvPr/>
        </p:nvCxnSpPr>
        <p:spPr>
          <a:xfrm>
            <a:off x="7378700" y="3479800"/>
            <a:ext cx="901700" cy="0"/>
          </a:xfrm>
          <a:prstGeom prst="line">
            <a:avLst/>
          </a:prstGeom>
          <a:ln w="30480">
            <a:solidFill>
              <a:srgbClr val="24A59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board-card">
            <a:extLst>
              <a:ext uri="{FF2B5EF4-FFF2-40B4-BE49-F238E27FC236}">
                <a16:creationId xmlns:a16="http://schemas.microsoft.com/office/drawing/2014/main" id="{F7C37098-3CD2-0438-A9A9-2E8E18BA0E0C}"/>
              </a:ext>
            </a:extLst>
          </p:cNvPr>
          <p:cNvSpPr/>
          <p:nvPr/>
        </p:nvSpPr>
        <p:spPr>
          <a:xfrm>
            <a:off x="1016000" y="1917700"/>
            <a:ext cx="2768600" cy="3124200"/>
          </a:xfrm>
          <a:prstGeom prst="roundRect">
            <a:avLst/>
          </a:prstGeom>
          <a:solidFill>
            <a:srgbClr val="F3F8FE"/>
          </a:solidFill>
          <a:ln w="12700">
            <a:solidFill>
              <a:srgbClr val="AFC9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board-title">
            <a:extLst>
              <a:ext uri="{FF2B5EF4-FFF2-40B4-BE49-F238E27FC236}">
                <a16:creationId xmlns:a16="http://schemas.microsoft.com/office/drawing/2014/main" id="{6112E397-715B-4B57-3ADA-48ACC278E566}"/>
              </a:ext>
            </a:extLst>
          </p:cNvPr>
          <p:cNvSpPr txBox="1"/>
          <p:nvPr/>
        </p:nvSpPr>
        <p:spPr>
          <a:xfrm>
            <a:off x="1528482" y="2214191"/>
            <a:ext cx="15875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公共评论黑板</a:t>
            </a:r>
          </a:p>
        </p:txBody>
      </p:sp>
      <p:sp>
        <p:nvSpPr>
          <p:cNvPr id="47" name="board-items-dot-0">
            <a:extLst>
              <a:ext uri="{FF2B5EF4-FFF2-40B4-BE49-F238E27FC236}">
                <a16:creationId xmlns:a16="http://schemas.microsoft.com/office/drawing/2014/main" id="{53B8133A-7576-9C8D-8CDA-91B5374CAE2A}"/>
              </a:ext>
            </a:extLst>
          </p:cNvPr>
          <p:cNvSpPr/>
          <p:nvPr/>
        </p:nvSpPr>
        <p:spPr>
          <a:xfrm>
            <a:off x="1333500" y="31750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board-items-text-0">
            <a:extLst>
              <a:ext uri="{FF2B5EF4-FFF2-40B4-BE49-F238E27FC236}">
                <a16:creationId xmlns:a16="http://schemas.microsoft.com/office/drawing/2014/main" id="{14E8CBFF-3EC4-7C09-78E9-6762A0B85D02}"/>
              </a:ext>
            </a:extLst>
          </p:cNvPr>
          <p:cNvSpPr txBox="1"/>
          <p:nvPr/>
        </p:nvSpPr>
        <p:spPr>
          <a:xfrm>
            <a:off x="1524000" y="3073399"/>
            <a:ext cx="19431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当前轮增量评论</a:t>
            </a:r>
          </a:p>
        </p:txBody>
      </p:sp>
      <p:sp>
        <p:nvSpPr>
          <p:cNvPr id="49" name="board-items-dot-1">
            <a:extLst>
              <a:ext uri="{FF2B5EF4-FFF2-40B4-BE49-F238E27FC236}">
                <a16:creationId xmlns:a16="http://schemas.microsoft.com/office/drawing/2014/main" id="{C988701C-A61E-EE45-CC53-D8611C982A59}"/>
              </a:ext>
            </a:extLst>
          </p:cNvPr>
          <p:cNvSpPr/>
          <p:nvPr/>
        </p:nvSpPr>
        <p:spPr>
          <a:xfrm>
            <a:off x="1333500" y="36195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board-items-text-1">
            <a:extLst>
              <a:ext uri="{FF2B5EF4-FFF2-40B4-BE49-F238E27FC236}">
                <a16:creationId xmlns:a16="http://schemas.microsoft.com/office/drawing/2014/main" id="{7CFC1C2D-8707-B2C8-AF69-4F387C44AB65}"/>
              </a:ext>
            </a:extLst>
          </p:cNvPr>
          <p:cNvSpPr txBox="1"/>
          <p:nvPr/>
        </p:nvSpPr>
        <p:spPr>
          <a:xfrm>
            <a:off x="1524000" y="3517899"/>
            <a:ext cx="19431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此前轮次历史评论</a:t>
            </a:r>
          </a:p>
        </p:txBody>
      </p:sp>
      <p:sp>
        <p:nvSpPr>
          <p:cNvPr id="51" name="board-items-dot-2">
            <a:extLst>
              <a:ext uri="{FF2B5EF4-FFF2-40B4-BE49-F238E27FC236}">
                <a16:creationId xmlns:a16="http://schemas.microsoft.com/office/drawing/2014/main" id="{CD37CFA5-BA9F-6C2B-1CA7-C38163D552A4}"/>
              </a:ext>
            </a:extLst>
          </p:cNvPr>
          <p:cNvSpPr/>
          <p:nvPr/>
        </p:nvSpPr>
        <p:spPr>
          <a:xfrm>
            <a:off x="1333500" y="40640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board-items-text-2">
            <a:extLst>
              <a:ext uri="{FF2B5EF4-FFF2-40B4-BE49-F238E27FC236}">
                <a16:creationId xmlns:a16="http://schemas.microsoft.com/office/drawing/2014/main" id="{4A71C243-DBE1-FC73-658F-39CBEBCD9C35}"/>
              </a:ext>
            </a:extLst>
          </p:cNvPr>
          <p:cNvSpPr txBox="1"/>
          <p:nvPr/>
        </p:nvSpPr>
        <p:spPr>
          <a:xfrm>
            <a:off x="1524000" y="3962399"/>
            <a:ext cx="19431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5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官方声明与事件状态</a:t>
            </a:r>
          </a:p>
        </p:txBody>
      </p:sp>
      <p:sp>
        <p:nvSpPr>
          <p:cNvPr id="53" name="sample-card">
            <a:extLst>
              <a:ext uri="{FF2B5EF4-FFF2-40B4-BE49-F238E27FC236}">
                <a16:creationId xmlns:a16="http://schemas.microsoft.com/office/drawing/2014/main" id="{6EFD3C48-58C4-2373-9225-F3CDD31CA970}"/>
              </a:ext>
            </a:extLst>
          </p:cNvPr>
          <p:cNvSpPr/>
          <p:nvPr/>
        </p:nvSpPr>
        <p:spPr>
          <a:xfrm>
            <a:off x="4648200" y="1828800"/>
            <a:ext cx="2730500" cy="3302000"/>
          </a:xfrm>
          <a:prstGeom prst="roundRect">
            <a:avLst/>
          </a:prstGeom>
          <a:solidFill>
            <a:srgbClr val="F1FAF8"/>
          </a:solidFill>
          <a:ln w="12700">
            <a:solidFill>
              <a:srgbClr val="A9D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sample-title">
            <a:extLst>
              <a:ext uri="{FF2B5EF4-FFF2-40B4-BE49-F238E27FC236}">
                <a16:creationId xmlns:a16="http://schemas.microsoft.com/office/drawing/2014/main" id="{BA4661C3-29E9-B3B1-B913-AE44620B13F6}"/>
              </a:ext>
            </a:extLst>
          </p:cNvPr>
          <p:cNvSpPr txBox="1"/>
          <p:nvPr/>
        </p:nvSpPr>
        <p:spPr>
          <a:xfrm>
            <a:off x="4937536" y="2104912"/>
            <a:ext cx="16002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分层可见抽样</a:t>
            </a:r>
          </a:p>
        </p:txBody>
      </p:sp>
      <p:sp>
        <p:nvSpPr>
          <p:cNvPr id="57" name="sample-items-dot-0">
            <a:extLst>
              <a:ext uri="{FF2B5EF4-FFF2-40B4-BE49-F238E27FC236}">
                <a16:creationId xmlns:a16="http://schemas.microsoft.com/office/drawing/2014/main" id="{E391F58B-B395-71D5-6B4D-E45A18B6A82F}"/>
              </a:ext>
            </a:extLst>
          </p:cNvPr>
          <p:cNvSpPr/>
          <p:nvPr/>
        </p:nvSpPr>
        <p:spPr>
          <a:xfrm>
            <a:off x="4965700" y="290830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sample-items-text-0">
            <a:extLst>
              <a:ext uri="{FF2B5EF4-FFF2-40B4-BE49-F238E27FC236}">
                <a16:creationId xmlns:a16="http://schemas.microsoft.com/office/drawing/2014/main" id="{C57A6CC3-464C-6A41-93E6-69A2DD2AFF6C}"/>
              </a:ext>
            </a:extLst>
          </p:cNvPr>
          <p:cNvSpPr txBox="1"/>
          <p:nvPr/>
        </p:nvSpPr>
        <p:spPr>
          <a:xfrm>
            <a:off x="5156200" y="2806699"/>
            <a:ext cx="2006602" cy="3873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</a:t>
            </a:r>
            <a:r>
              <a:rPr lang="en-US" altLang="zh-CN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最多可见</a:t>
            </a:r>
            <a:r>
              <a:rPr lang="en-US" altLang="zh-CN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</a:t>
            </a:r>
          </a:p>
        </p:txBody>
      </p:sp>
      <p:sp>
        <p:nvSpPr>
          <p:cNvPr id="63" name="sample-items-dot-1">
            <a:extLst>
              <a:ext uri="{FF2B5EF4-FFF2-40B4-BE49-F238E27FC236}">
                <a16:creationId xmlns:a16="http://schemas.microsoft.com/office/drawing/2014/main" id="{F2F44415-E430-4168-AA3C-6EA20FE383E8}"/>
              </a:ext>
            </a:extLst>
          </p:cNvPr>
          <p:cNvSpPr/>
          <p:nvPr/>
        </p:nvSpPr>
        <p:spPr>
          <a:xfrm>
            <a:off x="4965700" y="329565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ample-items-text-1">
            <a:extLst>
              <a:ext uri="{FF2B5EF4-FFF2-40B4-BE49-F238E27FC236}">
                <a16:creationId xmlns:a16="http://schemas.microsoft.com/office/drawing/2014/main" id="{75F821C4-589F-1695-2963-44E9DA931753}"/>
              </a:ext>
            </a:extLst>
          </p:cNvPr>
          <p:cNvSpPr txBox="1"/>
          <p:nvPr/>
        </p:nvSpPr>
        <p:spPr>
          <a:xfrm>
            <a:off x="5156200" y="3194049"/>
            <a:ext cx="1917700" cy="3873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</a:t>
            </a:r>
            <a:r>
              <a:rPr lang="en-US" altLang="zh-CN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条当前轮评论</a:t>
            </a:r>
          </a:p>
        </p:txBody>
      </p:sp>
      <p:sp>
        <p:nvSpPr>
          <p:cNvPr id="65" name="sample-items-dot-2">
            <a:extLst>
              <a:ext uri="{FF2B5EF4-FFF2-40B4-BE49-F238E27FC236}">
                <a16:creationId xmlns:a16="http://schemas.microsoft.com/office/drawing/2014/main" id="{EDDB7008-6926-56F0-B1EE-0458A5B37111}"/>
              </a:ext>
            </a:extLst>
          </p:cNvPr>
          <p:cNvSpPr/>
          <p:nvPr/>
        </p:nvSpPr>
        <p:spPr>
          <a:xfrm>
            <a:off x="4965700" y="368300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sample-items-text-2">
            <a:extLst>
              <a:ext uri="{FF2B5EF4-FFF2-40B4-BE49-F238E27FC236}">
                <a16:creationId xmlns:a16="http://schemas.microsoft.com/office/drawing/2014/main" id="{06B6672A-B2DE-5EA8-8726-92C0642FCF5B}"/>
              </a:ext>
            </a:extLst>
          </p:cNvPr>
          <p:cNvSpPr txBox="1"/>
          <p:nvPr/>
        </p:nvSpPr>
        <p:spPr>
          <a:xfrm>
            <a:off x="5156200" y="3581399"/>
            <a:ext cx="1917700" cy="3873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其余抽取历史评论</a:t>
            </a:r>
          </a:p>
        </p:txBody>
      </p:sp>
      <p:sp>
        <p:nvSpPr>
          <p:cNvPr id="67" name="sample-items-dot-3">
            <a:extLst>
              <a:ext uri="{FF2B5EF4-FFF2-40B4-BE49-F238E27FC236}">
                <a16:creationId xmlns:a16="http://schemas.microsoft.com/office/drawing/2014/main" id="{BD90A221-044F-BD16-66CD-C96F1C2DF471}"/>
              </a:ext>
            </a:extLst>
          </p:cNvPr>
          <p:cNvSpPr/>
          <p:nvPr/>
        </p:nvSpPr>
        <p:spPr>
          <a:xfrm>
            <a:off x="4965700" y="407035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sample-items-text-3">
            <a:extLst>
              <a:ext uri="{FF2B5EF4-FFF2-40B4-BE49-F238E27FC236}">
                <a16:creationId xmlns:a16="http://schemas.microsoft.com/office/drawing/2014/main" id="{C221A598-3327-2F60-B2AB-E0A27B244633}"/>
              </a:ext>
            </a:extLst>
          </p:cNvPr>
          <p:cNvSpPr txBox="1"/>
          <p:nvPr/>
        </p:nvSpPr>
        <p:spPr>
          <a:xfrm>
            <a:off x="5156200" y="3968749"/>
            <a:ext cx="1917700" cy="3873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数量不足时相互补足</a:t>
            </a:r>
          </a:p>
        </p:txBody>
      </p:sp>
      <p:sp>
        <p:nvSpPr>
          <p:cNvPr id="72" name="agent-caption">
            <a:extLst>
              <a:ext uri="{FF2B5EF4-FFF2-40B4-BE49-F238E27FC236}">
                <a16:creationId xmlns:a16="http://schemas.microsoft.com/office/drawing/2014/main" id="{1BB7CC22-BF61-04C2-2C4F-7195D729B6E5}"/>
              </a:ext>
            </a:extLst>
          </p:cNvPr>
          <p:cNvSpPr txBox="1"/>
          <p:nvPr/>
        </p:nvSpPr>
        <p:spPr>
          <a:xfrm>
            <a:off x="8242300" y="1841499"/>
            <a:ext cx="2667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0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个体可见环境</a:t>
            </a:r>
          </a:p>
        </p:txBody>
      </p:sp>
      <p:sp>
        <p:nvSpPr>
          <p:cNvPr id="73" name="agent-0">
            <a:extLst>
              <a:ext uri="{FF2B5EF4-FFF2-40B4-BE49-F238E27FC236}">
                <a16:creationId xmlns:a16="http://schemas.microsoft.com/office/drawing/2014/main" id="{816E9DD2-1112-3F26-6378-3F14ABAF5C51}"/>
              </a:ext>
            </a:extLst>
          </p:cNvPr>
          <p:cNvSpPr/>
          <p:nvPr/>
        </p:nvSpPr>
        <p:spPr>
          <a:xfrm>
            <a:off x="8280400" y="2413000"/>
            <a:ext cx="25908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2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agent-name-0">
            <a:extLst>
              <a:ext uri="{FF2B5EF4-FFF2-40B4-BE49-F238E27FC236}">
                <a16:creationId xmlns:a16="http://schemas.microsoft.com/office/drawing/2014/main" id="{A359AE36-83E1-C41C-7FA2-218E03978699}"/>
              </a:ext>
            </a:extLst>
          </p:cNvPr>
          <p:cNvSpPr txBox="1"/>
          <p:nvPr/>
        </p:nvSpPr>
        <p:spPr>
          <a:xfrm>
            <a:off x="9029700" y="2578100"/>
            <a:ext cx="787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2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A</a:t>
            </a:r>
            <a:endParaRPr lang="zh-CN" altLang="en-US" sz="1220" b="1">
              <a:solidFill>
                <a:srgbClr val="173F5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6" name="agent-count-0">
            <a:extLst>
              <a:ext uri="{FF2B5EF4-FFF2-40B4-BE49-F238E27FC236}">
                <a16:creationId xmlns:a16="http://schemas.microsoft.com/office/drawing/2014/main" id="{59236537-B049-878B-D46A-4481090C17BD}"/>
              </a:ext>
            </a:extLst>
          </p:cNvPr>
          <p:cNvSpPr txBox="1"/>
          <p:nvPr/>
        </p:nvSpPr>
        <p:spPr>
          <a:xfrm>
            <a:off x="9880600" y="2578100"/>
            <a:ext cx="812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2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sz="112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条评论</a:t>
            </a:r>
          </a:p>
        </p:txBody>
      </p:sp>
      <p:sp>
        <p:nvSpPr>
          <p:cNvPr id="77" name="agent-1">
            <a:extLst>
              <a:ext uri="{FF2B5EF4-FFF2-40B4-BE49-F238E27FC236}">
                <a16:creationId xmlns:a16="http://schemas.microsoft.com/office/drawing/2014/main" id="{268BEABF-F9D7-28ED-149E-6EA6A1D8EB3B}"/>
              </a:ext>
            </a:extLst>
          </p:cNvPr>
          <p:cNvSpPr/>
          <p:nvPr/>
        </p:nvSpPr>
        <p:spPr>
          <a:xfrm>
            <a:off x="8280400" y="3276600"/>
            <a:ext cx="25908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2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agent-name-1">
            <a:extLst>
              <a:ext uri="{FF2B5EF4-FFF2-40B4-BE49-F238E27FC236}">
                <a16:creationId xmlns:a16="http://schemas.microsoft.com/office/drawing/2014/main" id="{22AC9BAC-A973-56AC-FEA3-6AB35F58E83A}"/>
              </a:ext>
            </a:extLst>
          </p:cNvPr>
          <p:cNvSpPr txBox="1"/>
          <p:nvPr/>
        </p:nvSpPr>
        <p:spPr>
          <a:xfrm>
            <a:off x="9029700" y="3441700"/>
            <a:ext cx="787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2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B</a:t>
            </a:r>
            <a:endParaRPr lang="zh-CN" altLang="en-US" sz="1220" b="1">
              <a:solidFill>
                <a:srgbClr val="173F5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0" name="agent-count-1">
            <a:extLst>
              <a:ext uri="{FF2B5EF4-FFF2-40B4-BE49-F238E27FC236}">
                <a16:creationId xmlns:a16="http://schemas.microsoft.com/office/drawing/2014/main" id="{48B5AC52-4B48-B475-0817-24693DE27B13}"/>
              </a:ext>
            </a:extLst>
          </p:cNvPr>
          <p:cNvSpPr txBox="1"/>
          <p:nvPr/>
        </p:nvSpPr>
        <p:spPr>
          <a:xfrm>
            <a:off x="9880600" y="3441700"/>
            <a:ext cx="812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2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sz="112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条评论</a:t>
            </a:r>
          </a:p>
        </p:txBody>
      </p:sp>
      <p:sp>
        <p:nvSpPr>
          <p:cNvPr id="81" name="agent-2">
            <a:extLst>
              <a:ext uri="{FF2B5EF4-FFF2-40B4-BE49-F238E27FC236}">
                <a16:creationId xmlns:a16="http://schemas.microsoft.com/office/drawing/2014/main" id="{2AAB4059-6753-900D-41AC-E2D4FEC74ADC}"/>
              </a:ext>
            </a:extLst>
          </p:cNvPr>
          <p:cNvSpPr/>
          <p:nvPr/>
        </p:nvSpPr>
        <p:spPr>
          <a:xfrm>
            <a:off x="8280400" y="4140200"/>
            <a:ext cx="25908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2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agent-name-2">
            <a:extLst>
              <a:ext uri="{FF2B5EF4-FFF2-40B4-BE49-F238E27FC236}">
                <a16:creationId xmlns:a16="http://schemas.microsoft.com/office/drawing/2014/main" id="{BDDE4A5A-B4A3-D0A4-E2CE-F2599E266E67}"/>
              </a:ext>
            </a:extLst>
          </p:cNvPr>
          <p:cNvSpPr txBox="1"/>
          <p:nvPr/>
        </p:nvSpPr>
        <p:spPr>
          <a:xfrm>
            <a:off x="9029700" y="4305300"/>
            <a:ext cx="787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2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C</a:t>
            </a:r>
            <a:endParaRPr lang="zh-CN" altLang="en-US" sz="1220" b="1">
              <a:solidFill>
                <a:srgbClr val="173F5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4" name="agent-count-2">
            <a:extLst>
              <a:ext uri="{FF2B5EF4-FFF2-40B4-BE49-F238E27FC236}">
                <a16:creationId xmlns:a16="http://schemas.microsoft.com/office/drawing/2014/main" id="{341C6120-F9EC-9DC8-587D-C5378F978779}"/>
              </a:ext>
            </a:extLst>
          </p:cNvPr>
          <p:cNvSpPr txBox="1"/>
          <p:nvPr/>
        </p:nvSpPr>
        <p:spPr>
          <a:xfrm>
            <a:off x="9880600" y="4305300"/>
            <a:ext cx="812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2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sz="112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条评论</a:t>
            </a:r>
          </a:p>
        </p:txBody>
      </p:sp>
      <p:sp>
        <p:nvSpPr>
          <p:cNvPr id="85" name="history-band">
            <a:extLst>
              <a:ext uri="{FF2B5EF4-FFF2-40B4-BE49-F238E27FC236}">
                <a16:creationId xmlns:a16="http://schemas.microsoft.com/office/drawing/2014/main" id="{9F816E5C-7D24-F3A7-61A4-220484C2B15E}"/>
              </a:ext>
            </a:extLst>
          </p:cNvPr>
          <p:cNvSpPr/>
          <p:nvPr/>
        </p:nvSpPr>
        <p:spPr>
          <a:xfrm>
            <a:off x="3408828" y="5259759"/>
            <a:ext cx="6052671" cy="355600"/>
          </a:xfrm>
          <a:prstGeom prst="roundRect">
            <a:avLst/>
          </a:prstGeom>
          <a:solidFill>
            <a:srgbClr val="FFF5E8"/>
          </a:solidFill>
          <a:ln w="12700">
            <a:solidFill>
              <a:srgbClr val="F4C4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history-title">
            <a:extLst>
              <a:ext uri="{FF2B5EF4-FFF2-40B4-BE49-F238E27FC236}">
                <a16:creationId xmlns:a16="http://schemas.microsoft.com/office/drawing/2014/main" id="{95E86133-ABAB-A110-B28D-CF6A85AEB985}"/>
              </a:ext>
            </a:extLst>
          </p:cNvPr>
          <p:cNvSpPr txBox="1"/>
          <p:nvPr/>
        </p:nvSpPr>
        <p:spPr>
          <a:xfrm>
            <a:off x="3753149" y="5306824"/>
            <a:ext cx="190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00" b="1">
                <a:solidFill>
                  <a:srgbClr val="8A4B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个人历史始终可见</a:t>
            </a:r>
          </a:p>
        </p:txBody>
      </p:sp>
      <p:sp>
        <p:nvSpPr>
          <p:cNvPr id="87" name="history-body">
            <a:extLst>
              <a:ext uri="{FF2B5EF4-FFF2-40B4-BE49-F238E27FC236}">
                <a16:creationId xmlns:a16="http://schemas.microsoft.com/office/drawing/2014/main" id="{3964181B-751C-1196-1FF2-CB94622042EC}"/>
              </a:ext>
            </a:extLst>
          </p:cNvPr>
          <p:cNvSpPr txBox="1"/>
          <p:nvPr/>
        </p:nvSpPr>
        <p:spPr>
          <a:xfrm>
            <a:off x="4394200" y="5297859"/>
            <a:ext cx="5486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该</a:t>
            </a:r>
            <a:r>
              <a:rPr lang="en-US" altLang="zh-CN" sz="125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25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此前所有实际表达单独提供给后续决策</a:t>
            </a:r>
          </a:p>
        </p:txBody>
      </p:sp>
      <p:sp>
        <p:nvSpPr>
          <p:cNvPr id="88" name="takeaway-box">
            <a:extLst>
              <a:ext uri="{FF2B5EF4-FFF2-40B4-BE49-F238E27FC236}">
                <a16:creationId xmlns:a16="http://schemas.microsoft.com/office/drawing/2014/main" id="{403FA16D-36FB-E6EB-C2E6-F01FE375814D}"/>
              </a:ext>
            </a:extLst>
          </p:cNvPr>
          <p:cNvSpPr/>
          <p:nvPr/>
        </p:nvSpPr>
        <p:spPr>
          <a:xfrm>
            <a:off x="1905000" y="6045200"/>
            <a:ext cx="8382000" cy="5588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BDD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takeaway-marker">
            <a:extLst>
              <a:ext uri="{FF2B5EF4-FFF2-40B4-BE49-F238E27FC236}">
                <a16:creationId xmlns:a16="http://schemas.microsoft.com/office/drawing/2014/main" id="{6352F74B-7569-E0CE-792C-E4CD83608CB2}"/>
              </a:ext>
            </a:extLst>
          </p:cNvPr>
          <p:cNvSpPr/>
          <p:nvPr/>
        </p:nvSpPr>
        <p:spPr>
          <a:xfrm>
            <a:off x="2159000" y="6159500"/>
            <a:ext cx="990600" cy="330200"/>
          </a:xfrm>
          <a:prstGeom prst="roundRect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takeaway-label">
            <a:extLst>
              <a:ext uri="{FF2B5EF4-FFF2-40B4-BE49-F238E27FC236}">
                <a16:creationId xmlns:a16="http://schemas.microsoft.com/office/drawing/2014/main" id="{B362FC14-981C-7FEB-0D14-32FD3246E589}"/>
              </a:ext>
            </a:extLst>
          </p:cNvPr>
          <p:cNvSpPr txBox="1"/>
          <p:nvPr/>
        </p:nvSpPr>
        <p:spPr>
          <a:xfrm>
            <a:off x="2159000" y="6210300"/>
            <a:ext cx="990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关键结论</a:t>
            </a:r>
          </a:p>
        </p:txBody>
      </p:sp>
      <p:sp>
        <p:nvSpPr>
          <p:cNvPr id="91" name="takeaway-text">
            <a:extLst>
              <a:ext uri="{FF2B5EF4-FFF2-40B4-BE49-F238E27FC236}">
                <a16:creationId xmlns:a16="http://schemas.microsoft.com/office/drawing/2014/main" id="{E54B1A72-72C2-D303-D614-E9DC39D1D13B}"/>
              </a:ext>
            </a:extLst>
          </p:cNvPr>
          <p:cNvSpPr txBox="1"/>
          <p:nvPr/>
        </p:nvSpPr>
        <p:spPr>
          <a:xfrm>
            <a:off x="3365500" y="6146799"/>
            <a:ext cx="66675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62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62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共享同一事件事实，但接触到的舆论样本并不完全相同</a:t>
            </a:r>
          </a:p>
        </p:txBody>
      </p:sp>
      <p:pic>
        <p:nvPicPr>
          <p:cNvPr id="96" name="simulation-icon-2">
            <a:extLst>
              <a:ext uri="{FF2B5EF4-FFF2-40B4-BE49-F238E27FC236}">
                <a16:creationId xmlns:a16="http://schemas.microsoft.com/office/drawing/2014/main" id="{04804FAF-7393-8161-C822-09A7BF99743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300" y="3342059"/>
            <a:ext cx="571500" cy="571500"/>
          </a:xfrm>
          <a:prstGeom prst="rect">
            <a:avLst/>
          </a:prstGeom>
        </p:spPr>
      </p:pic>
      <p:pic>
        <p:nvPicPr>
          <p:cNvPr id="98" name="simulation-icon-2">
            <a:extLst>
              <a:ext uri="{FF2B5EF4-FFF2-40B4-BE49-F238E27FC236}">
                <a16:creationId xmlns:a16="http://schemas.microsoft.com/office/drawing/2014/main" id="{74C4C31C-F976-EF8D-46C0-4E00EC8CB490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300" y="2443330"/>
            <a:ext cx="571500" cy="571500"/>
          </a:xfrm>
          <a:prstGeom prst="rect">
            <a:avLst/>
          </a:prstGeom>
        </p:spPr>
      </p:pic>
      <p:pic>
        <p:nvPicPr>
          <p:cNvPr id="100" name="simulation-icon-2">
            <a:extLst>
              <a:ext uri="{FF2B5EF4-FFF2-40B4-BE49-F238E27FC236}">
                <a16:creationId xmlns:a16="http://schemas.microsoft.com/office/drawing/2014/main" id="{249C92C7-BBC6-EA09-6526-F145899AC330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700" y="4184650"/>
            <a:ext cx="5715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7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E5182-2F37-61DB-30B9-CFD3C3279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76F77EAA-61F2-7613-1CF5-19C61C74C8A2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40358D7F-966E-E038-F36F-D5FF5A151324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274CC8B5-E41B-C7A8-8B92-BE939C7010D4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占位符 43">
            <a:extLst>
              <a:ext uri="{FF2B5EF4-FFF2-40B4-BE49-F238E27FC236}">
                <a16:creationId xmlns:a16="http://schemas.microsoft.com/office/drawing/2014/main" id="{D5B188A9-0F94-9EDF-9B33-415981A4D5EE}"/>
              </a:ext>
            </a:extLst>
          </p:cNvPr>
          <p:cNvSpPr txBox="1"/>
          <p:nvPr/>
        </p:nvSpPr>
        <p:spPr>
          <a:xfrm>
            <a:off x="399891" y="349328"/>
            <a:ext cx="7096936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关键技术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记忆</a:t>
            </a:r>
            <a:r>
              <a:rPr lang="en-US" altLang="zh-CN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形成同一事件内记忆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6D316EBC-7A18-F5E3-D090-FF365DD796A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6AD0F14-87F1-2352-DCAF-2234168F1D4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4" name="headline">
            <a:extLst>
              <a:ext uri="{FF2B5EF4-FFF2-40B4-BE49-F238E27FC236}">
                <a16:creationId xmlns:a16="http://schemas.microsoft.com/office/drawing/2014/main" id="{EB29787F-7E60-9D4C-12D9-C757559F0A16}"/>
              </a:ext>
            </a:extLst>
          </p:cNvPr>
          <p:cNvSpPr txBox="1"/>
          <p:nvPr/>
        </p:nvSpPr>
        <p:spPr>
          <a:xfrm>
            <a:off x="1905000" y="927099"/>
            <a:ext cx="8255000" cy="393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2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72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不仅读取当前舆情，还携带同一事件内的连续状态与个人表达历史</a:t>
            </a:r>
          </a:p>
        </p:txBody>
      </p:sp>
      <p:sp>
        <p:nvSpPr>
          <p:cNvPr id="5" name="main-canvas">
            <a:extLst>
              <a:ext uri="{FF2B5EF4-FFF2-40B4-BE49-F238E27FC236}">
                <a16:creationId xmlns:a16="http://schemas.microsoft.com/office/drawing/2014/main" id="{5CDE9713-A4F6-BCEF-AA12-934A4587FB84}"/>
              </a:ext>
            </a:extLst>
          </p:cNvPr>
          <p:cNvSpPr/>
          <p:nvPr/>
        </p:nvSpPr>
        <p:spPr>
          <a:xfrm>
            <a:off x="660400" y="1422400"/>
            <a:ext cx="10871200" cy="436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8F1"/>
            </a:solidFill>
          </a:ln>
          <a:effectLst>
            <a:outerShdw blurRad="88900" dist="25400" dir="5400000" rotWithShape="0">
              <a:srgbClr val="173F5F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step-circle-0">
            <a:extLst>
              <a:ext uri="{FF2B5EF4-FFF2-40B4-BE49-F238E27FC236}">
                <a16:creationId xmlns:a16="http://schemas.microsoft.com/office/drawing/2014/main" id="{86F476B7-EE85-7D1A-69FE-73EFA4F56175}"/>
              </a:ext>
            </a:extLst>
          </p:cNvPr>
          <p:cNvSpPr/>
          <p:nvPr/>
        </p:nvSpPr>
        <p:spPr>
          <a:xfrm>
            <a:off x="1714500" y="2146300"/>
            <a:ext cx="584200" cy="5842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tep-text-0">
            <a:extLst>
              <a:ext uri="{FF2B5EF4-FFF2-40B4-BE49-F238E27FC236}">
                <a16:creationId xmlns:a16="http://schemas.microsoft.com/office/drawing/2014/main" id="{5A5A172E-98A3-ABB4-C488-0259AC4B3A90}"/>
              </a:ext>
            </a:extLst>
          </p:cNvPr>
          <p:cNvSpPr txBox="1"/>
          <p:nvPr/>
        </p:nvSpPr>
        <p:spPr>
          <a:xfrm>
            <a:off x="1612900" y="2298700"/>
            <a:ext cx="787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25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25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</a:t>
            </a:r>
          </a:p>
        </p:txBody>
      </p:sp>
      <p:sp>
        <p:nvSpPr>
          <p:cNvPr id="12" name="step-circle-1">
            <a:extLst>
              <a:ext uri="{FF2B5EF4-FFF2-40B4-BE49-F238E27FC236}">
                <a16:creationId xmlns:a16="http://schemas.microsoft.com/office/drawing/2014/main" id="{5D28F994-CCC5-FDB0-5A27-6789FAB42534}"/>
              </a:ext>
            </a:extLst>
          </p:cNvPr>
          <p:cNvSpPr/>
          <p:nvPr/>
        </p:nvSpPr>
        <p:spPr>
          <a:xfrm>
            <a:off x="3810000" y="2146300"/>
            <a:ext cx="584200" cy="5842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step-text-1">
            <a:extLst>
              <a:ext uri="{FF2B5EF4-FFF2-40B4-BE49-F238E27FC236}">
                <a16:creationId xmlns:a16="http://schemas.microsoft.com/office/drawing/2014/main" id="{1D7C30F0-796E-97D4-558F-165729A7E3DC}"/>
              </a:ext>
            </a:extLst>
          </p:cNvPr>
          <p:cNvSpPr txBox="1"/>
          <p:nvPr/>
        </p:nvSpPr>
        <p:spPr>
          <a:xfrm>
            <a:off x="3708400" y="2298700"/>
            <a:ext cx="787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25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25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20E2AED1-B8AF-7CBD-F3F2-487165D83B48}"/>
              </a:ext>
            </a:extLst>
          </p:cNvPr>
          <p:cNvSpPr/>
          <p:nvPr/>
        </p:nvSpPr>
        <p:spPr>
          <a:xfrm>
            <a:off x="5905500" y="2146300"/>
            <a:ext cx="584200" cy="58420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step-text-2">
            <a:extLst>
              <a:ext uri="{FF2B5EF4-FFF2-40B4-BE49-F238E27FC236}">
                <a16:creationId xmlns:a16="http://schemas.microsoft.com/office/drawing/2014/main" id="{8BCD96A5-5BF3-086A-F171-553570B0960E}"/>
              </a:ext>
            </a:extLst>
          </p:cNvPr>
          <p:cNvSpPr txBox="1"/>
          <p:nvPr/>
        </p:nvSpPr>
        <p:spPr>
          <a:xfrm>
            <a:off x="5803900" y="2298700"/>
            <a:ext cx="787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25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25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</a:t>
            </a:r>
          </a:p>
        </p:txBody>
      </p:sp>
      <p:sp>
        <p:nvSpPr>
          <p:cNvPr id="16" name="state-title">
            <a:extLst>
              <a:ext uri="{FF2B5EF4-FFF2-40B4-BE49-F238E27FC236}">
                <a16:creationId xmlns:a16="http://schemas.microsoft.com/office/drawing/2014/main" id="{C752ADE9-5F57-3FFD-2636-6C597C5AF7B3}"/>
              </a:ext>
            </a:extLst>
          </p:cNvPr>
          <p:cNvSpPr txBox="1"/>
          <p:nvPr/>
        </p:nvSpPr>
        <p:spPr>
          <a:xfrm>
            <a:off x="1168400" y="2997199"/>
            <a:ext cx="2133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0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逐轮状态</a:t>
            </a:r>
          </a:p>
        </p:txBody>
      </p:sp>
      <p:sp>
        <p:nvSpPr>
          <p:cNvPr id="17" name="state-items-dot-0">
            <a:extLst>
              <a:ext uri="{FF2B5EF4-FFF2-40B4-BE49-F238E27FC236}">
                <a16:creationId xmlns:a16="http://schemas.microsoft.com/office/drawing/2014/main" id="{49458B85-4392-9D16-13B5-591FC92673D9}"/>
              </a:ext>
            </a:extLst>
          </p:cNvPr>
          <p:cNvSpPr/>
          <p:nvPr/>
        </p:nvSpPr>
        <p:spPr>
          <a:xfrm>
            <a:off x="1219200" y="35941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state-items-text-0">
            <a:extLst>
              <a:ext uri="{FF2B5EF4-FFF2-40B4-BE49-F238E27FC236}">
                <a16:creationId xmlns:a16="http://schemas.microsoft.com/office/drawing/2014/main" id="{0D26A940-1F75-FB73-0B43-35F1E1703683}"/>
              </a:ext>
            </a:extLst>
          </p:cNvPr>
          <p:cNvSpPr txBox="1"/>
          <p:nvPr/>
        </p:nvSpPr>
        <p:spPr>
          <a:xfrm>
            <a:off x="1409700" y="3492499"/>
            <a:ext cx="2095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当前情绪</a:t>
            </a:r>
          </a:p>
        </p:txBody>
      </p:sp>
      <p:sp>
        <p:nvSpPr>
          <p:cNvPr id="19" name="state-items-dot-1">
            <a:extLst>
              <a:ext uri="{FF2B5EF4-FFF2-40B4-BE49-F238E27FC236}">
                <a16:creationId xmlns:a16="http://schemas.microsoft.com/office/drawing/2014/main" id="{A436E9C3-DDC6-D9D0-152C-B5FBEF7A0AA2}"/>
              </a:ext>
            </a:extLst>
          </p:cNvPr>
          <p:cNvSpPr/>
          <p:nvPr/>
        </p:nvSpPr>
        <p:spPr>
          <a:xfrm>
            <a:off x="1219200" y="39497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state-items-text-1">
            <a:extLst>
              <a:ext uri="{FF2B5EF4-FFF2-40B4-BE49-F238E27FC236}">
                <a16:creationId xmlns:a16="http://schemas.microsoft.com/office/drawing/2014/main" id="{1048F2E9-9882-C1AB-6B5C-F14AD972A4BA}"/>
              </a:ext>
            </a:extLst>
          </p:cNvPr>
          <p:cNvSpPr txBox="1"/>
          <p:nvPr/>
        </p:nvSpPr>
        <p:spPr>
          <a:xfrm>
            <a:off x="1409700" y="3848099"/>
            <a:ext cx="2095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对官方态度</a:t>
            </a:r>
          </a:p>
        </p:txBody>
      </p:sp>
      <p:sp>
        <p:nvSpPr>
          <p:cNvPr id="21" name="state-items-dot-2">
            <a:extLst>
              <a:ext uri="{FF2B5EF4-FFF2-40B4-BE49-F238E27FC236}">
                <a16:creationId xmlns:a16="http://schemas.microsoft.com/office/drawing/2014/main" id="{6BE5D4AD-251C-1823-95EB-F04EDBCA058D}"/>
              </a:ext>
            </a:extLst>
          </p:cNvPr>
          <p:cNvSpPr/>
          <p:nvPr/>
        </p:nvSpPr>
        <p:spPr>
          <a:xfrm>
            <a:off x="1219200" y="43053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state-items-text-2">
            <a:extLst>
              <a:ext uri="{FF2B5EF4-FFF2-40B4-BE49-F238E27FC236}">
                <a16:creationId xmlns:a16="http://schemas.microsoft.com/office/drawing/2014/main" id="{A82DEE2C-8B65-0FC3-1497-CA1A4F8FA3B4}"/>
              </a:ext>
            </a:extLst>
          </p:cNvPr>
          <p:cNvSpPr txBox="1"/>
          <p:nvPr/>
        </p:nvSpPr>
        <p:spPr>
          <a:xfrm>
            <a:off x="1409700" y="4203699"/>
            <a:ext cx="2095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是否评论</a:t>
            </a:r>
          </a:p>
        </p:txBody>
      </p:sp>
      <p:sp>
        <p:nvSpPr>
          <p:cNvPr id="23" name="state-items-dot-3">
            <a:extLst>
              <a:ext uri="{FF2B5EF4-FFF2-40B4-BE49-F238E27FC236}">
                <a16:creationId xmlns:a16="http://schemas.microsoft.com/office/drawing/2014/main" id="{72624AA9-D092-F406-7B53-52C93C212470}"/>
              </a:ext>
            </a:extLst>
          </p:cNvPr>
          <p:cNvSpPr/>
          <p:nvPr/>
        </p:nvSpPr>
        <p:spPr>
          <a:xfrm>
            <a:off x="1219200" y="46609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tate-items-text-3">
            <a:extLst>
              <a:ext uri="{FF2B5EF4-FFF2-40B4-BE49-F238E27FC236}">
                <a16:creationId xmlns:a16="http://schemas.microsoft.com/office/drawing/2014/main" id="{201F03BA-8637-A313-2117-BDEE5F7B12B8}"/>
              </a:ext>
            </a:extLst>
          </p:cNvPr>
          <p:cNvSpPr txBox="1"/>
          <p:nvPr/>
        </p:nvSpPr>
        <p:spPr>
          <a:xfrm>
            <a:off x="1409700" y="4559299"/>
            <a:ext cx="2095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2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最终表达</a:t>
            </a:r>
          </a:p>
        </p:txBody>
      </p:sp>
      <p:cxnSp>
        <p:nvCxnSpPr>
          <p:cNvPr id="27" name="history-arrow">
            <a:extLst>
              <a:ext uri="{FF2B5EF4-FFF2-40B4-BE49-F238E27FC236}">
                <a16:creationId xmlns:a16="http://schemas.microsoft.com/office/drawing/2014/main" id="{9FD32C26-E24C-8227-F72C-B2023B6AC4B3}"/>
              </a:ext>
            </a:extLst>
          </p:cNvPr>
          <p:cNvCxnSpPr>
            <a:cxnSpLocks/>
          </p:cNvCxnSpPr>
          <p:nvPr/>
        </p:nvCxnSpPr>
        <p:spPr>
          <a:xfrm>
            <a:off x="6642100" y="2457823"/>
            <a:ext cx="1435100" cy="25400"/>
          </a:xfrm>
          <a:prstGeom prst="line">
            <a:avLst/>
          </a:prstGeom>
          <a:ln w="30480">
            <a:solidFill>
              <a:srgbClr val="24A59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ummary-card">
            <a:extLst>
              <a:ext uri="{FF2B5EF4-FFF2-40B4-BE49-F238E27FC236}">
                <a16:creationId xmlns:a16="http://schemas.microsoft.com/office/drawing/2014/main" id="{ADAF5C14-CEEF-608A-8D48-02D357391472}"/>
              </a:ext>
            </a:extLst>
          </p:cNvPr>
          <p:cNvSpPr/>
          <p:nvPr/>
        </p:nvSpPr>
        <p:spPr>
          <a:xfrm>
            <a:off x="8026400" y="1828800"/>
            <a:ext cx="2870200" cy="3136900"/>
          </a:xfrm>
          <a:prstGeom prst="roundRect">
            <a:avLst/>
          </a:prstGeom>
          <a:solidFill>
            <a:srgbClr val="F1FAF8"/>
          </a:solidFill>
          <a:ln w="12700">
            <a:solidFill>
              <a:srgbClr val="A9D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summary-title">
            <a:extLst>
              <a:ext uri="{FF2B5EF4-FFF2-40B4-BE49-F238E27FC236}">
                <a16:creationId xmlns:a16="http://schemas.microsoft.com/office/drawing/2014/main" id="{551EB67F-D64B-7B24-B037-335472943F84}"/>
              </a:ext>
            </a:extLst>
          </p:cNvPr>
          <p:cNvSpPr txBox="1"/>
          <p:nvPr/>
        </p:nvSpPr>
        <p:spPr>
          <a:xfrm>
            <a:off x="8991600" y="2146299"/>
            <a:ext cx="1651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历史摘要</a:t>
            </a:r>
          </a:p>
        </p:txBody>
      </p:sp>
      <p:sp>
        <p:nvSpPr>
          <p:cNvPr id="32" name="summary-items-dot-0">
            <a:extLst>
              <a:ext uri="{FF2B5EF4-FFF2-40B4-BE49-F238E27FC236}">
                <a16:creationId xmlns:a16="http://schemas.microsoft.com/office/drawing/2014/main" id="{75E5DB89-55EB-6CF2-AB17-7CF921FF6F81}"/>
              </a:ext>
            </a:extLst>
          </p:cNvPr>
          <p:cNvSpPr/>
          <p:nvPr/>
        </p:nvSpPr>
        <p:spPr>
          <a:xfrm>
            <a:off x="8318500" y="297180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summary-items-text-0">
            <a:extLst>
              <a:ext uri="{FF2B5EF4-FFF2-40B4-BE49-F238E27FC236}">
                <a16:creationId xmlns:a16="http://schemas.microsoft.com/office/drawing/2014/main" id="{6EABA85C-E4B3-27B8-4F1B-CDA02C2B5852}"/>
              </a:ext>
            </a:extLst>
          </p:cNvPr>
          <p:cNvSpPr txBox="1"/>
          <p:nvPr/>
        </p:nvSpPr>
        <p:spPr>
          <a:xfrm>
            <a:off x="8509000" y="2870199"/>
            <a:ext cx="2095500" cy="412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情绪转换次数与最近变化轮次</a:t>
            </a:r>
          </a:p>
        </p:txBody>
      </p:sp>
      <p:sp>
        <p:nvSpPr>
          <p:cNvPr id="34" name="summary-items-dot-1">
            <a:extLst>
              <a:ext uri="{FF2B5EF4-FFF2-40B4-BE49-F238E27FC236}">
                <a16:creationId xmlns:a16="http://schemas.microsoft.com/office/drawing/2014/main" id="{165961F0-32AE-9FE9-3CE5-52FA0EF3C6C9}"/>
              </a:ext>
            </a:extLst>
          </p:cNvPr>
          <p:cNvSpPr/>
          <p:nvPr/>
        </p:nvSpPr>
        <p:spPr>
          <a:xfrm>
            <a:off x="8318500" y="338455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ummary-items-text-1">
            <a:extLst>
              <a:ext uri="{FF2B5EF4-FFF2-40B4-BE49-F238E27FC236}">
                <a16:creationId xmlns:a16="http://schemas.microsoft.com/office/drawing/2014/main" id="{112C7D2D-E18B-6878-52CE-FADBEED88A64}"/>
              </a:ext>
            </a:extLst>
          </p:cNvPr>
          <p:cNvSpPr txBox="1"/>
          <p:nvPr/>
        </p:nvSpPr>
        <p:spPr>
          <a:xfrm>
            <a:off x="8509000" y="3282949"/>
            <a:ext cx="2095500" cy="412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最新官方态度</a:t>
            </a:r>
          </a:p>
        </p:txBody>
      </p:sp>
      <p:sp>
        <p:nvSpPr>
          <p:cNvPr id="36" name="summary-items-dot-2">
            <a:extLst>
              <a:ext uri="{FF2B5EF4-FFF2-40B4-BE49-F238E27FC236}">
                <a16:creationId xmlns:a16="http://schemas.microsoft.com/office/drawing/2014/main" id="{E7130C82-D8DD-9AE4-DA0A-AD58410AA5DD}"/>
              </a:ext>
            </a:extLst>
          </p:cNvPr>
          <p:cNvSpPr/>
          <p:nvPr/>
        </p:nvSpPr>
        <p:spPr>
          <a:xfrm>
            <a:off x="8318500" y="379730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ummary-items-text-2">
            <a:extLst>
              <a:ext uri="{FF2B5EF4-FFF2-40B4-BE49-F238E27FC236}">
                <a16:creationId xmlns:a16="http://schemas.microsoft.com/office/drawing/2014/main" id="{9011F270-631C-0991-5009-20230690D8C2}"/>
              </a:ext>
            </a:extLst>
          </p:cNvPr>
          <p:cNvSpPr txBox="1"/>
          <p:nvPr/>
        </p:nvSpPr>
        <p:spPr>
          <a:xfrm>
            <a:off x="8509000" y="3695699"/>
            <a:ext cx="2095500" cy="412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评论次数与派系分布</a:t>
            </a:r>
          </a:p>
        </p:txBody>
      </p:sp>
      <p:sp>
        <p:nvSpPr>
          <p:cNvPr id="40" name="summary-items-dot-3">
            <a:extLst>
              <a:ext uri="{FF2B5EF4-FFF2-40B4-BE49-F238E27FC236}">
                <a16:creationId xmlns:a16="http://schemas.microsoft.com/office/drawing/2014/main" id="{23C7C438-6400-DCE1-8317-7C0D82F33772}"/>
              </a:ext>
            </a:extLst>
          </p:cNvPr>
          <p:cNvSpPr/>
          <p:nvPr/>
        </p:nvSpPr>
        <p:spPr>
          <a:xfrm>
            <a:off x="8318500" y="421005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summary-items-text-3">
            <a:extLst>
              <a:ext uri="{FF2B5EF4-FFF2-40B4-BE49-F238E27FC236}">
                <a16:creationId xmlns:a16="http://schemas.microsoft.com/office/drawing/2014/main" id="{0A3B987B-10D8-4C72-3164-2B101A8A5D88}"/>
              </a:ext>
            </a:extLst>
          </p:cNvPr>
          <p:cNvSpPr txBox="1"/>
          <p:nvPr/>
        </p:nvSpPr>
        <p:spPr>
          <a:xfrm>
            <a:off x="8509000" y="4108449"/>
            <a:ext cx="2095500" cy="412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此前全部个人评论</a:t>
            </a:r>
          </a:p>
        </p:txBody>
      </p:sp>
      <p:sp>
        <p:nvSpPr>
          <p:cNvPr id="42" name="next-decision">
            <a:extLst>
              <a:ext uri="{FF2B5EF4-FFF2-40B4-BE49-F238E27FC236}">
                <a16:creationId xmlns:a16="http://schemas.microsoft.com/office/drawing/2014/main" id="{BC0F8ACD-2863-C136-C1B1-DCBD8879E5FC}"/>
              </a:ext>
            </a:extLst>
          </p:cNvPr>
          <p:cNvSpPr/>
          <p:nvPr/>
        </p:nvSpPr>
        <p:spPr>
          <a:xfrm>
            <a:off x="4165600" y="3416300"/>
            <a:ext cx="3200400" cy="11938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BDD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next-label">
            <a:extLst>
              <a:ext uri="{FF2B5EF4-FFF2-40B4-BE49-F238E27FC236}">
                <a16:creationId xmlns:a16="http://schemas.microsoft.com/office/drawing/2014/main" id="{AB1CAA6B-17B1-5C3E-20F5-34F45A667347}"/>
              </a:ext>
            </a:extLst>
          </p:cNvPr>
          <p:cNvSpPr txBox="1"/>
          <p:nvPr/>
        </p:nvSpPr>
        <p:spPr>
          <a:xfrm>
            <a:off x="4406900" y="3632199"/>
            <a:ext cx="27178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50" b="1">
                <a:solidFill>
                  <a:srgbClr val="245D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下一轮决策</a:t>
            </a:r>
          </a:p>
        </p:txBody>
      </p:sp>
      <p:sp>
        <p:nvSpPr>
          <p:cNvPr id="45" name="next-body">
            <a:extLst>
              <a:ext uri="{FF2B5EF4-FFF2-40B4-BE49-F238E27FC236}">
                <a16:creationId xmlns:a16="http://schemas.microsoft.com/office/drawing/2014/main" id="{EA684FEC-F2C6-6083-6FA1-800C129D4521}"/>
              </a:ext>
            </a:extLst>
          </p:cNvPr>
          <p:cNvSpPr txBox="1"/>
          <p:nvPr/>
        </p:nvSpPr>
        <p:spPr>
          <a:xfrm>
            <a:off x="4406900" y="4063999"/>
            <a:ext cx="2717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最近状态 </a:t>
            </a:r>
            <a:r>
              <a:rPr lang="en-US" altLang="zh-CN" sz="13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3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历史摘要 </a:t>
            </a:r>
            <a:r>
              <a:rPr lang="en-US" altLang="zh-CN" sz="13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3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本轮可见信息</a:t>
            </a:r>
          </a:p>
        </p:txBody>
      </p:sp>
      <p:cxnSp>
        <p:nvCxnSpPr>
          <p:cNvPr id="54" name="summary-to-next">
            <a:extLst>
              <a:ext uri="{FF2B5EF4-FFF2-40B4-BE49-F238E27FC236}">
                <a16:creationId xmlns:a16="http://schemas.microsoft.com/office/drawing/2014/main" id="{0C9D08E2-2FC9-E831-F162-6E3CFDEEAEFE}"/>
              </a:ext>
            </a:extLst>
          </p:cNvPr>
          <p:cNvCxnSpPr/>
          <p:nvPr/>
        </p:nvCxnSpPr>
        <p:spPr>
          <a:xfrm flipH="1">
            <a:off x="7366000" y="4140200"/>
            <a:ext cx="660400" cy="0"/>
          </a:xfrm>
          <a:prstGeom prst="line">
            <a:avLst/>
          </a:prstGeom>
          <a:ln w="30480">
            <a:solidFill>
              <a:srgbClr val="24A59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akeaway-box">
            <a:extLst>
              <a:ext uri="{FF2B5EF4-FFF2-40B4-BE49-F238E27FC236}">
                <a16:creationId xmlns:a16="http://schemas.microsoft.com/office/drawing/2014/main" id="{F3DA0508-74DF-057B-340F-74055122E795}"/>
              </a:ext>
            </a:extLst>
          </p:cNvPr>
          <p:cNvSpPr/>
          <p:nvPr/>
        </p:nvSpPr>
        <p:spPr>
          <a:xfrm>
            <a:off x="1905000" y="6045200"/>
            <a:ext cx="8382000" cy="558800"/>
          </a:xfrm>
          <a:prstGeom prst="roundRect">
            <a:avLst/>
          </a:prstGeom>
          <a:solidFill>
            <a:srgbClr val="EAF7F5"/>
          </a:solidFill>
          <a:ln w="12700">
            <a:solidFill>
              <a:srgbClr val="A9D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takeaway-marker">
            <a:extLst>
              <a:ext uri="{FF2B5EF4-FFF2-40B4-BE49-F238E27FC236}">
                <a16:creationId xmlns:a16="http://schemas.microsoft.com/office/drawing/2014/main" id="{D590EF94-1F67-AC3C-AFB0-81B53A563FC1}"/>
              </a:ext>
            </a:extLst>
          </p:cNvPr>
          <p:cNvSpPr/>
          <p:nvPr/>
        </p:nvSpPr>
        <p:spPr>
          <a:xfrm>
            <a:off x="2159000" y="6159500"/>
            <a:ext cx="990600" cy="330200"/>
          </a:xfrm>
          <a:prstGeom prst="roundRect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takeaway-label">
            <a:extLst>
              <a:ext uri="{FF2B5EF4-FFF2-40B4-BE49-F238E27FC236}">
                <a16:creationId xmlns:a16="http://schemas.microsoft.com/office/drawing/2014/main" id="{B07896F6-1013-6B23-6912-47918B87A966}"/>
              </a:ext>
            </a:extLst>
          </p:cNvPr>
          <p:cNvSpPr txBox="1"/>
          <p:nvPr/>
        </p:nvSpPr>
        <p:spPr>
          <a:xfrm>
            <a:off x="2159000" y="6210300"/>
            <a:ext cx="990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关键结论</a:t>
            </a:r>
          </a:p>
        </p:txBody>
      </p:sp>
      <p:sp>
        <p:nvSpPr>
          <p:cNvPr id="71" name="takeaway-text">
            <a:extLst>
              <a:ext uri="{FF2B5EF4-FFF2-40B4-BE49-F238E27FC236}">
                <a16:creationId xmlns:a16="http://schemas.microsoft.com/office/drawing/2014/main" id="{2C72229A-D3BA-BF45-06CF-8487DDE5F169}"/>
              </a:ext>
            </a:extLst>
          </p:cNvPr>
          <p:cNvSpPr txBox="1"/>
          <p:nvPr/>
        </p:nvSpPr>
        <p:spPr>
          <a:xfrm>
            <a:off x="3365500" y="6146799"/>
            <a:ext cx="66675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2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历史不是简单重复输入，而是被压缩为可解释的状态摘要参与下一轮判断</a:t>
            </a:r>
          </a:p>
        </p:txBody>
      </p:sp>
      <p:cxnSp>
        <p:nvCxnSpPr>
          <p:cNvPr id="78" name="history-arrow">
            <a:extLst>
              <a:ext uri="{FF2B5EF4-FFF2-40B4-BE49-F238E27FC236}">
                <a16:creationId xmlns:a16="http://schemas.microsoft.com/office/drawing/2014/main" id="{0948EE92-C6FE-2B89-E202-2B5A869FFC2E}"/>
              </a:ext>
            </a:extLst>
          </p:cNvPr>
          <p:cNvCxnSpPr>
            <a:cxnSpLocks/>
          </p:cNvCxnSpPr>
          <p:nvPr/>
        </p:nvCxnSpPr>
        <p:spPr>
          <a:xfrm>
            <a:off x="4476750" y="2448709"/>
            <a:ext cx="1435100" cy="25400"/>
          </a:xfrm>
          <a:prstGeom prst="line">
            <a:avLst/>
          </a:prstGeom>
          <a:ln w="30480">
            <a:solidFill>
              <a:srgbClr val="24A59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history-arrow">
            <a:extLst>
              <a:ext uri="{FF2B5EF4-FFF2-40B4-BE49-F238E27FC236}">
                <a16:creationId xmlns:a16="http://schemas.microsoft.com/office/drawing/2014/main" id="{A27DEEA8-8498-40C7-DC34-5E52040FB8FC}"/>
              </a:ext>
            </a:extLst>
          </p:cNvPr>
          <p:cNvCxnSpPr>
            <a:cxnSpLocks/>
          </p:cNvCxnSpPr>
          <p:nvPr/>
        </p:nvCxnSpPr>
        <p:spPr>
          <a:xfrm>
            <a:off x="2324100" y="2451099"/>
            <a:ext cx="1435100" cy="25400"/>
          </a:xfrm>
          <a:prstGeom prst="line">
            <a:avLst/>
          </a:prstGeom>
          <a:ln w="30480">
            <a:solidFill>
              <a:srgbClr val="24A59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70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E9EF9-2583-61E3-DDDC-3D13D6002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98CDB768-988F-4773-032D-BA48E927DBA5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6600C215-EE6F-9770-D3EC-9F99B77B52DD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2EF32804-563A-2A98-8A25-6A69B145FD58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占位符 43">
            <a:extLst>
              <a:ext uri="{FF2B5EF4-FFF2-40B4-BE49-F238E27FC236}">
                <a16:creationId xmlns:a16="http://schemas.microsoft.com/office/drawing/2014/main" id="{B2BCF891-915B-BAB1-6AA0-32B1EA403EEB}"/>
              </a:ext>
            </a:extLst>
          </p:cNvPr>
          <p:cNvSpPr txBox="1"/>
          <p:nvPr/>
        </p:nvSpPr>
        <p:spPr>
          <a:xfrm>
            <a:off x="399891" y="349328"/>
            <a:ext cx="7096936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关键技术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状态管理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1E226252-6425-FE87-EA0F-F6F03663D18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015FDF3-A493-34F8-01F8-52E6BFB2BFD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2" name="main-canvas">
            <a:extLst>
              <a:ext uri="{FF2B5EF4-FFF2-40B4-BE49-F238E27FC236}">
                <a16:creationId xmlns:a16="http://schemas.microsoft.com/office/drawing/2014/main" id="{616DAB7E-52A9-2EBD-D5DB-F31DEA73B4E9}"/>
              </a:ext>
            </a:extLst>
          </p:cNvPr>
          <p:cNvSpPr/>
          <p:nvPr/>
        </p:nvSpPr>
        <p:spPr>
          <a:xfrm>
            <a:off x="660400" y="1422400"/>
            <a:ext cx="10871200" cy="436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8F1"/>
            </a:solidFill>
          </a:ln>
          <a:effectLst>
            <a:outerShdw blurRad="88900" dist="25400" dir="5400000" rotWithShape="0">
              <a:srgbClr val="173F5F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init-to-tree">
            <a:extLst>
              <a:ext uri="{FF2B5EF4-FFF2-40B4-BE49-F238E27FC236}">
                <a16:creationId xmlns:a16="http://schemas.microsoft.com/office/drawing/2014/main" id="{82EBC10B-328E-C7F9-2CD7-0B91770C59C7}"/>
              </a:ext>
            </a:extLst>
          </p:cNvPr>
          <p:cNvCxnSpPr/>
          <p:nvPr/>
        </p:nvCxnSpPr>
        <p:spPr>
          <a:xfrm>
            <a:off x="3556000" y="3352800"/>
            <a:ext cx="889000" cy="0"/>
          </a:xfrm>
          <a:prstGeom prst="line">
            <a:avLst/>
          </a:prstGeom>
          <a:ln w="30480">
            <a:solidFill>
              <a:srgbClr val="2D70D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ree-to-check">
            <a:extLst>
              <a:ext uri="{FF2B5EF4-FFF2-40B4-BE49-F238E27FC236}">
                <a16:creationId xmlns:a16="http://schemas.microsoft.com/office/drawing/2014/main" id="{1CBE8D1D-5162-2C57-DA81-257FF6BCB208}"/>
              </a:ext>
            </a:extLst>
          </p:cNvPr>
          <p:cNvCxnSpPr/>
          <p:nvPr/>
        </p:nvCxnSpPr>
        <p:spPr>
          <a:xfrm>
            <a:off x="7747000" y="3352800"/>
            <a:ext cx="889000" cy="0"/>
          </a:xfrm>
          <a:prstGeom prst="line">
            <a:avLst/>
          </a:prstGeom>
          <a:ln w="30480">
            <a:solidFill>
              <a:srgbClr val="24A596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init-card">
            <a:extLst>
              <a:ext uri="{FF2B5EF4-FFF2-40B4-BE49-F238E27FC236}">
                <a16:creationId xmlns:a16="http://schemas.microsoft.com/office/drawing/2014/main" id="{BAD6792C-5A71-A5DF-9B97-63D237042EFC}"/>
              </a:ext>
            </a:extLst>
          </p:cNvPr>
          <p:cNvSpPr/>
          <p:nvPr/>
        </p:nvSpPr>
        <p:spPr>
          <a:xfrm>
            <a:off x="990600" y="2146300"/>
            <a:ext cx="2565400" cy="2413000"/>
          </a:xfrm>
          <a:prstGeom prst="roundRect">
            <a:avLst/>
          </a:prstGeom>
          <a:solidFill>
            <a:srgbClr val="F3F8FE"/>
          </a:solidFill>
          <a:ln w="12700">
            <a:solidFill>
              <a:srgbClr val="AFC9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init-title">
            <a:extLst>
              <a:ext uri="{FF2B5EF4-FFF2-40B4-BE49-F238E27FC236}">
                <a16:creationId xmlns:a16="http://schemas.microsoft.com/office/drawing/2014/main" id="{C489E282-E995-7843-5DDD-BC22E4011551}"/>
              </a:ext>
            </a:extLst>
          </p:cNvPr>
          <p:cNvSpPr txBox="1"/>
          <p:nvPr/>
        </p:nvSpPr>
        <p:spPr>
          <a:xfrm>
            <a:off x="1257300" y="2482850"/>
            <a:ext cx="13716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安全初始化</a:t>
            </a:r>
          </a:p>
        </p:txBody>
      </p:sp>
      <p:sp>
        <p:nvSpPr>
          <p:cNvPr id="37" name="init-items-dot-0">
            <a:extLst>
              <a:ext uri="{FF2B5EF4-FFF2-40B4-BE49-F238E27FC236}">
                <a16:creationId xmlns:a16="http://schemas.microsoft.com/office/drawing/2014/main" id="{37CAB444-E681-621F-63F5-444E51D5099F}"/>
              </a:ext>
            </a:extLst>
          </p:cNvPr>
          <p:cNvSpPr/>
          <p:nvPr/>
        </p:nvSpPr>
        <p:spPr>
          <a:xfrm>
            <a:off x="1295400" y="3225800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init-items-text-0">
            <a:extLst>
              <a:ext uri="{FF2B5EF4-FFF2-40B4-BE49-F238E27FC236}">
                <a16:creationId xmlns:a16="http://schemas.microsoft.com/office/drawing/2014/main" id="{C69ED671-13F0-A8CA-7C42-E26D0418A83C}"/>
              </a:ext>
            </a:extLst>
          </p:cNvPr>
          <p:cNvSpPr txBox="1"/>
          <p:nvPr/>
        </p:nvSpPr>
        <p:spPr>
          <a:xfrm>
            <a:off x="1485900" y="3124200"/>
            <a:ext cx="1790700" cy="3852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4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4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轮无官方声明</a:t>
            </a:r>
          </a:p>
        </p:txBody>
      </p:sp>
      <p:sp>
        <p:nvSpPr>
          <p:cNvPr id="43" name="init-items-dot-1">
            <a:extLst>
              <a:ext uri="{FF2B5EF4-FFF2-40B4-BE49-F238E27FC236}">
                <a16:creationId xmlns:a16="http://schemas.microsoft.com/office/drawing/2014/main" id="{5DA05118-B09D-CFD5-20D9-364C12E2CC57}"/>
              </a:ext>
            </a:extLst>
          </p:cNvPr>
          <p:cNvSpPr/>
          <p:nvPr/>
        </p:nvSpPr>
        <p:spPr>
          <a:xfrm>
            <a:off x="1295400" y="3611033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init-items-text-1">
            <a:extLst>
              <a:ext uri="{FF2B5EF4-FFF2-40B4-BE49-F238E27FC236}">
                <a16:creationId xmlns:a16="http://schemas.microsoft.com/office/drawing/2014/main" id="{9C4D3E7A-6FB0-38DA-B1B8-5B23B1650606}"/>
              </a:ext>
            </a:extLst>
          </p:cNvPr>
          <p:cNvSpPr txBox="1"/>
          <p:nvPr/>
        </p:nvSpPr>
        <p:spPr>
          <a:xfrm>
            <a:off x="1485900" y="3509433"/>
            <a:ext cx="1790700" cy="3852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创建空</a:t>
            </a:r>
            <a:r>
              <a:rPr lang="en-US" altLang="zh-CN" sz="14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JSONL</a:t>
            </a:r>
            <a:r>
              <a:rPr lang="zh-CN" altLang="en-US" sz="14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记录</a:t>
            </a:r>
          </a:p>
        </p:txBody>
      </p:sp>
      <p:sp>
        <p:nvSpPr>
          <p:cNvPr id="47" name="init-items-dot-2">
            <a:extLst>
              <a:ext uri="{FF2B5EF4-FFF2-40B4-BE49-F238E27FC236}">
                <a16:creationId xmlns:a16="http://schemas.microsoft.com/office/drawing/2014/main" id="{3CFD7DE1-0008-C36A-C58A-B7C061F01BEE}"/>
              </a:ext>
            </a:extLst>
          </p:cNvPr>
          <p:cNvSpPr/>
          <p:nvPr/>
        </p:nvSpPr>
        <p:spPr>
          <a:xfrm>
            <a:off x="1295400" y="3996267"/>
            <a:ext cx="63500" cy="635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init-items-text-2">
            <a:extLst>
              <a:ext uri="{FF2B5EF4-FFF2-40B4-BE49-F238E27FC236}">
                <a16:creationId xmlns:a16="http://schemas.microsoft.com/office/drawing/2014/main" id="{635CFB81-F5DF-29EC-B8E0-ED3467AB26F0}"/>
              </a:ext>
            </a:extLst>
          </p:cNvPr>
          <p:cNvSpPr txBox="1"/>
          <p:nvPr/>
        </p:nvSpPr>
        <p:spPr>
          <a:xfrm>
            <a:off x="1485900" y="3894667"/>
            <a:ext cx="1790700" cy="38523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40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已有数据禁止覆盖</a:t>
            </a:r>
          </a:p>
        </p:txBody>
      </p:sp>
      <p:sp>
        <p:nvSpPr>
          <p:cNvPr id="49" name="tree-card">
            <a:extLst>
              <a:ext uri="{FF2B5EF4-FFF2-40B4-BE49-F238E27FC236}">
                <a16:creationId xmlns:a16="http://schemas.microsoft.com/office/drawing/2014/main" id="{AE0A4C18-3453-1BD7-ECB4-F379D95F7345}"/>
              </a:ext>
            </a:extLst>
          </p:cNvPr>
          <p:cNvSpPr/>
          <p:nvPr/>
        </p:nvSpPr>
        <p:spPr>
          <a:xfrm>
            <a:off x="4445000" y="1816100"/>
            <a:ext cx="3302000" cy="309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2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tree-title">
            <a:extLst>
              <a:ext uri="{FF2B5EF4-FFF2-40B4-BE49-F238E27FC236}">
                <a16:creationId xmlns:a16="http://schemas.microsoft.com/office/drawing/2014/main" id="{E5869263-29F4-06B6-5C53-6081CB047330}"/>
              </a:ext>
            </a:extLst>
          </p:cNvPr>
          <p:cNvSpPr txBox="1"/>
          <p:nvPr/>
        </p:nvSpPr>
        <p:spPr>
          <a:xfrm>
            <a:off x="4699000" y="2006599"/>
            <a:ext cx="2794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70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单场景状态目录</a:t>
            </a:r>
          </a:p>
        </p:txBody>
      </p:sp>
      <p:sp>
        <p:nvSpPr>
          <p:cNvPr id="51" name="file-0">
            <a:extLst>
              <a:ext uri="{FF2B5EF4-FFF2-40B4-BE49-F238E27FC236}">
                <a16:creationId xmlns:a16="http://schemas.microsoft.com/office/drawing/2014/main" id="{AA9634B2-3A6A-3B0C-73DF-D0C71DF6D951}"/>
              </a:ext>
            </a:extLst>
          </p:cNvPr>
          <p:cNvSpPr/>
          <p:nvPr/>
        </p:nvSpPr>
        <p:spPr>
          <a:xfrm>
            <a:off x="4749800" y="2501900"/>
            <a:ext cx="2692400" cy="34290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C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file-mark-0">
            <a:extLst>
              <a:ext uri="{FF2B5EF4-FFF2-40B4-BE49-F238E27FC236}">
                <a16:creationId xmlns:a16="http://schemas.microsoft.com/office/drawing/2014/main" id="{B64C51E9-9A91-169F-B227-9FC25DD6979A}"/>
              </a:ext>
            </a:extLst>
          </p:cNvPr>
          <p:cNvSpPr/>
          <p:nvPr/>
        </p:nvSpPr>
        <p:spPr>
          <a:xfrm>
            <a:off x="4749800" y="2501900"/>
            <a:ext cx="63500" cy="342900"/>
          </a:xfrm>
          <a:prstGeom prst="rect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file-text-0">
            <a:extLst>
              <a:ext uri="{FF2B5EF4-FFF2-40B4-BE49-F238E27FC236}">
                <a16:creationId xmlns:a16="http://schemas.microsoft.com/office/drawing/2014/main" id="{2B754D6E-5DC3-BE12-02C6-AE41889749D5}"/>
              </a:ext>
            </a:extLst>
          </p:cNvPr>
          <p:cNvSpPr txBox="1"/>
          <p:nvPr/>
        </p:nvSpPr>
        <p:spPr>
          <a:xfrm>
            <a:off x="4927600" y="2578100"/>
            <a:ext cx="23368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event_state_history.json</a:t>
            </a:r>
            <a:endParaRPr lang="zh-CN" altLang="en-US" sz="980">
              <a:solidFill>
                <a:srgbClr val="4A56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file-1">
            <a:extLst>
              <a:ext uri="{FF2B5EF4-FFF2-40B4-BE49-F238E27FC236}">
                <a16:creationId xmlns:a16="http://schemas.microsoft.com/office/drawing/2014/main" id="{94688002-C31C-216E-C2DA-2B2497647236}"/>
              </a:ext>
            </a:extLst>
          </p:cNvPr>
          <p:cNvSpPr/>
          <p:nvPr/>
        </p:nvSpPr>
        <p:spPr>
          <a:xfrm>
            <a:off x="4749800" y="2933700"/>
            <a:ext cx="2692400" cy="34290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C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file-mark-1">
            <a:extLst>
              <a:ext uri="{FF2B5EF4-FFF2-40B4-BE49-F238E27FC236}">
                <a16:creationId xmlns:a16="http://schemas.microsoft.com/office/drawing/2014/main" id="{46B21456-2D6F-AC5F-ED91-136C243233B6}"/>
              </a:ext>
            </a:extLst>
          </p:cNvPr>
          <p:cNvSpPr/>
          <p:nvPr/>
        </p:nvSpPr>
        <p:spPr>
          <a:xfrm>
            <a:off x="4749800" y="2933700"/>
            <a:ext cx="63500" cy="342900"/>
          </a:xfrm>
          <a:prstGeom prst="rect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file-text-1">
            <a:extLst>
              <a:ext uri="{FF2B5EF4-FFF2-40B4-BE49-F238E27FC236}">
                <a16:creationId xmlns:a16="http://schemas.microsoft.com/office/drawing/2014/main" id="{27800F11-11B9-6EC5-8C74-13D3A03E27C9}"/>
              </a:ext>
            </a:extLst>
          </p:cNvPr>
          <p:cNvSpPr txBox="1"/>
          <p:nvPr/>
        </p:nvSpPr>
        <p:spPr>
          <a:xfrm>
            <a:off x="4927600" y="3009900"/>
            <a:ext cx="23368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decision_history.jsonl</a:t>
            </a:r>
            <a:endParaRPr lang="zh-CN" altLang="en-US" sz="980">
              <a:solidFill>
                <a:srgbClr val="4A56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file-2">
            <a:extLst>
              <a:ext uri="{FF2B5EF4-FFF2-40B4-BE49-F238E27FC236}">
                <a16:creationId xmlns:a16="http://schemas.microsoft.com/office/drawing/2014/main" id="{BD714642-49BA-E8BC-CBEF-72E142FC3EE0}"/>
              </a:ext>
            </a:extLst>
          </p:cNvPr>
          <p:cNvSpPr/>
          <p:nvPr/>
        </p:nvSpPr>
        <p:spPr>
          <a:xfrm>
            <a:off x="4749800" y="3365500"/>
            <a:ext cx="2692400" cy="34290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C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file-mark-2">
            <a:extLst>
              <a:ext uri="{FF2B5EF4-FFF2-40B4-BE49-F238E27FC236}">
                <a16:creationId xmlns:a16="http://schemas.microsoft.com/office/drawing/2014/main" id="{F9443429-D96F-C4AE-AF15-D0D51DA46A86}"/>
              </a:ext>
            </a:extLst>
          </p:cNvPr>
          <p:cNvSpPr/>
          <p:nvPr/>
        </p:nvSpPr>
        <p:spPr>
          <a:xfrm>
            <a:off x="4749800" y="3365500"/>
            <a:ext cx="63500" cy="342900"/>
          </a:xfrm>
          <a:prstGeom prst="rect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file-text-2">
            <a:extLst>
              <a:ext uri="{FF2B5EF4-FFF2-40B4-BE49-F238E27FC236}">
                <a16:creationId xmlns:a16="http://schemas.microsoft.com/office/drawing/2014/main" id="{E9E90A81-B3BF-2944-7A74-E9AFE8323DED}"/>
              </a:ext>
            </a:extLst>
          </p:cNvPr>
          <p:cNvSpPr txBox="1"/>
          <p:nvPr/>
        </p:nvSpPr>
        <p:spPr>
          <a:xfrm>
            <a:off x="4927600" y="3441700"/>
            <a:ext cx="23368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agent_state_history.jsonl</a:t>
            </a:r>
            <a:endParaRPr lang="zh-CN" altLang="en-US" sz="980">
              <a:solidFill>
                <a:srgbClr val="4A56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file-3">
            <a:extLst>
              <a:ext uri="{FF2B5EF4-FFF2-40B4-BE49-F238E27FC236}">
                <a16:creationId xmlns:a16="http://schemas.microsoft.com/office/drawing/2014/main" id="{53025409-5513-2C07-130D-6DBBA9E202FA}"/>
              </a:ext>
            </a:extLst>
          </p:cNvPr>
          <p:cNvSpPr/>
          <p:nvPr/>
        </p:nvSpPr>
        <p:spPr>
          <a:xfrm>
            <a:off x="4749800" y="3797300"/>
            <a:ext cx="2692400" cy="34290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C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file-mark-3">
            <a:extLst>
              <a:ext uri="{FF2B5EF4-FFF2-40B4-BE49-F238E27FC236}">
                <a16:creationId xmlns:a16="http://schemas.microsoft.com/office/drawing/2014/main" id="{9EE52B9F-6AE0-BD1A-238E-6099B05AE147}"/>
              </a:ext>
            </a:extLst>
          </p:cNvPr>
          <p:cNvSpPr/>
          <p:nvPr/>
        </p:nvSpPr>
        <p:spPr>
          <a:xfrm>
            <a:off x="4749800" y="3797300"/>
            <a:ext cx="63500" cy="342900"/>
          </a:xfrm>
          <a:prstGeom prst="rect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file-text-3">
            <a:extLst>
              <a:ext uri="{FF2B5EF4-FFF2-40B4-BE49-F238E27FC236}">
                <a16:creationId xmlns:a16="http://schemas.microsoft.com/office/drawing/2014/main" id="{E2816372-82DA-3AA2-212A-F0FA4427937C}"/>
              </a:ext>
            </a:extLst>
          </p:cNvPr>
          <p:cNvSpPr txBox="1"/>
          <p:nvPr/>
        </p:nvSpPr>
        <p:spPr>
          <a:xfrm>
            <a:off x="4927600" y="3873500"/>
            <a:ext cx="23368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incremental_comment_history.jsonl</a:t>
            </a:r>
            <a:endParaRPr lang="zh-CN" altLang="en-US" sz="980">
              <a:solidFill>
                <a:srgbClr val="4A56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2" name="file-4">
            <a:extLst>
              <a:ext uri="{FF2B5EF4-FFF2-40B4-BE49-F238E27FC236}">
                <a16:creationId xmlns:a16="http://schemas.microsoft.com/office/drawing/2014/main" id="{F71CD474-4B56-8185-0A11-9ADF8AB3E244}"/>
              </a:ext>
            </a:extLst>
          </p:cNvPr>
          <p:cNvSpPr/>
          <p:nvPr/>
        </p:nvSpPr>
        <p:spPr>
          <a:xfrm>
            <a:off x="4749800" y="4229100"/>
            <a:ext cx="2692400" cy="34290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C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file-mark-4">
            <a:extLst>
              <a:ext uri="{FF2B5EF4-FFF2-40B4-BE49-F238E27FC236}">
                <a16:creationId xmlns:a16="http://schemas.microsoft.com/office/drawing/2014/main" id="{2A1C846C-4EBC-64B9-9053-F25A1B569BA0}"/>
              </a:ext>
            </a:extLst>
          </p:cNvPr>
          <p:cNvSpPr/>
          <p:nvPr/>
        </p:nvSpPr>
        <p:spPr>
          <a:xfrm>
            <a:off x="4749800" y="4229100"/>
            <a:ext cx="63500" cy="342900"/>
          </a:xfrm>
          <a:prstGeom prst="rect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file-text-4">
            <a:extLst>
              <a:ext uri="{FF2B5EF4-FFF2-40B4-BE49-F238E27FC236}">
                <a16:creationId xmlns:a16="http://schemas.microsoft.com/office/drawing/2014/main" id="{FA951BB8-D7C7-E27D-B9C4-5F94882D7B89}"/>
              </a:ext>
            </a:extLst>
          </p:cNvPr>
          <p:cNvSpPr txBox="1"/>
          <p:nvPr/>
        </p:nvSpPr>
        <p:spPr>
          <a:xfrm>
            <a:off x="4927600" y="4305300"/>
            <a:ext cx="23368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98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metrics_history.jsonl</a:t>
            </a:r>
            <a:endParaRPr lang="zh-CN" altLang="en-US" sz="980">
              <a:solidFill>
                <a:srgbClr val="4A566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check-card">
            <a:extLst>
              <a:ext uri="{FF2B5EF4-FFF2-40B4-BE49-F238E27FC236}">
                <a16:creationId xmlns:a16="http://schemas.microsoft.com/office/drawing/2014/main" id="{F7D238EC-14F0-B5BE-42F2-1F9682A5DC70}"/>
              </a:ext>
            </a:extLst>
          </p:cNvPr>
          <p:cNvSpPr/>
          <p:nvPr/>
        </p:nvSpPr>
        <p:spPr>
          <a:xfrm>
            <a:off x="8636000" y="2146300"/>
            <a:ext cx="2565400" cy="2413000"/>
          </a:xfrm>
          <a:prstGeom prst="roundRect">
            <a:avLst/>
          </a:prstGeom>
          <a:solidFill>
            <a:srgbClr val="F1FAF8"/>
          </a:solidFill>
          <a:ln w="12700">
            <a:solidFill>
              <a:srgbClr val="A9DC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check-title">
            <a:extLst>
              <a:ext uri="{FF2B5EF4-FFF2-40B4-BE49-F238E27FC236}">
                <a16:creationId xmlns:a16="http://schemas.microsoft.com/office/drawing/2014/main" id="{43ECFACA-EB00-4053-57C9-F4E2CE1D623E}"/>
              </a:ext>
            </a:extLst>
          </p:cNvPr>
          <p:cNvSpPr txBox="1"/>
          <p:nvPr/>
        </p:nvSpPr>
        <p:spPr>
          <a:xfrm>
            <a:off x="8923431" y="2386479"/>
            <a:ext cx="13335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5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运行前校验</a:t>
            </a:r>
          </a:p>
        </p:txBody>
      </p:sp>
      <p:sp>
        <p:nvSpPr>
          <p:cNvPr id="80" name="check-items-dot-0">
            <a:extLst>
              <a:ext uri="{FF2B5EF4-FFF2-40B4-BE49-F238E27FC236}">
                <a16:creationId xmlns:a16="http://schemas.microsoft.com/office/drawing/2014/main" id="{7115B2D7-698C-CBC3-C7F7-318F3012B9F6}"/>
              </a:ext>
            </a:extLst>
          </p:cNvPr>
          <p:cNvSpPr/>
          <p:nvPr/>
        </p:nvSpPr>
        <p:spPr>
          <a:xfrm>
            <a:off x="8940800" y="313690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check-items-text-0">
            <a:extLst>
              <a:ext uri="{FF2B5EF4-FFF2-40B4-BE49-F238E27FC236}">
                <a16:creationId xmlns:a16="http://schemas.microsoft.com/office/drawing/2014/main" id="{03BB5179-287F-058C-5D83-7DE703652E50}"/>
              </a:ext>
            </a:extLst>
          </p:cNvPr>
          <p:cNvSpPr txBox="1"/>
          <p:nvPr/>
        </p:nvSpPr>
        <p:spPr>
          <a:xfrm>
            <a:off x="9131300" y="3035299"/>
            <a:ext cx="17907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7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必要文件完整</a:t>
            </a:r>
          </a:p>
        </p:txBody>
      </p:sp>
      <p:sp>
        <p:nvSpPr>
          <p:cNvPr id="83" name="check-items-dot-1">
            <a:extLst>
              <a:ext uri="{FF2B5EF4-FFF2-40B4-BE49-F238E27FC236}">
                <a16:creationId xmlns:a16="http://schemas.microsoft.com/office/drawing/2014/main" id="{455E78E9-2CC1-6D4F-4F76-AB17A9E2AE27}"/>
              </a:ext>
            </a:extLst>
          </p:cNvPr>
          <p:cNvSpPr/>
          <p:nvPr/>
        </p:nvSpPr>
        <p:spPr>
          <a:xfrm>
            <a:off x="8940800" y="346075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check-items-text-1">
            <a:extLst>
              <a:ext uri="{FF2B5EF4-FFF2-40B4-BE49-F238E27FC236}">
                <a16:creationId xmlns:a16="http://schemas.microsoft.com/office/drawing/2014/main" id="{ACB6003D-5E98-3005-3984-8B3869F51BB1}"/>
              </a:ext>
            </a:extLst>
          </p:cNvPr>
          <p:cNvSpPr txBox="1"/>
          <p:nvPr/>
        </p:nvSpPr>
        <p:spPr>
          <a:xfrm>
            <a:off x="9131300" y="3359149"/>
            <a:ext cx="17907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7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</a:t>
            </a:r>
            <a:r>
              <a:rPr lang="en-US" altLang="zh-CN" sz="137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</a:t>
            </a:r>
            <a:r>
              <a:rPr lang="zh-CN" altLang="en-US" sz="137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一致</a:t>
            </a:r>
          </a:p>
        </p:txBody>
      </p:sp>
      <p:sp>
        <p:nvSpPr>
          <p:cNvPr id="85" name="check-items-dot-2">
            <a:extLst>
              <a:ext uri="{FF2B5EF4-FFF2-40B4-BE49-F238E27FC236}">
                <a16:creationId xmlns:a16="http://schemas.microsoft.com/office/drawing/2014/main" id="{A6756956-DC8D-F97D-73E3-D7B563744456}"/>
              </a:ext>
            </a:extLst>
          </p:cNvPr>
          <p:cNvSpPr/>
          <p:nvPr/>
        </p:nvSpPr>
        <p:spPr>
          <a:xfrm>
            <a:off x="8940800" y="378460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check-items-text-2">
            <a:extLst>
              <a:ext uri="{FF2B5EF4-FFF2-40B4-BE49-F238E27FC236}">
                <a16:creationId xmlns:a16="http://schemas.microsoft.com/office/drawing/2014/main" id="{11BD74B5-B545-E3ED-4E4B-2ACD61F93F52}"/>
              </a:ext>
            </a:extLst>
          </p:cNvPr>
          <p:cNvSpPr txBox="1"/>
          <p:nvPr/>
        </p:nvSpPr>
        <p:spPr>
          <a:xfrm>
            <a:off x="9131300" y="3682999"/>
            <a:ext cx="17907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7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时间步不重复</a:t>
            </a:r>
          </a:p>
        </p:txBody>
      </p:sp>
      <p:sp>
        <p:nvSpPr>
          <p:cNvPr id="87" name="check-items-dot-3">
            <a:extLst>
              <a:ext uri="{FF2B5EF4-FFF2-40B4-BE49-F238E27FC236}">
                <a16:creationId xmlns:a16="http://schemas.microsoft.com/office/drawing/2014/main" id="{76CFC049-8E20-FB6D-F7BD-1B196B3D2950}"/>
              </a:ext>
            </a:extLst>
          </p:cNvPr>
          <p:cNvSpPr/>
          <p:nvPr/>
        </p:nvSpPr>
        <p:spPr>
          <a:xfrm>
            <a:off x="8940800" y="4108450"/>
            <a:ext cx="63500" cy="63500"/>
          </a:xfrm>
          <a:prstGeom prst="ellipse">
            <a:avLst/>
          </a:prstGeom>
          <a:solidFill>
            <a:srgbClr val="24A596"/>
          </a:solidFill>
          <a:ln w="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check-items-text-3">
            <a:extLst>
              <a:ext uri="{FF2B5EF4-FFF2-40B4-BE49-F238E27FC236}">
                <a16:creationId xmlns:a16="http://schemas.microsoft.com/office/drawing/2014/main" id="{CE08F2F7-4AEB-2F9A-EAA0-467A6907B83B}"/>
              </a:ext>
            </a:extLst>
          </p:cNvPr>
          <p:cNvSpPr txBox="1"/>
          <p:nvPr/>
        </p:nvSpPr>
        <p:spPr>
          <a:xfrm>
            <a:off x="9131300" y="4006849"/>
            <a:ext cx="17907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7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JSONL</a:t>
            </a:r>
            <a:r>
              <a:rPr lang="zh-CN" altLang="en-US" sz="137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格式合法</a:t>
            </a:r>
          </a:p>
        </p:txBody>
      </p:sp>
      <p:sp>
        <p:nvSpPr>
          <p:cNvPr id="89" name="snapshot-band">
            <a:extLst>
              <a:ext uri="{FF2B5EF4-FFF2-40B4-BE49-F238E27FC236}">
                <a16:creationId xmlns:a16="http://schemas.microsoft.com/office/drawing/2014/main" id="{D38C792A-2079-FC63-81E8-D1F0EC2ADD3E}"/>
              </a:ext>
            </a:extLst>
          </p:cNvPr>
          <p:cNvSpPr/>
          <p:nvPr/>
        </p:nvSpPr>
        <p:spPr>
          <a:xfrm>
            <a:off x="2159000" y="5143500"/>
            <a:ext cx="7874000" cy="508000"/>
          </a:xfrm>
          <a:prstGeom prst="roundRect">
            <a:avLst/>
          </a:prstGeom>
          <a:solidFill>
            <a:srgbClr val="FFF5E8"/>
          </a:solidFill>
          <a:ln w="12700">
            <a:solidFill>
              <a:srgbClr val="F4C4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snapshot-title">
            <a:extLst>
              <a:ext uri="{FF2B5EF4-FFF2-40B4-BE49-F238E27FC236}">
                <a16:creationId xmlns:a16="http://schemas.microsoft.com/office/drawing/2014/main" id="{37368F45-70B6-4D2E-F380-48CD513A356C}"/>
              </a:ext>
            </a:extLst>
          </p:cNvPr>
          <p:cNvSpPr txBox="1"/>
          <p:nvPr/>
        </p:nvSpPr>
        <p:spPr>
          <a:xfrm>
            <a:off x="2362200" y="5257799"/>
            <a:ext cx="1676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350" b="1">
                <a:solidFill>
                  <a:srgbClr val="8A4B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共享快照复制</a:t>
            </a:r>
          </a:p>
        </p:txBody>
      </p:sp>
      <p:sp>
        <p:nvSpPr>
          <p:cNvPr id="91" name="snapshot-body">
            <a:extLst>
              <a:ext uri="{FF2B5EF4-FFF2-40B4-BE49-F238E27FC236}">
                <a16:creationId xmlns:a16="http://schemas.microsoft.com/office/drawing/2014/main" id="{414BE516-FDE1-D204-2572-CB5C87094E25}"/>
              </a:ext>
            </a:extLst>
          </p:cNvPr>
          <p:cNvSpPr txBox="1"/>
          <p:nvPr/>
        </p:nvSpPr>
        <p:spPr>
          <a:xfrm>
            <a:off x="4127500" y="5194299"/>
            <a:ext cx="5664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进场后复制为独立策略目录
各场景继续独立演化</a:t>
            </a:r>
          </a:p>
        </p:txBody>
      </p:sp>
      <p:sp>
        <p:nvSpPr>
          <p:cNvPr id="92" name="takeaway-box">
            <a:extLst>
              <a:ext uri="{FF2B5EF4-FFF2-40B4-BE49-F238E27FC236}">
                <a16:creationId xmlns:a16="http://schemas.microsoft.com/office/drawing/2014/main" id="{69BDD448-1B7D-947E-EAFD-4909838C70DC}"/>
              </a:ext>
            </a:extLst>
          </p:cNvPr>
          <p:cNvSpPr/>
          <p:nvPr/>
        </p:nvSpPr>
        <p:spPr>
          <a:xfrm>
            <a:off x="1905000" y="6045200"/>
            <a:ext cx="8382000" cy="5588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BDD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takeaway-marker">
            <a:extLst>
              <a:ext uri="{FF2B5EF4-FFF2-40B4-BE49-F238E27FC236}">
                <a16:creationId xmlns:a16="http://schemas.microsoft.com/office/drawing/2014/main" id="{A0440451-F537-6BAE-8817-1B3FBF7CA417}"/>
              </a:ext>
            </a:extLst>
          </p:cNvPr>
          <p:cNvSpPr/>
          <p:nvPr/>
        </p:nvSpPr>
        <p:spPr>
          <a:xfrm>
            <a:off x="2159000" y="6159500"/>
            <a:ext cx="990600" cy="330200"/>
          </a:xfrm>
          <a:prstGeom prst="roundRect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takeaway-label">
            <a:extLst>
              <a:ext uri="{FF2B5EF4-FFF2-40B4-BE49-F238E27FC236}">
                <a16:creationId xmlns:a16="http://schemas.microsoft.com/office/drawing/2014/main" id="{1A6A56C6-18C7-5E28-3E83-F7292C0444E3}"/>
              </a:ext>
            </a:extLst>
          </p:cNvPr>
          <p:cNvSpPr txBox="1"/>
          <p:nvPr/>
        </p:nvSpPr>
        <p:spPr>
          <a:xfrm>
            <a:off x="2159000" y="6210300"/>
            <a:ext cx="990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关键结论</a:t>
            </a:r>
          </a:p>
        </p:txBody>
      </p:sp>
      <p:sp>
        <p:nvSpPr>
          <p:cNvPr id="95" name="takeaway-text">
            <a:extLst>
              <a:ext uri="{FF2B5EF4-FFF2-40B4-BE49-F238E27FC236}">
                <a16:creationId xmlns:a16="http://schemas.microsoft.com/office/drawing/2014/main" id="{162F311A-1288-EC3B-E8A7-E6D38C2A1E9D}"/>
              </a:ext>
            </a:extLst>
          </p:cNvPr>
          <p:cNvSpPr txBox="1"/>
          <p:nvPr/>
        </p:nvSpPr>
        <p:spPr>
          <a:xfrm>
            <a:off x="3365500" y="6146799"/>
            <a:ext cx="66675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2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状态不是临时内存，而是可检查、可恢复、可复制的完整实验轨迹</a:t>
            </a:r>
          </a:p>
        </p:txBody>
      </p:sp>
      <p:sp>
        <p:nvSpPr>
          <p:cNvPr id="146" name="headline">
            <a:extLst>
              <a:ext uri="{FF2B5EF4-FFF2-40B4-BE49-F238E27FC236}">
                <a16:creationId xmlns:a16="http://schemas.microsoft.com/office/drawing/2014/main" id="{BB8AA805-DF59-8ED9-983F-190AC969811C}"/>
              </a:ext>
            </a:extLst>
          </p:cNvPr>
          <p:cNvSpPr txBox="1"/>
          <p:nvPr/>
        </p:nvSpPr>
        <p:spPr>
          <a:xfrm>
            <a:off x="1905000" y="924709"/>
            <a:ext cx="8255000" cy="393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72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每条实验路径拥有独立状态目录，初始化、校验和快照复制都不覆盖旧数据</a:t>
            </a:r>
          </a:p>
        </p:txBody>
      </p:sp>
    </p:spTree>
    <p:extLst>
      <p:ext uri="{BB962C8B-B14F-4D97-AF65-F5344CB8AC3E}">
        <p14:creationId xmlns:p14="http://schemas.microsoft.com/office/powerpoint/2010/main" val="72837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F4BC5-69D9-3068-EFC3-202ED819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99C34760-4B2D-01F7-FA76-0F7CA62EFE1A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2456D909-A536-9418-C1FE-9478F0F7DFDD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2C91CB96-E1A1-8ECB-D513-F05170175A58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占位符 43">
            <a:extLst>
              <a:ext uri="{FF2B5EF4-FFF2-40B4-BE49-F238E27FC236}">
                <a16:creationId xmlns:a16="http://schemas.microsoft.com/office/drawing/2014/main" id="{3C8707FC-4105-11E3-07E1-085B31E316B9}"/>
              </a:ext>
            </a:extLst>
          </p:cNvPr>
          <p:cNvSpPr txBox="1"/>
          <p:nvPr/>
        </p:nvSpPr>
        <p:spPr>
          <a:xfrm>
            <a:off x="399891" y="349328"/>
            <a:ext cx="7096936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关键技术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容错与质量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EE67941E-CF93-3528-AE4E-76103457184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3C34201-78E8-31FC-73AD-FC4E76F84B3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2" name="main-canvas">
            <a:extLst>
              <a:ext uri="{FF2B5EF4-FFF2-40B4-BE49-F238E27FC236}">
                <a16:creationId xmlns:a16="http://schemas.microsoft.com/office/drawing/2014/main" id="{5C264871-D40F-9AAE-E390-1DD24983FD72}"/>
              </a:ext>
            </a:extLst>
          </p:cNvPr>
          <p:cNvSpPr/>
          <p:nvPr/>
        </p:nvSpPr>
        <p:spPr>
          <a:xfrm>
            <a:off x="660400" y="1422400"/>
            <a:ext cx="10871200" cy="436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8F1"/>
            </a:solidFill>
          </a:ln>
          <a:effectLst>
            <a:outerShdw blurRad="88900" dist="25400" dir="5400000" rotWithShape="0">
              <a:srgbClr val="173F5F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stage-arrow-0">
            <a:extLst>
              <a:ext uri="{FF2B5EF4-FFF2-40B4-BE49-F238E27FC236}">
                <a16:creationId xmlns:a16="http://schemas.microsoft.com/office/drawing/2014/main" id="{7502FCEC-F9D1-35CB-5A25-9FFB3E9403CE}"/>
              </a:ext>
            </a:extLst>
          </p:cNvPr>
          <p:cNvCxnSpPr/>
          <p:nvPr/>
        </p:nvCxnSpPr>
        <p:spPr>
          <a:xfrm>
            <a:off x="3225800" y="2933700"/>
            <a:ext cx="393700" cy="0"/>
          </a:xfrm>
          <a:prstGeom prst="line">
            <a:avLst/>
          </a:prstGeom>
          <a:ln w="27940">
            <a:solidFill>
              <a:srgbClr val="7892AD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age-arrow-1">
            <a:extLst>
              <a:ext uri="{FF2B5EF4-FFF2-40B4-BE49-F238E27FC236}">
                <a16:creationId xmlns:a16="http://schemas.microsoft.com/office/drawing/2014/main" id="{51B4932B-65C6-490A-2466-A26DD269DEA2}"/>
              </a:ext>
            </a:extLst>
          </p:cNvPr>
          <p:cNvCxnSpPr/>
          <p:nvPr/>
        </p:nvCxnSpPr>
        <p:spPr>
          <a:xfrm>
            <a:off x="5854700" y="2933700"/>
            <a:ext cx="393700" cy="0"/>
          </a:xfrm>
          <a:prstGeom prst="line">
            <a:avLst/>
          </a:prstGeom>
          <a:ln w="27940">
            <a:solidFill>
              <a:srgbClr val="7892AD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age-arrow-2">
            <a:extLst>
              <a:ext uri="{FF2B5EF4-FFF2-40B4-BE49-F238E27FC236}">
                <a16:creationId xmlns:a16="http://schemas.microsoft.com/office/drawing/2014/main" id="{119FDD1F-949D-947F-3EE2-A18D0BD9CB12}"/>
              </a:ext>
            </a:extLst>
          </p:cNvPr>
          <p:cNvCxnSpPr/>
          <p:nvPr/>
        </p:nvCxnSpPr>
        <p:spPr>
          <a:xfrm>
            <a:off x="8483600" y="2933700"/>
            <a:ext cx="393700" cy="0"/>
          </a:xfrm>
          <a:prstGeom prst="line">
            <a:avLst/>
          </a:prstGeom>
          <a:ln w="27940">
            <a:solidFill>
              <a:srgbClr val="7892AD"/>
            </a:solidFill>
            <a:prstDash val="soli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tage-card-0">
            <a:extLst>
              <a:ext uri="{FF2B5EF4-FFF2-40B4-BE49-F238E27FC236}">
                <a16:creationId xmlns:a16="http://schemas.microsoft.com/office/drawing/2014/main" id="{703AAE12-E26F-836C-0585-53A76CD24441}"/>
              </a:ext>
            </a:extLst>
          </p:cNvPr>
          <p:cNvSpPr/>
          <p:nvPr/>
        </p:nvSpPr>
        <p:spPr>
          <a:xfrm>
            <a:off x="990600" y="1917700"/>
            <a:ext cx="2235200" cy="2044700"/>
          </a:xfrm>
          <a:prstGeom prst="roundRect">
            <a:avLst/>
          </a:prstGeom>
          <a:solidFill>
            <a:srgbClr val="F3F8FE"/>
          </a:solidFill>
          <a:ln w="1270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tage-title-0">
            <a:extLst>
              <a:ext uri="{FF2B5EF4-FFF2-40B4-BE49-F238E27FC236}">
                <a16:creationId xmlns:a16="http://schemas.microsoft.com/office/drawing/2014/main" id="{D83E745F-2C42-ACB8-CD36-78CED5C024ED}"/>
              </a:ext>
            </a:extLst>
          </p:cNvPr>
          <p:cNvSpPr txBox="1"/>
          <p:nvPr/>
        </p:nvSpPr>
        <p:spPr>
          <a:xfrm>
            <a:off x="1879600" y="2235199"/>
            <a:ext cx="114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00" b="1">
                <a:solidFill>
                  <a:srgbClr val="2D70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请求层</a:t>
            </a:r>
          </a:p>
        </p:txBody>
      </p:sp>
      <p:sp>
        <p:nvSpPr>
          <p:cNvPr id="12" name="stage-body-0">
            <a:extLst>
              <a:ext uri="{FF2B5EF4-FFF2-40B4-BE49-F238E27FC236}">
                <a16:creationId xmlns:a16="http://schemas.microsoft.com/office/drawing/2014/main" id="{8B8516C9-67A5-C0A4-64AF-6B5541EBF50F}"/>
              </a:ext>
            </a:extLst>
          </p:cNvPr>
          <p:cNvSpPr txBox="1"/>
          <p:nvPr/>
        </p:nvSpPr>
        <p:spPr>
          <a:xfrm>
            <a:off x="1219200" y="2870199"/>
            <a:ext cx="1778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6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网络、限流、服务端和</a:t>
            </a:r>
            <a:r>
              <a:rPr lang="en-US" altLang="zh-CN" sz="126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</a:t>
            </a:r>
            <a:r>
              <a:rPr lang="zh-CN" altLang="en-US" sz="126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解析错误
最多重试</a:t>
            </a:r>
            <a:r>
              <a:rPr lang="en-US" altLang="zh-CN" sz="126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26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</a:t>
            </a:r>
          </a:p>
        </p:txBody>
      </p:sp>
      <p:sp>
        <p:nvSpPr>
          <p:cNvPr id="13" name="stage-card-1">
            <a:extLst>
              <a:ext uri="{FF2B5EF4-FFF2-40B4-BE49-F238E27FC236}">
                <a16:creationId xmlns:a16="http://schemas.microsoft.com/office/drawing/2014/main" id="{49498250-E952-6E74-DE37-EAA8F8771656}"/>
              </a:ext>
            </a:extLst>
          </p:cNvPr>
          <p:cNvSpPr/>
          <p:nvPr/>
        </p:nvSpPr>
        <p:spPr>
          <a:xfrm>
            <a:off x="3619500" y="1917700"/>
            <a:ext cx="2235200" cy="2044700"/>
          </a:xfrm>
          <a:prstGeom prst="roundRect">
            <a:avLst/>
          </a:prstGeom>
          <a:solidFill>
            <a:srgbClr val="F1FAF8"/>
          </a:solidFill>
          <a:ln w="1270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stage-title-1">
            <a:extLst>
              <a:ext uri="{FF2B5EF4-FFF2-40B4-BE49-F238E27FC236}">
                <a16:creationId xmlns:a16="http://schemas.microsoft.com/office/drawing/2014/main" id="{D002EA7E-2F91-F3E6-1318-9B20392141D6}"/>
              </a:ext>
            </a:extLst>
          </p:cNvPr>
          <p:cNvSpPr txBox="1"/>
          <p:nvPr/>
        </p:nvSpPr>
        <p:spPr>
          <a:xfrm>
            <a:off x="4508500" y="2235199"/>
            <a:ext cx="114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00" b="1">
                <a:solidFill>
                  <a:srgbClr val="24A5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生成层</a:t>
            </a:r>
          </a:p>
        </p:txBody>
      </p:sp>
      <p:sp>
        <p:nvSpPr>
          <p:cNvPr id="17" name="stage-body-1">
            <a:extLst>
              <a:ext uri="{FF2B5EF4-FFF2-40B4-BE49-F238E27FC236}">
                <a16:creationId xmlns:a16="http://schemas.microsoft.com/office/drawing/2014/main" id="{53A0A5B7-097D-FF81-41C9-F676D97D17F7}"/>
              </a:ext>
            </a:extLst>
          </p:cNvPr>
          <p:cNvSpPr txBox="1"/>
          <p:nvPr/>
        </p:nvSpPr>
        <p:spPr>
          <a:xfrm>
            <a:off x="3848100" y="2870199"/>
            <a:ext cx="1778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6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评论批次累计有效结果
最多补齐</a:t>
            </a:r>
            <a:r>
              <a:rPr lang="en-US" altLang="zh-CN" sz="126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26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</a:t>
            </a:r>
          </a:p>
        </p:txBody>
      </p:sp>
      <p:sp>
        <p:nvSpPr>
          <p:cNvPr id="18" name="stage-card-2">
            <a:extLst>
              <a:ext uri="{FF2B5EF4-FFF2-40B4-BE49-F238E27FC236}">
                <a16:creationId xmlns:a16="http://schemas.microsoft.com/office/drawing/2014/main" id="{8F8D5784-EECE-3A0C-431E-F9D6E0AD30E7}"/>
              </a:ext>
            </a:extLst>
          </p:cNvPr>
          <p:cNvSpPr/>
          <p:nvPr/>
        </p:nvSpPr>
        <p:spPr>
          <a:xfrm>
            <a:off x="6248400" y="1917700"/>
            <a:ext cx="2235200" cy="2044700"/>
          </a:xfrm>
          <a:prstGeom prst="roundRect">
            <a:avLst/>
          </a:prstGeom>
          <a:solidFill>
            <a:srgbClr val="F1FAFA"/>
          </a:solidFill>
          <a:ln w="1270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stage-title-2">
            <a:extLst>
              <a:ext uri="{FF2B5EF4-FFF2-40B4-BE49-F238E27FC236}">
                <a16:creationId xmlns:a16="http://schemas.microsoft.com/office/drawing/2014/main" id="{D38B0D06-1E4E-D43D-3E4C-D46B2004A293}"/>
              </a:ext>
            </a:extLst>
          </p:cNvPr>
          <p:cNvSpPr txBox="1"/>
          <p:nvPr/>
        </p:nvSpPr>
        <p:spPr>
          <a:xfrm>
            <a:off x="7137400" y="2235199"/>
            <a:ext cx="114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00" b="1">
                <a:solidFill>
                  <a:srgbClr val="128E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校验层</a:t>
            </a:r>
          </a:p>
        </p:txBody>
      </p:sp>
      <p:sp>
        <p:nvSpPr>
          <p:cNvPr id="22" name="stage-body-2">
            <a:extLst>
              <a:ext uri="{FF2B5EF4-FFF2-40B4-BE49-F238E27FC236}">
                <a16:creationId xmlns:a16="http://schemas.microsoft.com/office/drawing/2014/main" id="{392088EB-0378-23E7-C8D6-5D1DEB927A3A}"/>
              </a:ext>
            </a:extLst>
          </p:cNvPr>
          <p:cNvSpPr txBox="1"/>
          <p:nvPr/>
        </p:nvSpPr>
        <p:spPr>
          <a:xfrm>
            <a:off x="6477000" y="2870199"/>
            <a:ext cx="1778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6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过滤无效字段、派系和重复文本
记录具体拒绝原因</a:t>
            </a:r>
          </a:p>
        </p:txBody>
      </p:sp>
      <p:sp>
        <p:nvSpPr>
          <p:cNvPr id="23" name="stage-card-3">
            <a:extLst>
              <a:ext uri="{FF2B5EF4-FFF2-40B4-BE49-F238E27FC236}">
                <a16:creationId xmlns:a16="http://schemas.microsoft.com/office/drawing/2014/main" id="{C6D2C368-E947-305D-57DD-959602EC39CF}"/>
              </a:ext>
            </a:extLst>
          </p:cNvPr>
          <p:cNvSpPr/>
          <p:nvPr/>
        </p:nvSpPr>
        <p:spPr>
          <a:xfrm>
            <a:off x="8877300" y="1917700"/>
            <a:ext cx="2235200" cy="2044700"/>
          </a:xfrm>
          <a:prstGeom prst="roundRect">
            <a:avLst/>
          </a:prstGeom>
          <a:solidFill>
            <a:srgbClr val="FFF7EE"/>
          </a:solidFill>
          <a:ln w="1270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tage-title-3">
            <a:extLst>
              <a:ext uri="{FF2B5EF4-FFF2-40B4-BE49-F238E27FC236}">
                <a16:creationId xmlns:a16="http://schemas.microsoft.com/office/drawing/2014/main" id="{6E76C9D2-A207-CDDB-7F09-D1EC37C3A6B9}"/>
              </a:ext>
            </a:extLst>
          </p:cNvPr>
          <p:cNvSpPr txBox="1"/>
          <p:nvPr/>
        </p:nvSpPr>
        <p:spPr>
          <a:xfrm>
            <a:off x="9766300" y="2235199"/>
            <a:ext cx="114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00" b="1">
                <a:solidFill>
                  <a:srgbClr val="F28A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补齐层</a:t>
            </a:r>
          </a:p>
        </p:txBody>
      </p:sp>
      <p:sp>
        <p:nvSpPr>
          <p:cNvPr id="27" name="stage-body-3">
            <a:extLst>
              <a:ext uri="{FF2B5EF4-FFF2-40B4-BE49-F238E27FC236}">
                <a16:creationId xmlns:a16="http://schemas.microsoft.com/office/drawing/2014/main" id="{68DC4C94-EFBC-A973-4022-A8FDA899ED26}"/>
              </a:ext>
            </a:extLst>
          </p:cNvPr>
          <p:cNvSpPr txBox="1"/>
          <p:nvPr/>
        </p:nvSpPr>
        <p:spPr>
          <a:xfrm>
            <a:off x="9105900" y="2870199"/>
            <a:ext cx="1778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60">
                <a:solidFill>
                  <a:srgbClr val="4A56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历史评论兜底
最后使用本地应急评论</a:t>
            </a:r>
          </a:p>
        </p:txBody>
      </p:sp>
      <p:sp>
        <p:nvSpPr>
          <p:cNvPr id="28" name="quality-band">
            <a:extLst>
              <a:ext uri="{FF2B5EF4-FFF2-40B4-BE49-F238E27FC236}">
                <a16:creationId xmlns:a16="http://schemas.microsoft.com/office/drawing/2014/main" id="{A2477163-BFF4-1439-CD62-51EB6A6C33FD}"/>
              </a:ext>
            </a:extLst>
          </p:cNvPr>
          <p:cNvSpPr/>
          <p:nvPr/>
        </p:nvSpPr>
        <p:spPr>
          <a:xfrm>
            <a:off x="990600" y="4191000"/>
            <a:ext cx="6248400" cy="889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C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quality-title">
            <a:extLst>
              <a:ext uri="{FF2B5EF4-FFF2-40B4-BE49-F238E27FC236}">
                <a16:creationId xmlns:a16="http://schemas.microsoft.com/office/drawing/2014/main" id="{D6B7DF2F-9671-B63D-D964-D5144A4AECC0}"/>
              </a:ext>
            </a:extLst>
          </p:cNvPr>
          <p:cNvSpPr txBox="1"/>
          <p:nvPr/>
        </p:nvSpPr>
        <p:spPr>
          <a:xfrm>
            <a:off x="1219200" y="4356099"/>
            <a:ext cx="1193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0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质量分级</a:t>
            </a:r>
          </a:p>
        </p:txBody>
      </p:sp>
      <p:sp>
        <p:nvSpPr>
          <p:cNvPr id="30" name="status-0">
            <a:extLst>
              <a:ext uri="{FF2B5EF4-FFF2-40B4-BE49-F238E27FC236}">
                <a16:creationId xmlns:a16="http://schemas.microsoft.com/office/drawing/2014/main" id="{25BB96E8-C828-DE79-20E1-6DB1AA4A9F68}"/>
              </a:ext>
            </a:extLst>
          </p:cNvPr>
          <p:cNvSpPr/>
          <p:nvPr/>
        </p:nvSpPr>
        <p:spPr>
          <a:xfrm>
            <a:off x="2489200" y="4318000"/>
            <a:ext cx="1117600" cy="35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A5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status-text-0">
            <a:extLst>
              <a:ext uri="{FF2B5EF4-FFF2-40B4-BE49-F238E27FC236}">
                <a16:creationId xmlns:a16="http://schemas.microsoft.com/office/drawing/2014/main" id="{AA773B42-8404-1313-B271-61117063F037}"/>
              </a:ext>
            </a:extLst>
          </p:cNvPr>
          <p:cNvSpPr txBox="1"/>
          <p:nvPr/>
        </p:nvSpPr>
        <p:spPr>
          <a:xfrm>
            <a:off x="2489200" y="4394200"/>
            <a:ext cx="1117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24A5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normal</a:t>
            </a:r>
            <a:endParaRPr lang="zh-CN" altLang="en-US" sz="1200" b="1">
              <a:solidFill>
                <a:srgbClr val="24A5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status-1">
            <a:extLst>
              <a:ext uri="{FF2B5EF4-FFF2-40B4-BE49-F238E27FC236}">
                <a16:creationId xmlns:a16="http://schemas.microsoft.com/office/drawing/2014/main" id="{51488750-316D-027F-E710-F77C07E754C9}"/>
              </a:ext>
            </a:extLst>
          </p:cNvPr>
          <p:cNvSpPr/>
          <p:nvPr/>
        </p:nvSpPr>
        <p:spPr>
          <a:xfrm>
            <a:off x="3708400" y="4318000"/>
            <a:ext cx="1117600" cy="35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1A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status-text-1">
            <a:extLst>
              <a:ext uri="{FF2B5EF4-FFF2-40B4-BE49-F238E27FC236}">
                <a16:creationId xmlns:a16="http://schemas.microsoft.com/office/drawing/2014/main" id="{9051A8A2-43D0-C183-9140-CFF3FFF78211}"/>
              </a:ext>
            </a:extLst>
          </p:cNvPr>
          <p:cNvSpPr txBox="1"/>
          <p:nvPr/>
        </p:nvSpPr>
        <p:spPr>
          <a:xfrm>
            <a:off x="3708400" y="4394200"/>
            <a:ext cx="1117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F1A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degraded</a:t>
            </a:r>
            <a:endParaRPr lang="zh-CN" altLang="en-US" sz="1200" b="1">
              <a:solidFill>
                <a:srgbClr val="F1A23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status-2">
            <a:extLst>
              <a:ext uri="{FF2B5EF4-FFF2-40B4-BE49-F238E27FC236}">
                <a16:creationId xmlns:a16="http://schemas.microsoft.com/office/drawing/2014/main" id="{6B9A0CF8-318F-7DA9-1F21-86B2E3263E1A}"/>
              </a:ext>
            </a:extLst>
          </p:cNvPr>
          <p:cNvSpPr/>
          <p:nvPr/>
        </p:nvSpPr>
        <p:spPr>
          <a:xfrm>
            <a:off x="5080000" y="4318000"/>
            <a:ext cx="1117600" cy="35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5F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tatus-text-2">
            <a:extLst>
              <a:ext uri="{FF2B5EF4-FFF2-40B4-BE49-F238E27FC236}">
                <a16:creationId xmlns:a16="http://schemas.microsoft.com/office/drawing/2014/main" id="{6748E1AF-5780-35EB-E1A0-4C25FCCB9F41}"/>
              </a:ext>
            </a:extLst>
          </p:cNvPr>
          <p:cNvSpPr txBox="1"/>
          <p:nvPr/>
        </p:nvSpPr>
        <p:spPr>
          <a:xfrm>
            <a:off x="5080000" y="4394200"/>
            <a:ext cx="1117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D95F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emergency</a:t>
            </a:r>
            <a:endParaRPr lang="zh-CN" altLang="en-US" sz="1200" b="1">
              <a:solidFill>
                <a:srgbClr val="D95F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quality-body">
            <a:extLst>
              <a:ext uri="{FF2B5EF4-FFF2-40B4-BE49-F238E27FC236}">
                <a16:creationId xmlns:a16="http://schemas.microsoft.com/office/drawing/2014/main" id="{ACB83266-5364-3861-6442-46A5B197DA60}"/>
              </a:ext>
            </a:extLst>
          </p:cNvPr>
          <p:cNvSpPr txBox="1"/>
          <p:nvPr/>
        </p:nvSpPr>
        <p:spPr>
          <a:xfrm>
            <a:off x="1206500" y="4749800"/>
            <a:ext cx="5778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rgbClr val="5C68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记录模型生成数、两级兜底数、告警轮次</a:t>
            </a:r>
          </a:p>
        </p:txBody>
      </p:sp>
      <p:sp>
        <p:nvSpPr>
          <p:cNvPr id="37" name="atomic-band">
            <a:extLst>
              <a:ext uri="{FF2B5EF4-FFF2-40B4-BE49-F238E27FC236}">
                <a16:creationId xmlns:a16="http://schemas.microsoft.com/office/drawing/2014/main" id="{42887199-FB33-4EAC-251C-55053BB9B1B4}"/>
              </a:ext>
            </a:extLst>
          </p:cNvPr>
          <p:cNvSpPr/>
          <p:nvPr/>
        </p:nvSpPr>
        <p:spPr>
          <a:xfrm>
            <a:off x="7429500" y="4191000"/>
            <a:ext cx="3695700" cy="889000"/>
          </a:xfrm>
          <a:prstGeom prst="roundRect">
            <a:avLst/>
          </a:prstGeom>
          <a:solidFill>
            <a:srgbClr val="FFF5E8"/>
          </a:solidFill>
          <a:ln w="12700">
            <a:solidFill>
              <a:srgbClr val="F4C4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atomic-title">
            <a:extLst>
              <a:ext uri="{FF2B5EF4-FFF2-40B4-BE49-F238E27FC236}">
                <a16:creationId xmlns:a16="http://schemas.microsoft.com/office/drawing/2014/main" id="{7B721CEF-0440-896B-3AF2-03041DA85C9A}"/>
              </a:ext>
            </a:extLst>
          </p:cNvPr>
          <p:cNvSpPr txBox="1"/>
          <p:nvPr/>
        </p:nvSpPr>
        <p:spPr>
          <a:xfrm>
            <a:off x="7658100" y="4356099"/>
            <a:ext cx="3276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500" b="1">
                <a:solidFill>
                  <a:srgbClr val="8A4B1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整轮写入原则</a:t>
            </a:r>
          </a:p>
        </p:txBody>
      </p:sp>
      <p:sp>
        <p:nvSpPr>
          <p:cNvPr id="39" name="atomic-body">
            <a:extLst>
              <a:ext uri="{FF2B5EF4-FFF2-40B4-BE49-F238E27FC236}">
                <a16:creationId xmlns:a16="http://schemas.microsoft.com/office/drawing/2014/main" id="{DCA011CA-40B9-83AB-C080-9B5635D06E71}"/>
              </a:ext>
            </a:extLst>
          </p:cNvPr>
          <p:cNvSpPr txBox="1"/>
          <p:nvPr/>
        </p:nvSpPr>
        <p:spPr>
          <a:xfrm>
            <a:off x="7721600" y="4686299"/>
            <a:ext cx="3149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8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任一</a:t>
            </a:r>
            <a:r>
              <a:rPr lang="en-US" altLang="zh-CN" sz="118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180">
                <a:solidFill>
                  <a:srgbClr val="7042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失败，本轮决策与状态不落盘，可安全重跑</a:t>
            </a:r>
          </a:p>
        </p:txBody>
      </p:sp>
      <p:sp>
        <p:nvSpPr>
          <p:cNvPr id="40" name="takeaway-box">
            <a:extLst>
              <a:ext uri="{FF2B5EF4-FFF2-40B4-BE49-F238E27FC236}">
                <a16:creationId xmlns:a16="http://schemas.microsoft.com/office/drawing/2014/main" id="{A2BB8F10-3282-FD18-3059-1A5B0862C4B4}"/>
              </a:ext>
            </a:extLst>
          </p:cNvPr>
          <p:cNvSpPr/>
          <p:nvPr/>
        </p:nvSpPr>
        <p:spPr>
          <a:xfrm>
            <a:off x="1905000" y="6045200"/>
            <a:ext cx="8382000" cy="55880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4C4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takeaway-marker">
            <a:extLst>
              <a:ext uri="{FF2B5EF4-FFF2-40B4-BE49-F238E27FC236}">
                <a16:creationId xmlns:a16="http://schemas.microsoft.com/office/drawing/2014/main" id="{98754412-5197-1AC3-F93A-66ECC6A7188C}"/>
              </a:ext>
            </a:extLst>
          </p:cNvPr>
          <p:cNvSpPr/>
          <p:nvPr/>
        </p:nvSpPr>
        <p:spPr>
          <a:xfrm>
            <a:off x="2159000" y="6159500"/>
            <a:ext cx="990600" cy="330200"/>
          </a:xfrm>
          <a:prstGeom prst="roundRect">
            <a:avLst/>
          </a:prstGeom>
          <a:solidFill>
            <a:srgbClr val="F28A2E"/>
          </a:solidFill>
          <a:ln w="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takeaway-label">
            <a:extLst>
              <a:ext uri="{FF2B5EF4-FFF2-40B4-BE49-F238E27FC236}">
                <a16:creationId xmlns:a16="http://schemas.microsoft.com/office/drawing/2014/main" id="{B81BF698-113F-863C-1220-1D8336F3A2CD}"/>
              </a:ext>
            </a:extLst>
          </p:cNvPr>
          <p:cNvSpPr txBox="1"/>
          <p:nvPr/>
        </p:nvSpPr>
        <p:spPr>
          <a:xfrm>
            <a:off x="2159000" y="6210300"/>
            <a:ext cx="990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关键结论</a:t>
            </a:r>
          </a:p>
        </p:txBody>
      </p:sp>
      <p:sp>
        <p:nvSpPr>
          <p:cNvPr id="43" name="takeaway-text">
            <a:extLst>
              <a:ext uri="{FF2B5EF4-FFF2-40B4-BE49-F238E27FC236}">
                <a16:creationId xmlns:a16="http://schemas.microsoft.com/office/drawing/2014/main" id="{C985AF06-8DA8-F1A4-CDF6-B62599856184}"/>
              </a:ext>
            </a:extLst>
          </p:cNvPr>
          <p:cNvSpPr txBox="1"/>
          <p:nvPr/>
        </p:nvSpPr>
        <p:spPr>
          <a:xfrm>
            <a:off x="3365500" y="6146799"/>
            <a:ext cx="66675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20" b="1">
                <a:solidFill>
                  <a:srgbClr val="173F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系统不掩盖模型不稳定，而是把异常转化为可追踪的数据质量标记</a:t>
            </a:r>
          </a:p>
        </p:txBody>
      </p:sp>
    </p:spTree>
    <p:extLst>
      <p:ext uri="{BB962C8B-B14F-4D97-AF65-F5344CB8AC3E}">
        <p14:creationId xmlns:p14="http://schemas.microsoft.com/office/powerpoint/2010/main" val="3094349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BCB52-A502-9B3C-F871-202BDCCC6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>
            <a:extLst>
              <a:ext uri="{FF2B5EF4-FFF2-40B4-BE49-F238E27FC236}">
                <a16:creationId xmlns:a16="http://schemas.microsoft.com/office/drawing/2014/main" id="{9E403AEF-AE33-2939-3C1F-7A88B90A7064}"/>
              </a:ext>
            </a:extLst>
          </p:cNvPr>
          <p:cNvSpPr/>
          <p:nvPr/>
        </p:nvSpPr>
        <p:spPr>
          <a:xfrm>
            <a:off x="3302000" y="635000"/>
            <a:ext cx="5588000" cy="5588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556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1" name="圆: 空心 4">
            <a:extLst>
              <a:ext uri="{FF2B5EF4-FFF2-40B4-BE49-F238E27FC236}">
                <a16:creationId xmlns:a16="http://schemas.microsoft.com/office/drawing/2014/main" id="{9FD36705-6C0A-29EA-D844-B7BF67CC5229}"/>
              </a:ext>
            </a:extLst>
          </p:cNvPr>
          <p:cNvSpPr/>
          <p:nvPr/>
        </p:nvSpPr>
        <p:spPr>
          <a:xfrm>
            <a:off x="1574800" y="-1092200"/>
            <a:ext cx="9042400" cy="9042400"/>
          </a:xfrm>
          <a:prstGeom prst="donut">
            <a:avLst>
              <a:gd name="adj" fmla="val 6774"/>
            </a:avLst>
          </a:prstGeom>
          <a:gradFill>
            <a:gsLst>
              <a:gs pos="43000">
                <a:srgbClr val="2257AE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1676D76-E851-1BDF-BFD7-D92F47CA7A2D}"/>
              </a:ext>
            </a:extLst>
          </p:cNvPr>
          <p:cNvSpPr txBox="1"/>
          <p:nvPr/>
        </p:nvSpPr>
        <p:spPr>
          <a:xfrm>
            <a:off x="4930719" y="3289880"/>
            <a:ext cx="2275550" cy="791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000">
                <a:solidFill>
                  <a:srgbClr val="2257AE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实验结果</a:t>
            </a:r>
            <a:endParaRPr lang="zh-CN" altLang="en-US" sz="4000" dirty="0">
              <a:solidFill>
                <a:srgbClr val="2257AE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A1B93B4A-6760-11B7-344C-C7A8C29D6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325" y="1803400"/>
            <a:ext cx="1403350" cy="140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6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F6AE9-6F51-CABA-17D7-95F57725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3FBD2A4D-DA7A-9C5C-997E-C794C4D1ACEF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38D9D61F-6E0B-E618-679A-2C8805490D4C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84B62C2B-2461-9656-5C3B-C8D497799B45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占位符 43">
            <a:extLst>
              <a:ext uri="{FF2B5EF4-FFF2-40B4-BE49-F238E27FC236}">
                <a16:creationId xmlns:a16="http://schemas.microsoft.com/office/drawing/2014/main" id="{5195FB84-EF79-B7BA-FD90-D794965CDE20}"/>
              </a:ext>
            </a:extLst>
          </p:cNvPr>
          <p:cNvSpPr txBox="1"/>
          <p:nvPr/>
        </p:nvSpPr>
        <p:spPr>
          <a:xfrm>
            <a:off x="399891" y="349328"/>
            <a:ext cx="7096936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实验结果</a:t>
            </a:r>
            <a:r>
              <a:rPr lang="en-US" altLang="zh-CN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zh-CN" b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真实案例验证｜胡某宇事件舆情演化脉络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254A69CC-A113-5BC6-3647-42A2BDED02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A3F1BDB-243C-BC81-716F-BC2952758ED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FC30F73-712B-5564-2E6F-FFFC2AE5B8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438"/>
          <a:stretch>
            <a:fillRect/>
          </a:stretch>
        </p:blipFill>
        <p:spPr>
          <a:xfrm>
            <a:off x="0" y="906522"/>
            <a:ext cx="12185522" cy="573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0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1C4E5-1AC9-D30D-9796-6CE2BB341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AE822922-B53A-EE7F-2BBC-3F8FE784D14A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513B5D81-935C-E34A-0561-61F17099FF3E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AC33AFD1-B6FE-E57A-0E15-3EDC97E1E65D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占位符 43">
            <a:extLst>
              <a:ext uri="{FF2B5EF4-FFF2-40B4-BE49-F238E27FC236}">
                <a16:creationId xmlns:a16="http://schemas.microsoft.com/office/drawing/2014/main" id="{E8E6976F-41D9-872E-B2ED-E6E81FD9C4A4}"/>
              </a:ext>
            </a:extLst>
          </p:cNvPr>
          <p:cNvSpPr txBox="1"/>
          <p:nvPr/>
        </p:nvSpPr>
        <p:spPr>
          <a:xfrm>
            <a:off x="399891" y="349328"/>
            <a:ext cx="7096936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实验结果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96BF5862-CE13-3AC7-3025-70A409C2251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6CA5F7-E968-A9A4-7B66-4A0C688A923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6D3BC04-1C38-123C-DFC1-5CE5B31F55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661" y="906522"/>
            <a:ext cx="10115454" cy="592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2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C2811-5606-6771-EBC9-8ABB23A00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8A6E068F-82D7-E4FA-B868-F75003747F92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51AF2793-702D-3252-3081-A32971F4A33F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58BD2-5375-F917-5722-A18301D27180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占位符 43">
            <a:extLst>
              <a:ext uri="{FF2B5EF4-FFF2-40B4-BE49-F238E27FC236}">
                <a16:creationId xmlns:a16="http://schemas.microsoft.com/office/drawing/2014/main" id="{B32B0530-9EBD-529D-AE00-A289BAC65C9C}"/>
              </a:ext>
            </a:extLst>
          </p:cNvPr>
          <p:cNvSpPr txBox="1"/>
          <p:nvPr/>
        </p:nvSpPr>
        <p:spPr>
          <a:xfrm>
            <a:off x="399891" y="349328"/>
            <a:ext cx="7096936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实验结果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48B0F319-AADA-9069-F90E-B153FB5BEC8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C8AB6BC-67A6-922C-F7DA-BC16A5D6C5E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A0BD3B4-B481-DD55-1781-537C8E6462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425" y="1018036"/>
            <a:ext cx="9731797" cy="583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249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A9CBC-0C73-AE9E-9485-436FE174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E93FB4DC-3D2E-AA00-016B-BA987AC6D9B5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30F3E2DB-E27D-E306-D3B0-EAAA420BA388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FEB63321-6576-F1BD-5A49-0EE7B973AC11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占位符 43">
            <a:extLst>
              <a:ext uri="{FF2B5EF4-FFF2-40B4-BE49-F238E27FC236}">
                <a16:creationId xmlns:a16="http://schemas.microsoft.com/office/drawing/2014/main" id="{2A04B4FB-62FA-92A4-D64B-EE1167E55EB0}"/>
              </a:ext>
            </a:extLst>
          </p:cNvPr>
          <p:cNvSpPr txBox="1"/>
          <p:nvPr/>
        </p:nvSpPr>
        <p:spPr>
          <a:xfrm>
            <a:off x="399891" y="349328"/>
            <a:ext cx="7096936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实验结果</a:t>
            </a:r>
            <a:endParaRPr lang="zh-CN" altLang="en-US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5529DC84-4C16-C765-1384-3E4B30889D2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5036114-F9E2-6D04-6A0D-C5F115D8F1C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CA28BEC-4050-3549-067C-CA68F8CDC4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89" y="945966"/>
            <a:ext cx="10409129" cy="591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13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5EC11-8E34-2321-E39A-071B6A241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>
            <a:extLst>
              <a:ext uri="{FF2B5EF4-FFF2-40B4-BE49-F238E27FC236}">
                <a16:creationId xmlns:a16="http://schemas.microsoft.com/office/drawing/2014/main" id="{E99344BB-C9E6-0FF3-EC76-D4D0C3F4D492}"/>
              </a:ext>
            </a:extLst>
          </p:cNvPr>
          <p:cNvSpPr/>
          <p:nvPr/>
        </p:nvSpPr>
        <p:spPr>
          <a:xfrm>
            <a:off x="3302000" y="635000"/>
            <a:ext cx="5588000" cy="5588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556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1" name="圆: 空心 4">
            <a:extLst>
              <a:ext uri="{FF2B5EF4-FFF2-40B4-BE49-F238E27FC236}">
                <a16:creationId xmlns:a16="http://schemas.microsoft.com/office/drawing/2014/main" id="{B64359F4-D49B-BC82-2E32-FEFEFD96542C}"/>
              </a:ext>
            </a:extLst>
          </p:cNvPr>
          <p:cNvSpPr/>
          <p:nvPr/>
        </p:nvSpPr>
        <p:spPr>
          <a:xfrm>
            <a:off x="1574800" y="-1092200"/>
            <a:ext cx="9042400" cy="9042400"/>
          </a:xfrm>
          <a:prstGeom prst="donut">
            <a:avLst>
              <a:gd name="adj" fmla="val 6774"/>
            </a:avLst>
          </a:prstGeom>
          <a:gradFill>
            <a:gsLst>
              <a:gs pos="43000">
                <a:srgbClr val="2257AE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B4FA5FC-5577-2F74-DC3F-39E21AD3E275}"/>
              </a:ext>
            </a:extLst>
          </p:cNvPr>
          <p:cNvSpPr txBox="1"/>
          <p:nvPr/>
        </p:nvSpPr>
        <p:spPr>
          <a:xfrm>
            <a:off x="4930719" y="3289880"/>
            <a:ext cx="2275550" cy="791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000">
                <a:solidFill>
                  <a:srgbClr val="2257AE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后续工作</a:t>
            </a:r>
            <a:endParaRPr lang="zh-CN" altLang="en-US" sz="4000" dirty="0">
              <a:solidFill>
                <a:srgbClr val="2257AE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96A24084-D889-5B86-C35F-BAFC86AD5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325" y="1803400"/>
            <a:ext cx="1403350" cy="140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109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B3656-0DA6-DF0B-FBF2-ED868191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4E13CCA8-E738-1011-16CE-13487DA474F1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7E543552-7D6D-67F3-648D-36BF9754F20C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F157C9E2-1455-4009-381B-9D4FC40B98E0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占位符 43">
            <a:extLst>
              <a:ext uri="{FF2B5EF4-FFF2-40B4-BE49-F238E27FC236}">
                <a16:creationId xmlns:a16="http://schemas.microsoft.com/office/drawing/2014/main" id="{93317AC1-A21F-8179-03E1-8AAF1E763689}"/>
              </a:ext>
            </a:extLst>
          </p:cNvPr>
          <p:cNvSpPr txBox="1"/>
          <p:nvPr/>
        </p:nvSpPr>
        <p:spPr>
          <a:xfrm>
            <a:off x="399890" y="349328"/>
            <a:ext cx="7679397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</a:t>
            </a:r>
            <a:endParaRPr lang="zh-CN" altLang="en-US" sz="28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32TERJTUKUILFYTRA">
            <a:extLst>
              <a:ext uri="{FF2B5EF4-FFF2-40B4-BE49-F238E27FC236}">
                <a16:creationId xmlns:a16="http://schemas.microsoft.com/office/drawing/2014/main" id="{B6860AD7-8CF0-DCD6-88DE-A4C5891AA78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9D5F4A-94F7-386A-CAF1-8020AFDBDC0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5" name="tag-0">
            <a:extLst>
              <a:ext uri="{FF2B5EF4-FFF2-40B4-BE49-F238E27FC236}">
                <a16:creationId xmlns:a16="http://schemas.microsoft.com/office/drawing/2014/main" id="{421842DC-8A87-9667-D836-734C0819050A}"/>
              </a:ext>
            </a:extLst>
          </p:cNvPr>
          <p:cNvSpPr/>
          <p:nvPr/>
        </p:nvSpPr>
        <p:spPr>
          <a:xfrm>
            <a:off x="2171700" y="1028699"/>
            <a:ext cx="939800" cy="330200"/>
          </a:xfrm>
          <a:prstGeom prst="roundRect">
            <a:avLst/>
          </a:prstGeom>
          <a:solidFill>
            <a:srgbClr val="EAF2FC"/>
          </a:solidFill>
          <a:ln w="1143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tag-text-0">
            <a:extLst>
              <a:ext uri="{FF2B5EF4-FFF2-40B4-BE49-F238E27FC236}">
                <a16:creationId xmlns:a16="http://schemas.microsoft.com/office/drawing/2014/main" id="{4EAEC70E-6AE1-D8A0-4AD3-8E9A43AE0B64}"/>
              </a:ext>
            </a:extLst>
          </p:cNvPr>
          <p:cNvSpPr txBox="1"/>
          <p:nvPr/>
        </p:nvSpPr>
        <p:spPr>
          <a:xfrm>
            <a:off x="2171700" y="1092199"/>
            <a:ext cx="9398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150" b="1">
                <a:solidFill>
                  <a:srgbClr val="2D70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可信度</a:t>
            </a:r>
          </a:p>
        </p:txBody>
      </p:sp>
      <p:sp>
        <p:nvSpPr>
          <p:cNvPr id="9" name="tag-1">
            <a:extLst>
              <a:ext uri="{FF2B5EF4-FFF2-40B4-BE49-F238E27FC236}">
                <a16:creationId xmlns:a16="http://schemas.microsoft.com/office/drawing/2014/main" id="{96E3947B-4A8E-02CD-8285-C408D7BF7251}"/>
              </a:ext>
            </a:extLst>
          </p:cNvPr>
          <p:cNvSpPr/>
          <p:nvPr/>
        </p:nvSpPr>
        <p:spPr>
          <a:xfrm>
            <a:off x="5537200" y="1045790"/>
            <a:ext cx="939800" cy="330200"/>
          </a:xfrm>
          <a:prstGeom prst="roundRect">
            <a:avLst/>
          </a:prstGeom>
          <a:solidFill>
            <a:srgbClr val="F1EDFB"/>
          </a:solidFill>
          <a:ln w="11430">
            <a:solidFill>
              <a:srgbClr val="7B6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tag-text-1">
            <a:extLst>
              <a:ext uri="{FF2B5EF4-FFF2-40B4-BE49-F238E27FC236}">
                <a16:creationId xmlns:a16="http://schemas.microsoft.com/office/drawing/2014/main" id="{CA8153DD-7B01-7926-B3BF-A5B7D0D20561}"/>
              </a:ext>
            </a:extLst>
          </p:cNvPr>
          <p:cNvSpPr txBox="1"/>
          <p:nvPr/>
        </p:nvSpPr>
        <p:spPr>
          <a:xfrm>
            <a:off x="5537200" y="1109290"/>
            <a:ext cx="9398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150" b="1">
                <a:solidFill>
                  <a:srgbClr val="7B61D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扩展性</a:t>
            </a:r>
          </a:p>
        </p:txBody>
      </p:sp>
      <p:sp>
        <p:nvSpPr>
          <p:cNvPr id="11" name="tag-2">
            <a:extLst>
              <a:ext uri="{FF2B5EF4-FFF2-40B4-BE49-F238E27FC236}">
                <a16:creationId xmlns:a16="http://schemas.microsoft.com/office/drawing/2014/main" id="{B10C6DAB-988F-A5CB-FBF7-F36355DC4BF4}"/>
              </a:ext>
            </a:extLst>
          </p:cNvPr>
          <p:cNvSpPr/>
          <p:nvPr/>
        </p:nvSpPr>
        <p:spPr>
          <a:xfrm>
            <a:off x="9004300" y="1022652"/>
            <a:ext cx="939800" cy="330200"/>
          </a:xfrm>
          <a:prstGeom prst="roundRect">
            <a:avLst/>
          </a:prstGeom>
          <a:solidFill>
            <a:srgbClr val="FFF1E2"/>
          </a:solidFill>
          <a:ln w="1143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tag-text-2">
            <a:extLst>
              <a:ext uri="{FF2B5EF4-FFF2-40B4-BE49-F238E27FC236}">
                <a16:creationId xmlns:a16="http://schemas.microsoft.com/office/drawing/2014/main" id="{4DDC7C5E-A7CC-E567-BBC2-F26E0EC4C63C}"/>
              </a:ext>
            </a:extLst>
          </p:cNvPr>
          <p:cNvSpPr txBox="1"/>
          <p:nvPr/>
        </p:nvSpPr>
        <p:spPr>
          <a:xfrm>
            <a:off x="9004300" y="1086152"/>
            <a:ext cx="9398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150" b="1">
                <a:solidFill>
                  <a:srgbClr val="F28A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工程化</a:t>
            </a:r>
          </a:p>
        </p:txBody>
      </p:sp>
      <p:cxnSp>
        <p:nvCxnSpPr>
          <p:cNvPr id="13" name="road-1">
            <a:extLst>
              <a:ext uri="{FF2B5EF4-FFF2-40B4-BE49-F238E27FC236}">
                <a16:creationId xmlns:a16="http://schemas.microsoft.com/office/drawing/2014/main" id="{E0C9D884-79C7-19A1-9C62-3D6F5D4A4917}"/>
              </a:ext>
            </a:extLst>
          </p:cNvPr>
          <p:cNvCxnSpPr/>
          <p:nvPr/>
        </p:nvCxnSpPr>
        <p:spPr>
          <a:xfrm>
            <a:off x="1562100" y="2362200"/>
            <a:ext cx="3416300" cy="0"/>
          </a:xfrm>
          <a:prstGeom prst="line">
            <a:avLst/>
          </a:prstGeom>
          <a:ln w="88900">
            <a:solidFill>
              <a:srgbClr val="2D7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oad-2">
            <a:extLst>
              <a:ext uri="{FF2B5EF4-FFF2-40B4-BE49-F238E27FC236}">
                <a16:creationId xmlns:a16="http://schemas.microsoft.com/office/drawing/2014/main" id="{AFEEC324-529D-C366-4F7A-F10D02B39E53}"/>
              </a:ext>
            </a:extLst>
          </p:cNvPr>
          <p:cNvCxnSpPr/>
          <p:nvPr/>
        </p:nvCxnSpPr>
        <p:spPr>
          <a:xfrm>
            <a:off x="4978400" y="2362200"/>
            <a:ext cx="3416300" cy="0"/>
          </a:xfrm>
          <a:prstGeom prst="line">
            <a:avLst/>
          </a:prstGeom>
          <a:ln w="88900">
            <a:solidFill>
              <a:srgbClr val="24A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oad-3">
            <a:extLst>
              <a:ext uri="{FF2B5EF4-FFF2-40B4-BE49-F238E27FC236}">
                <a16:creationId xmlns:a16="http://schemas.microsoft.com/office/drawing/2014/main" id="{317A58A5-A192-5475-DD1C-329E9BE436EB}"/>
              </a:ext>
            </a:extLst>
          </p:cNvPr>
          <p:cNvCxnSpPr/>
          <p:nvPr/>
        </p:nvCxnSpPr>
        <p:spPr>
          <a:xfrm>
            <a:off x="8394700" y="2362200"/>
            <a:ext cx="2705100" cy="0"/>
          </a:xfrm>
          <a:prstGeom prst="line">
            <a:avLst/>
          </a:prstGeom>
          <a:ln w="88900">
            <a:solidFill>
              <a:srgbClr val="F28A2E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tage-node-0">
            <a:extLst>
              <a:ext uri="{FF2B5EF4-FFF2-40B4-BE49-F238E27FC236}">
                <a16:creationId xmlns:a16="http://schemas.microsoft.com/office/drawing/2014/main" id="{2A8D855F-AF05-2C96-2922-F0DAA5254EAF}"/>
              </a:ext>
            </a:extLst>
          </p:cNvPr>
          <p:cNvSpPr/>
          <p:nvPr/>
        </p:nvSpPr>
        <p:spPr>
          <a:xfrm>
            <a:off x="1358900" y="205740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7" name="stage-no-0">
            <a:extLst>
              <a:ext uri="{FF2B5EF4-FFF2-40B4-BE49-F238E27FC236}">
                <a16:creationId xmlns:a16="http://schemas.microsoft.com/office/drawing/2014/main" id="{2DF896E3-5D9B-0136-7EED-0E6DEA3B5715}"/>
              </a:ext>
            </a:extLst>
          </p:cNvPr>
          <p:cNvSpPr txBox="1"/>
          <p:nvPr/>
        </p:nvSpPr>
        <p:spPr>
          <a:xfrm>
            <a:off x="1358900" y="2222500"/>
            <a:ext cx="609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>
                <a:solidFill>
                  <a:srgbClr val="2D70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400" b="1">
              <a:solidFill>
                <a:srgbClr val="2D70D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tage-title-0">
            <a:extLst>
              <a:ext uri="{FF2B5EF4-FFF2-40B4-BE49-F238E27FC236}">
                <a16:creationId xmlns:a16="http://schemas.microsoft.com/office/drawing/2014/main" id="{338AF7DB-9870-088A-297B-9E9EA2F1A4D7}"/>
              </a:ext>
            </a:extLst>
          </p:cNvPr>
          <p:cNvSpPr txBox="1"/>
          <p:nvPr/>
        </p:nvSpPr>
        <p:spPr>
          <a:xfrm>
            <a:off x="2120900" y="1625599"/>
            <a:ext cx="2095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100" b="1">
                <a:solidFill>
                  <a:srgbClr val="2D70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近期优化</a:t>
            </a:r>
          </a:p>
        </p:txBody>
      </p:sp>
      <p:sp>
        <p:nvSpPr>
          <p:cNvPr id="19" name="stage-goal-0">
            <a:extLst>
              <a:ext uri="{FF2B5EF4-FFF2-40B4-BE49-F238E27FC236}">
                <a16:creationId xmlns:a16="http://schemas.microsoft.com/office/drawing/2014/main" id="{2CE69182-2AA9-A1D6-A7AC-D64989BDA020}"/>
              </a:ext>
            </a:extLst>
          </p:cNvPr>
          <p:cNvSpPr txBox="1"/>
          <p:nvPr/>
        </p:nvSpPr>
        <p:spPr>
          <a:xfrm>
            <a:off x="2120900" y="2006600"/>
            <a:ext cx="20955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00">
                <a:solidFill>
                  <a:srgbClr val="6472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先提升仿真可信度</a:t>
            </a:r>
          </a:p>
        </p:txBody>
      </p:sp>
      <p:sp>
        <p:nvSpPr>
          <p:cNvPr id="20" name="stage-zone-0">
            <a:extLst>
              <a:ext uri="{FF2B5EF4-FFF2-40B4-BE49-F238E27FC236}">
                <a16:creationId xmlns:a16="http://schemas.microsoft.com/office/drawing/2014/main" id="{F058F789-36EC-5462-FEFF-8BEAE7A71F68}"/>
              </a:ext>
            </a:extLst>
          </p:cNvPr>
          <p:cNvSpPr/>
          <p:nvPr/>
        </p:nvSpPr>
        <p:spPr>
          <a:xfrm>
            <a:off x="1193800" y="2870200"/>
            <a:ext cx="3175000" cy="2730500"/>
          </a:xfrm>
          <a:prstGeom prst="roundRect">
            <a:avLst/>
          </a:prstGeom>
          <a:solidFill>
            <a:srgbClr val="EEF5FE">
              <a:alpha val="88000"/>
            </a:srgbClr>
          </a:solidFill>
          <a:ln w="1270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1" name="stage-node-1">
            <a:extLst>
              <a:ext uri="{FF2B5EF4-FFF2-40B4-BE49-F238E27FC236}">
                <a16:creationId xmlns:a16="http://schemas.microsoft.com/office/drawing/2014/main" id="{909128EA-1193-C94A-7693-E4CA62CD3E3B}"/>
              </a:ext>
            </a:extLst>
          </p:cNvPr>
          <p:cNvSpPr/>
          <p:nvPr/>
        </p:nvSpPr>
        <p:spPr>
          <a:xfrm>
            <a:off x="4775200" y="205740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6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2" name="stage-no-1">
            <a:extLst>
              <a:ext uri="{FF2B5EF4-FFF2-40B4-BE49-F238E27FC236}">
                <a16:creationId xmlns:a16="http://schemas.microsoft.com/office/drawing/2014/main" id="{B7A6FB8A-6BF9-0352-D5F6-E69D07C77BB6}"/>
              </a:ext>
            </a:extLst>
          </p:cNvPr>
          <p:cNvSpPr txBox="1"/>
          <p:nvPr/>
        </p:nvSpPr>
        <p:spPr>
          <a:xfrm>
            <a:off x="4775200" y="2222500"/>
            <a:ext cx="609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>
                <a:solidFill>
                  <a:srgbClr val="7B61D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400" b="1">
              <a:solidFill>
                <a:srgbClr val="7B61D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stage-title-1">
            <a:extLst>
              <a:ext uri="{FF2B5EF4-FFF2-40B4-BE49-F238E27FC236}">
                <a16:creationId xmlns:a16="http://schemas.microsoft.com/office/drawing/2014/main" id="{2114651A-34DE-96CF-C2F8-7EDF92E6C7AC}"/>
              </a:ext>
            </a:extLst>
          </p:cNvPr>
          <p:cNvSpPr txBox="1"/>
          <p:nvPr/>
        </p:nvSpPr>
        <p:spPr>
          <a:xfrm>
            <a:off x="5537200" y="1625599"/>
            <a:ext cx="2095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100" b="1">
                <a:solidFill>
                  <a:srgbClr val="7B61D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中期扩展</a:t>
            </a:r>
          </a:p>
        </p:txBody>
      </p:sp>
      <p:sp>
        <p:nvSpPr>
          <p:cNvPr id="24" name="stage-goal-1">
            <a:extLst>
              <a:ext uri="{FF2B5EF4-FFF2-40B4-BE49-F238E27FC236}">
                <a16:creationId xmlns:a16="http://schemas.microsoft.com/office/drawing/2014/main" id="{8C001287-EB00-DC8B-2785-710049342E30}"/>
              </a:ext>
            </a:extLst>
          </p:cNvPr>
          <p:cNvSpPr txBox="1"/>
          <p:nvPr/>
        </p:nvSpPr>
        <p:spPr>
          <a:xfrm>
            <a:off x="5537200" y="2006600"/>
            <a:ext cx="20955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00">
                <a:solidFill>
                  <a:srgbClr val="6472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再扩展实验能力</a:t>
            </a:r>
          </a:p>
        </p:txBody>
      </p:sp>
      <p:sp>
        <p:nvSpPr>
          <p:cNvPr id="25" name="stage-zone-1">
            <a:extLst>
              <a:ext uri="{FF2B5EF4-FFF2-40B4-BE49-F238E27FC236}">
                <a16:creationId xmlns:a16="http://schemas.microsoft.com/office/drawing/2014/main" id="{AF42B061-133A-5CEA-8649-85A544265962}"/>
              </a:ext>
            </a:extLst>
          </p:cNvPr>
          <p:cNvSpPr/>
          <p:nvPr/>
        </p:nvSpPr>
        <p:spPr>
          <a:xfrm>
            <a:off x="4610100" y="2870200"/>
            <a:ext cx="3175000" cy="2730500"/>
          </a:xfrm>
          <a:prstGeom prst="roundRect">
            <a:avLst/>
          </a:prstGeom>
          <a:solidFill>
            <a:srgbClr val="F3F0FC">
              <a:alpha val="88000"/>
            </a:srgbClr>
          </a:solidFill>
          <a:ln w="12700">
            <a:solidFill>
              <a:srgbClr val="7B6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6" name="stage-node-2">
            <a:extLst>
              <a:ext uri="{FF2B5EF4-FFF2-40B4-BE49-F238E27FC236}">
                <a16:creationId xmlns:a16="http://schemas.microsoft.com/office/drawing/2014/main" id="{1072F0FF-7B77-AEC7-7B53-5DF79CEE7252}"/>
              </a:ext>
            </a:extLst>
          </p:cNvPr>
          <p:cNvSpPr/>
          <p:nvPr/>
        </p:nvSpPr>
        <p:spPr>
          <a:xfrm>
            <a:off x="8191500" y="2057400"/>
            <a:ext cx="609600" cy="609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" name="stage-no-2">
            <a:extLst>
              <a:ext uri="{FF2B5EF4-FFF2-40B4-BE49-F238E27FC236}">
                <a16:creationId xmlns:a16="http://schemas.microsoft.com/office/drawing/2014/main" id="{92614532-90D6-811C-0526-F4349C97A9DD}"/>
              </a:ext>
            </a:extLst>
          </p:cNvPr>
          <p:cNvSpPr txBox="1"/>
          <p:nvPr/>
        </p:nvSpPr>
        <p:spPr>
          <a:xfrm>
            <a:off x="8191500" y="2222500"/>
            <a:ext cx="609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>
                <a:solidFill>
                  <a:srgbClr val="F28A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400" b="1">
              <a:solidFill>
                <a:srgbClr val="F28A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stage-title-2">
            <a:extLst>
              <a:ext uri="{FF2B5EF4-FFF2-40B4-BE49-F238E27FC236}">
                <a16:creationId xmlns:a16="http://schemas.microsoft.com/office/drawing/2014/main" id="{D33DA7B0-3D70-D6B5-39AB-6DF5B7210610}"/>
              </a:ext>
            </a:extLst>
          </p:cNvPr>
          <p:cNvSpPr txBox="1"/>
          <p:nvPr/>
        </p:nvSpPr>
        <p:spPr>
          <a:xfrm>
            <a:off x="8953500" y="1625599"/>
            <a:ext cx="2095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100" b="1">
                <a:solidFill>
                  <a:srgbClr val="F28A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工程落地</a:t>
            </a:r>
          </a:p>
        </p:txBody>
      </p:sp>
      <p:sp>
        <p:nvSpPr>
          <p:cNvPr id="29" name="stage-goal-2">
            <a:extLst>
              <a:ext uri="{FF2B5EF4-FFF2-40B4-BE49-F238E27FC236}">
                <a16:creationId xmlns:a16="http://schemas.microsoft.com/office/drawing/2014/main" id="{A23B5D28-E461-E1CE-6A3F-807963592D6C}"/>
              </a:ext>
            </a:extLst>
          </p:cNvPr>
          <p:cNvSpPr txBox="1"/>
          <p:nvPr/>
        </p:nvSpPr>
        <p:spPr>
          <a:xfrm>
            <a:off x="8953500" y="2006600"/>
            <a:ext cx="20955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00">
                <a:solidFill>
                  <a:srgbClr val="6472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最终形成应用平台</a:t>
            </a:r>
          </a:p>
        </p:txBody>
      </p:sp>
      <p:sp>
        <p:nvSpPr>
          <p:cNvPr id="30" name="stage-zone-2">
            <a:extLst>
              <a:ext uri="{FF2B5EF4-FFF2-40B4-BE49-F238E27FC236}">
                <a16:creationId xmlns:a16="http://schemas.microsoft.com/office/drawing/2014/main" id="{9938B57F-F61C-F980-AC3B-386D297CC818}"/>
              </a:ext>
            </a:extLst>
          </p:cNvPr>
          <p:cNvSpPr/>
          <p:nvPr/>
        </p:nvSpPr>
        <p:spPr>
          <a:xfrm>
            <a:off x="8026400" y="2870200"/>
            <a:ext cx="3290866" cy="2730500"/>
          </a:xfrm>
          <a:prstGeom prst="roundRect">
            <a:avLst/>
          </a:prstGeom>
          <a:solidFill>
            <a:srgbClr val="FFF4E8">
              <a:alpha val="88000"/>
            </a:srgbClr>
          </a:solidFill>
          <a:ln w="1270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1" name="task1-icon-bg">
            <a:extLst>
              <a:ext uri="{FF2B5EF4-FFF2-40B4-BE49-F238E27FC236}">
                <a16:creationId xmlns:a16="http://schemas.microsoft.com/office/drawing/2014/main" id="{4678AF60-8A67-E52F-9F26-7250CBEA2518}"/>
              </a:ext>
            </a:extLst>
          </p:cNvPr>
          <p:cNvSpPr/>
          <p:nvPr/>
        </p:nvSpPr>
        <p:spPr>
          <a:xfrm>
            <a:off x="1435100" y="3200400"/>
            <a:ext cx="584200" cy="584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" name="task1-icon-bubble">
            <a:extLst>
              <a:ext uri="{FF2B5EF4-FFF2-40B4-BE49-F238E27FC236}">
                <a16:creationId xmlns:a16="http://schemas.microsoft.com/office/drawing/2014/main" id="{017B0EAA-3579-5DC9-E7CB-88A86C5E46EC}"/>
              </a:ext>
            </a:extLst>
          </p:cNvPr>
          <p:cNvSpPr/>
          <p:nvPr/>
        </p:nvSpPr>
        <p:spPr>
          <a:xfrm>
            <a:off x="1562100" y="3340100"/>
            <a:ext cx="330200" cy="2413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3" name="task1-icon-dot-0">
            <a:extLst>
              <a:ext uri="{FF2B5EF4-FFF2-40B4-BE49-F238E27FC236}">
                <a16:creationId xmlns:a16="http://schemas.microsoft.com/office/drawing/2014/main" id="{E5C4FFA4-141F-0AA8-CBD5-E807F362FB26}"/>
              </a:ext>
            </a:extLst>
          </p:cNvPr>
          <p:cNvSpPr/>
          <p:nvPr/>
        </p:nvSpPr>
        <p:spPr>
          <a:xfrm>
            <a:off x="1625600" y="3441700"/>
            <a:ext cx="38100" cy="381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4" name="task1-icon-dot-1">
            <a:extLst>
              <a:ext uri="{FF2B5EF4-FFF2-40B4-BE49-F238E27FC236}">
                <a16:creationId xmlns:a16="http://schemas.microsoft.com/office/drawing/2014/main" id="{D1BB09A4-C5B5-16F6-7F4C-FC32EA57797F}"/>
              </a:ext>
            </a:extLst>
          </p:cNvPr>
          <p:cNvSpPr/>
          <p:nvPr/>
        </p:nvSpPr>
        <p:spPr>
          <a:xfrm>
            <a:off x="1714500" y="3441700"/>
            <a:ext cx="38100" cy="381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5" name="task1-icon-dot-2">
            <a:extLst>
              <a:ext uri="{FF2B5EF4-FFF2-40B4-BE49-F238E27FC236}">
                <a16:creationId xmlns:a16="http://schemas.microsoft.com/office/drawing/2014/main" id="{E01BCB9C-25AB-1812-6933-3B959AE1BAB6}"/>
              </a:ext>
            </a:extLst>
          </p:cNvPr>
          <p:cNvSpPr/>
          <p:nvPr/>
        </p:nvSpPr>
        <p:spPr>
          <a:xfrm>
            <a:off x="1803400" y="3441700"/>
            <a:ext cx="38100" cy="38100"/>
          </a:xfrm>
          <a:prstGeom prst="ellipse">
            <a:avLst/>
          </a:prstGeom>
          <a:solidFill>
            <a:srgbClr val="2D70D6"/>
          </a:solidFill>
          <a:ln w="0">
            <a:solidFill>
              <a:srgbClr val="2D70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36" name="task1-icon-tail-a">
            <a:extLst>
              <a:ext uri="{FF2B5EF4-FFF2-40B4-BE49-F238E27FC236}">
                <a16:creationId xmlns:a16="http://schemas.microsoft.com/office/drawing/2014/main" id="{B922D372-580E-CD20-19F7-18AD5FC093C4}"/>
              </a:ext>
            </a:extLst>
          </p:cNvPr>
          <p:cNvCxnSpPr/>
          <p:nvPr/>
        </p:nvCxnSpPr>
        <p:spPr>
          <a:xfrm flipH="1">
            <a:off x="1625600" y="3581400"/>
            <a:ext cx="38100" cy="63500"/>
          </a:xfrm>
          <a:prstGeom prst="line">
            <a:avLst/>
          </a:prstGeom>
          <a:ln w="15240">
            <a:solidFill>
              <a:srgbClr val="2D7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task1-icon-tail-b">
            <a:extLst>
              <a:ext uri="{FF2B5EF4-FFF2-40B4-BE49-F238E27FC236}">
                <a16:creationId xmlns:a16="http://schemas.microsoft.com/office/drawing/2014/main" id="{7CB987B7-1A39-6807-8603-C463381E285A}"/>
              </a:ext>
            </a:extLst>
          </p:cNvPr>
          <p:cNvCxnSpPr/>
          <p:nvPr/>
        </p:nvCxnSpPr>
        <p:spPr>
          <a:xfrm flipV="1">
            <a:off x="1625600" y="3581400"/>
            <a:ext cx="114300" cy="63500"/>
          </a:xfrm>
          <a:prstGeom prst="line">
            <a:avLst/>
          </a:prstGeom>
          <a:ln w="15240">
            <a:solidFill>
              <a:srgbClr val="2D70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ask1-title">
            <a:extLst>
              <a:ext uri="{FF2B5EF4-FFF2-40B4-BE49-F238E27FC236}">
                <a16:creationId xmlns:a16="http://schemas.microsoft.com/office/drawing/2014/main" id="{AA657A58-4533-C06D-A4CD-E430EB4A6ED1}"/>
              </a:ext>
            </a:extLst>
          </p:cNvPr>
          <p:cNvSpPr txBox="1"/>
          <p:nvPr/>
        </p:nvSpPr>
        <p:spPr>
          <a:xfrm>
            <a:off x="2171700" y="3213099"/>
            <a:ext cx="23876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700" b="1">
                <a:solidFill>
                  <a:srgbClr val="2D70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评论质量提升</a:t>
            </a:r>
          </a:p>
        </p:txBody>
      </p:sp>
      <p:sp>
        <p:nvSpPr>
          <p:cNvPr id="39" name="task1-body">
            <a:extLst>
              <a:ext uri="{FF2B5EF4-FFF2-40B4-BE49-F238E27FC236}">
                <a16:creationId xmlns:a16="http://schemas.microsoft.com/office/drawing/2014/main" id="{9654CF11-3694-CBF9-6599-76DBD3618E15}"/>
              </a:ext>
            </a:extLst>
          </p:cNvPr>
          <p:cNvSpPr txBox="1"/>
          <p:nvPr/>
        </p:nvSpPr>
        <p:spPr>
          <a:xfrm>
            <a:off x="2171700" y="3555999"/>
            <a:ext cx="24765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80">
                <a:solidFill>
                  <a:srgbClr val="5362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降低历史与应急兜底
提高</a:t>
            </a:r>
            <a:r>
              <a:rPr lang="en-US" altLang="zh-CN" sz="1280">
                <a:solidFill>
                  <a:srgbClr val="5362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</a:t>
            </a:r>
            <a:r>
              <a:rPr lang="zh-CN" altLang="en-US" sz="1280">
                <a:solidFill>
                  <a:srgbClr val="5362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有效生成率</a:t>
            </a:r>
          </a:p>
        </p:txBody>
      </p:sp>
      <p:sp>
        <p:nvSpPr>
          <p:cNvPr id="40" name="task2-icon-bg">
            <a:extLst>
              <a:ext uri="{FF2B5EF4-FFF2-40B4-BE49-F238E27FC236}">
                <a16:creationId xmlns:a16="http://schemas.microsoft.com/office/drawing/2014/main" id="{CE7B9701-C6C4-BB9E-61EE-C3F15F48B832}"/>
              </a:ext>
            </a:extLst>
          </p:cNvPr>
          <p:cNvSpPr/>
          <p:nvPr/>
        </p:nvSpPr>
        <p:spPr>
          <a:xfrm>
            <a:off x="1435100" y="4368800"/>
            <a:ext cx="584200" cy="584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task2-icon-ring1">
            <a:extLst>
              <a:ext uri="{FF2B5EF4-FFF2-40B4-BE49-F238E27FC236}">
                <a16:creationId xmlns:a16="http://schemas.microsoft.com/office/drawing/2014/main" id="{B7C3A864-108D-9B90-307A-DBB7191E8D54}"/>
              </a:ext>
            </a:extLst>
          </p:cNvPr>
          <p:cNvSpPr/>
          <p:nvPr/>
        </p:nvSpPr>
        <p:spPr>
          <a:xfrm>
            <a:off x="1562100" y="4495800"/>
            <a:ext cx="330200" cy="330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task2-icon-ring2">
            <a:extLst>
              <a:ext uri="{FF2B5EF4-FFF2-40B4-BE49-F238E27FC236}">
                <a16:creationId xmlns:a16="http://schemas.microsoft.com/office/drawing/2014/main" id="{42F00EFA-A50F-28AA-4763-AA7A358EF21D}"/>
              </a:ext>
            </a:extLst>
          </p:cNvPr>
          <p:cNvSpPr/>
          <p:nvPr/>
        </p:nvSpPr>
        <p:spPr>
          <a:xfrm>
            <a:off x="1638300" y="4572000"/>
            <a:ext cx="177800" cy="1778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task2-icon-center">
            <a:extLst>
              <a:ext uri="{FF2B5EF4-FFF2-40B4-BE49-F238E27FC236}">
                <a16:creationId xmlns:a16="http://schemas.microsoft.com/office/drawing/2014/main" id="{C536C554-FB98-7D74-DB83-FF696F907A5D}"/>
              </a:ext>
            </a:extLst>
          </p:cNvPr>
          <p:cNvSpPr/>
          <p:nvPr/>
        </p:nvSpPr>
        <p:spPr>
          <a:xfrm>
            <a:off x="1701800" y="4635500"/>
            <a:ext cx="50800" cy="50800"/>
          </a:xfrm>
          <a:prstGeom prst="ellipse">
            <a:avLst/>
          </a:prstGeom>
          <a:solidFill>
            <a:srgbClr val="128E97"/>
          </a:solidFill>
          <a:ln w="0">
            <a:solidFill>
              <a:srgbClr val="128E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44" name="task2-icon-cross-h">
            <a:extLst>
              <a:ext uri="{FF2B5EF4-FFF2-40B4-BE49-F238E27FC236}">
                <a16:creationId xmlns:a16="http://schemas.microsoft.com/office/drawing/2014/main" id="{7C831697-9D8A-6800-0F04-FF8198C230A3}"/>
              </a:ext>
            </a:extLst>
          </p:cNvPr>
          <p:cNvCxnSpPr/>
          <p:nvPr/>
        </p:nvCxnSpPr>
        <p:spPr>
          <a:xfrm>
            <a:off x="1524000" y="4660900"/>
            <a:ext cx="406400" cy="0"/>
          </a:xfrm>
          <a:prstGeom prst="line">
            <a:avLst/>
          </a:prstGeom>
          <a:ln w="12700">
            <a:solidFill>
              <a:srgbClr val="128E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task2-icon-cross-v">
            <a:extLst>
              <a:ext uri="{FF2B5EF4-FFF2-40B4-BE49-F238E27FC236}">
                <a16:creationId xmlns:a16="http://schemas.microsoft.com/office/drawing/2014/main" id="{CC1597E9-A2F0-2ADF-10E6-0A350B9C7B79}"/>
              </a:ext>
            </a:extLst>
          </p:cNvPr>
          <p:cNvCxnSpPr/>
          <p:nvPr/>
        </p:nvCxnSpPr>
        <p:spPr>
          <a:xfrm>
            <a:off x="1727200" y="4457700"/>
            <a:ext cx="0" cy="406400"/>
          </a:xfrm>
          <a:prstGeom prst="line">
            <a:avLst/>
          </a:prstGeom>
          <a:ln w="12700">
            <a:solidFill>
              <a:srgbClr val="128E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ask2-title">
            <a:extLst>
              <a:ext uri="{FF2B5EF4-FFF2-40B4-BE49-F238E27FC236}">
                <a16:creationId xmlns:a16="http://schemas.microsoft.com/office/drawing/2014/main" id="{A909C62F-662F-8ABC-C272-3C5D9B23A55C}"/>
              </a:ext>
            </a:extLst>
          </p:cNvPr>
          <p:cNvSpPr txBox="1"/>
          <p:nvPr/>
        </p:nvSpPr>
        <p:spPr>
          <a:xfrm>
            <a:off x="2171700" y="4381499"/>
            <a:ext cx="23876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700" b="1">
                <a:solidFill>
                  <a:srgbClr val="128E9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样本与参数校准</a:t>
            </a:r>
          </a:p>
        </p:txBody>
      </p:sp>
      <p:sp>
        <p:nvSpPr>
          <p:cNvPr id="47" name="task2-body">
            <a:extLst>
              <a:ext uri="{FF2B5EF4-FFF2-40B4-BE49-F238E27FC236}">
                <a16:creationId xmlns:a16="http://schemas.microsoft.com/office/drawing/2014/main" id="{4C8FCFAD-2B87-F5E2-12D1-1AB1CCEF59C2}"/>
              </a:ext>
            </a:extLst>
          </p:cNvPr>
          <p:cNvSpPr txBox="1"/>
          <p:nvPr/>
        </p:nvSpPr>
        <p:spPr>
          <a:xfrm>
            <a:off x="2171700" y="4724399"/>
            <a:ext cx="24765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80">
                <a:solidFill>
                  <a:srgbClr val="5362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扩大</a:t>
            </a:r>
            <a:r>
              <a:rPr lang="en-US" altLang="zh-CN" sz="1280">
                <a:solidFill>
                  <a:srgbClr val="5362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280">
                <a:solidFill>
                  <a:srgbClr val="5362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样本规模
用真实案例校准进场阈值</a:t>
            </a:r>
          </a:p>
        </p:txBody>
      </p:sp>
      <p:sp>
        <p:nvSpPr>
          <p:cNvPr id="48" name="task3-icon-bg">
            <a:extLst>
              <a:ext uri="{FF2B5EF4-FFF2-40B4-BE49-F238E27FC236}">
                <a16:creationId xmlns:a16="http://schemas.microsoft.com/office/drawing/2014/main" id="{3534917E-CF39-AB10-502A-FFE75D58596F}"/>
              </a:ext>
            </a:extLst>
          </p:cNvPr>
          <p:cNvSpPr/>
          <p:nvPr/>
        </p:nvSpPr>
        <p:spPr>
          <a:xfrm>
            <a:off x="4851400" y="3200400"/>
            <a:ext cx="584200" cy="584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7B6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task3-icon-cell-0-0">
            <a:extLst>
              <a:ext uri="{FF2B5EF4-FFF2-40B4-BE49-F238E27FC236}">
                <a16:creationId xmlns:a16="http://schemas.microsoft.com/office/drawing/2014/main" id="{8D528FAD-FB4B-0ADA-1BD1-19FC61B9B0FE}"/>
              </a:ext>
            </a:extLst>
          </p:cNvPr>
          <p:cNvSpPr/>
          <p:nvPr/>
        </p:nvSpPr>
        <p:spPr>
          <a:xfrm>
            <a:off x="4991100" y="3340100"/>
            <a:ext cx="127000" cy="127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B6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task3-icon-cell-0-1">
            <a:extLst>
              <a:ext uri="{FF2B5EF4-FFF2-40B4-BE49-F238E27FC236}">
                <a16:creationId xmlns:a16="http://schemas.microsoft.com/office/drawing/2014/main" id="{80199DF8-C9E9-507A-C50B-202BA4B308E5}"/>
              </a:ext>
            </a:extLst>
          </p:cNvPr>
          <p:cNvSpPr/>
          <p:nvPr/>
        </p:nvSpPr>
        <p:spPr>
          <a:xfrm>
            <a:off x="5168900" y="3340100"/>
            <a:ext cx="127000" cy="127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B6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1" name="task3-icon-cell-1-0">
            <a:extLst>
              <a:ext uri="{FF2B5EF4-FFF2-40B4-BE49-F238E27FC236}">
                <a16:creationId xmlns:a16="http://schemas.microsoft.com/office/drawing/2014/main" id="{57DB22B2-4A65-41E3-4E85-B1B3BABA950C}"/>
              </a:ext>
            </a:extLst>
          </p:cNvPr>
          <p:cNvSpPr/>
          <p:nvPr/>
        </p:nvSpPr>
        <p:spPr>
          <a:xfrm>
            <a:off x="4991100" y="3517900"/>
            <a:ext cx="127000" cy="127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B6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task3-icon-cell-1-1">
            <a:extLst>
              <a:ext uri="{FF2B5EF4-FFF2-40B4-BE49-F238E27FC236}">
                <a16:creationId xmlns:a16="http://schemas.microsoft.com/office/drawing/2014/main" id="{C054E33F-B0F3-5C31-E327-38F45337568E}"/>
              </a:ext>
            </a:extLst>
          </p:cNvPr>
          <p:cNvSpPr/>
          <p:nvPr/>
        </p:nvSpPr>
        <p:spPr>
          <a:xfrm>
            <a:off x="5168900" y="3517900"/>
            <a:ext cx="127000" cy="127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B6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3" name="task3-title">
            <a:extLst>
              <a:ext uri="{FF2B5EF4-FFF2-40B4-BE49-F238E27FC236}">
                <a16:creationId xmlns:a16="http://schemas.microsoft.com/office/drawing/2014/main" id="{016440FA-8B3E-0CA6-57BB-45E64D9ADD77}"/>
              </a:ext>
            </a:extLst>
          </p:cNvPr>
          <p:cNvSpPr txBox="1"/>
          <p:nvPr/>
        </p:nvSpPr>
        <p:spPr>
          <a:xfrm>
            <a:off x="5588000" y="3213099"/>
            <a:ext cx="23876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700" b="1">
                <a:solidFill>
                  <a:srgbClr val="7B61D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组合实验扩展</a:t>
            </a:r>
          </a:p>
        </p:txBody>
      </p:sp>
      <p:sp>
        <p:nvSpPr>
          <p:cNvPr id="54" name="task3-body">
            <a:extLst>
              <a:ext uri="{FF2B5EF4-FFF2-40B4-BE49-F238E27FC236}">
                <a16:creationId xmlns:a16="http://schemas.microsoft.com/office/drawing/2014/main" id="{1FCD0047-C41C-5EC0-247D-7ADBBFD9E6F5}"/>
              </a:ext>
            </a:extLst>
          </p:cNvPr>
          <p:cNvSpPr txBox="1"/>
          <p:nvPr/>
        </p:nvSpPr>
        <p:spPr>
          <a:xfrm>
            <a:off x="5588000" y="3555999"/>
            <a:ext cx="24765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80">
                <a:solidFill>
                  <a:srgbClr val="5362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完成内容策略 </a:t>
            </a:r>
            <a:r>
              <a:rPr lang="en-US" altLang="zh-CN" sz="1280">
                <a:solidFill>
                  <a:srgbClr val="5362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280">
                <a:solidFill>
                  <a:srgbClr val="5362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声明状态
的完整对照实验</a:t>
            </a:r>
          </a:p>
        </p:txBody>
      </p:sp>
      <p:sp>
        <p:nvSpPr>
          <p:cNvPr id="55" name="task4-icon-bg">
            <a:extLst>
              <a:ext uri="{FF2B5EF4-FFF2-40B4-BE49-F238E27FC236}">
                <a16:creationId xmlns:a16="http://schemas.microsoft.com/office/drawing/2014/main" id="{1CA6314D-2588-3FD2-8868-140782B8302C}"/>
              </a:ext>
            </a:extLst>
          </p:cNvPr>
          <p:cNvSpPr/>
          <p:nvPr/>
        </p:nvSpPr>
        <p:spPr>
          <a:xfrm>
            <a:off x="4851400" y="4368800"/>
            <a:ext cx="584200" cy="584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05C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6" name="task4-icon-head">
            <a:extLst>
              <a:ext uri="{FF2B5EF4-FFF2-40B4-BE49-F238E27FC236}">
                <a16:creationId xmlns:a16="http://schemas.microsoft.com/office/drawing/2014/main" id="{89BBD4B5-1B89-F010-11F8-35C43282EFEC}"/>
              </a:ext>
            </a:extLst>
          </p:cNvPr>
          <p:cNvSpPr/>
          <p:nvPr/>
        </p:nvSpPr>
        <p:spPr>
          <a:xfrm>
            <a:off x="5080000" y="4483100"/>
            <a:ext cx="139700" cy="1397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05C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7" name="task4-icon-body">
            <a:extLst>
              <a:ext uri="{FF2B5EF4-FFF2-40B4-BE49-F238E27FC236}">
                <a16:creationId xmlns:a16="http://schemas.microsoft.com/office/drawing/2014/main" id="{F3445C3F-5243-713C-82C2-CE1EF419F964}"/>
              </a:ext>
            </a:extLst>
          </p:cNvPr>
          <p:cNvSpPr/>
          <p:nvPr/>
        </p:nvSpPr>
        <p:spPr>
          <a:xfrm>
            <a:off x="5003800" y="4673600"/>
            <a:ext cx="292100" cy="1651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05C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3" name="task4-title">
            <a:extLst>
              <a:ext uri="{FF2B5EF4-FFF2-40B4-BE49-F238E27FC236}">
                <a16:creationId xmlns:a16="http://schemas.microsoft.com/office/drawing/2014/main" id="{64AFB4C1-05E7-326E-2AAC-976959023605}"/>
              </a:ext>
            </a:extLst>
          </p:cNvPr>
          <p:cNvSpPr txBox="1"/>
          <p:nvPr/>
        </p:nvSpPr>
        <p:spPr>
          <a:xfrm>
            <a:off x="5588000" y="4381499"/>
            <a:ext cx="23876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700" b="1">
                <a:solidFill>
                  <a:srgbClr val="B05C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跨事件适应性画像</a:t>
            </a:r>
          </a:p>
        </p:txBody>
      </p:sp>
      <p:sp>
        <p:nvSpPr>
          <p:cNvPr id="64" name="task4-body">
            <a:extLst>
              <a:ext uri="{FF2B5EF4-FFF2-40B4-BE49-F238E27FC236}">
                <a16:creationId xmlns:a16="http://schemas.microsoft.com/office/drawing/2014/main" id="{65F83EC5-F4FE-7C82-83F0-3F90FCCBC7F4}"/>
              </a:ext>
            </a:extLst>
          </p:cNvPr>
          <p:cNvSpPr txBox="1"/>
          <p:nvPr/>
        </p:nvSpPr>
        <p:spPr>
          <a:xfrm>
            <a:off x="5588000" y="4724399"/>
            <a:ext cx="24765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80">
                <a:solidFill>
                  <a:srgbClr val="5362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独立记录事件影响
验证后参与下一事件决策</a:t>
            </a:r>
          </a:p>
        </p:txBody>
      </p:sp>
      <p:sp>
        <p:nvSpPr>
          <p:cNvPr id="65" name="task5-icon-bg">
            <a:extLst>
              <a:ext uri="{FF2B5EF4-FFF2-40B4-BE49-F238E27FC236}">
                <a16:creationId xmlns:a16="http://schemas.microsoft.com/office/drawing/2014/main" id="{B22B2E03-68D8-9672-5AE6-E7891C8307EA}"/>
              </a:ext>
            </a:extLst>
          </p:cNvPr>
          <p:cNvSpPr/>
          <p:nvPr/>
        </p:nvSpPr>
        <p:spPr>
          <a:xfrm>
            <a:off x="8267700" y="3200400"/>
            <a:ext cx="584200" cy="584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6" name="task5-icon-db1">
            <a:extLst>
              <a:ext uri="{FF2B5EF4-FFF2-40B4-BE49-F238E27FC236}">
                <a16:creationId xmlns:a16="http://schemas.microsoft.com/office/drawing/2014/main" id="{A2DC5DE5-B204-1DAF-1FE0-9AD22815EF53}"/>
              </a:ext>
            </a:extLst>
          </p:cNvPr>
          <p:cNvSpPr/>
          <p:nvPr/>
        </p:nvSpPr>
        <p:spPr>
          <a:xfrm>
            <a:off x="8407400" y="3327400"/>
            <a:ext cx="304800" cy="10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7" name="task5-icon-db2">
            <a:extLst>
              <a:ext uri="{FF2B5EF4-FFF2-40B4-BE49-F238E27FC236}">
                <a16:creationId xmlns:a16="http://schemas.microsoft.com/office/drawing/2014/main" id="{2CFCCC81-CAA9-DEB2-EA16-9D691DBF1378}"/>
              </a:ext>
            </a:extLst>
          </p:cNvPr>
          <p:cNvSpPr/>
          <p:nvPr/>
        </p:nvSpPr>
        <p:spPr>
          <a:xfrm>
            <a:off x="8407400" y="3454400"/>
            <a:ext cx="304800" cy="10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8" name="task5-icon-db3">
            <a:extLst>
              <a:ext uri="{FF2B5EF4-FFF2-40B4-BE49-F238E27FC236}">
                <a16:creationId xmlns:a16="http://schemas.microsoft.com/office/drawing/2014/main" id="{B5BB8495-68DA-9B9A-31E7-9FA0FA15A04D}"/>
              </a:ext>
            </a:extLst>
          </p:cNvPr>
          <p:cNvSpPr/>
          <p:nvPr/>
        </p:nvSpPr>
        <p:spPr>
          <a:xfrm>
            <a:off x="8407400" y="3581400"/>
            <a:ext cx="304800" cy="10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2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9" name="task5-title">
            <a:extLst>
              <a:ext uri="{FF2B5EF4-FFF2-40B4-BE49-F238E27FC236}">
                <a16:creationId xmlns:a16="http://schemas.microsoft.com/office/drawing/2014/main" id="{83943050-A574-13E7-5AE6-E4551113DF15}"/>
              </a:ext>
            </a:extLst>
          </p:cNvPr>
          <p:cNvSpPr txBox="1"/>
          <p:nvPr/>
        </p:nvSpPr>
        <p:spPr>
          <a:xfrm>
            <a:off x="9004300" y="3213099"/>
            <a:ext cx="23876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700" b="1">
                <a:solidFill>
                  <a:srgbClr val="F28A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平台工程化</a:t>
            </a:r>
          </a:p>
        </p:txBody>
      </p:sp>
      <p:sp>
        <p:nvSpPr>
          <p:cNvPr id="70" name="task5-body">
            <a:extLst>
              <a:ext uri="{FF2B5EF4-FFF2-40B4-BE49-F238E27FC236}">
                <a16:creationId xmlns:a16="http://schemas.microsoft.com/office/drawing/2014/main" id="{752CCCC4-1040-6333-D77B-9C7CF34B3D0F}"/>
              </a:ext>
            </a:extLst>
          </p:cNvPr>
          <p:cNvSpPr txBox="1"/>
          <p:nvPr/>
        </p:nvSpPr>
        <p:spPr>
          <a:xfrm>
            <a:off x="9004300" y="3454400"/>
            <a:ext cx="2387600" cy="5968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80">
                <a:solidFill>
                  <a:srgbClr val="5362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耗时监控、受控并发与请求合并
数据库、后端接口与结果可视化</a:t>
            </a:r>
          </a:p>
        </p:txBody>
      </p:sp>
      <p:sp>
        <p:nvSpPr>
          <p:cNvPr id="71" name="task6-icon-bg">
            <a:extLst>
              <a:ext uri="{FF2B5EF4-FFF2-40B4-BE49-F238E27FC236}">
                <a16:creationId xmlns:a16="http://schemas.microsoft.com/office/drawing/2014/main" id="{8E3E6FC2-732B-A154-139A-2A61BE0A2A6A}"/>
              </a:ext>
            </a:extLst>
          </p:cNvPr>
          <p:cNvSpPr/>
          <p:nvPr/>
        </p:nvSpPr>
        <p:spPr>
          <a:xfrm>
            <a:off x="8267700" y="4368800"/>
            <a:ext cx="584200" cy="584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95F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2" name="task6-icon-ring">
            <a:extLst>
              <a:ext uri="{FF2B5EF4-FFF2-40B4-BE49-F238E27FC236}">
                <a16:creationId xmlns:a16="http://schemas.microsoft.com/office/drawing/2014/main" id="{AA5A69ED-78CF-3A40-C202-4DA1F12671B6}"/>
              </a:ext>
            </a:extLst>
          </p:cNvPr>
          <p:cNvSpPr/>
          <p:nvPr/>
        </p:nvSpPr>
        <p:spPr>
          <a:xfrm>
            <a:off x="8382000" y="4483100"/>
            <a:ext cx="355600" cy="355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95F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73" name="task6-icon-check1">
            <a:extLst>
              <a:ext uri="{FF2B5EF4-FFF2-40B4-BE49-F238E27FC236}">
                <a16:creationId xmlns:a16="http://schemas.microsoft.com/office/drawing/2014/main" id="{779B4100-C144-A6E2-BF40-567A96F70337}"/>
              </a:ext>
            </a:extLst>
          </p:cNvPr>
          <p:cNvCxnSpPr/>
          <p:nvPr/>
        </p:nvCxnSpPr>
        <p:spPr>
          <a:xfrm>
            <a:off x="8470900" y="4673600"/>
            <a:ext cx="63500" cy="63500"/>
          </a:xfrm>
          <a:prstGeom prst="line">
            <a:avLst/>
          </a:prstGeom>
          <a:ln w="25400">
            <a:solidFill>
              <a:srgbClr val="D95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task6-icon-check2">
            <a:extLst>
              <a:ext uri="{FF2B5EF4-FFF2-40B4-BE49-F238E27FC236}">
                <a16:creationId xmlns:a16="http://schemas.microsoft.com/office/drawing/2014/main" id="{71DE49C2-2B25-997B-F200-B222DF3DBF07}"/>
              </a:ext>
            </a:extLst>
          </p:cNvPr>
          <p:cNvCxnSpPr/>
          <p:nvPr/>
        </p:nvCxnSpPr>
        <p:spPr>
          <a:xfrm flipV="1">
            <a:off x="8534400" y="4584700"/>
            <a:ext cx="127000" cy="152400"/>
          </a:xfrm>
          <a:prstGeom prst="line">
            <a:avLst/>
          </a:prstGeom>
          <a:ln w="25400">
            <a:solidFill>
              <a:srgbClr val="D95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ask6-title">
            <a:extLst>
              <a:ext uri="{FF2B5EF4-FFF2-40B4-BE49-F238E27FC236}">
                <a16:creationId xmlns:a16="http://schemas.microsoft.com/office/drawing/2014/main" id="{677FEF37-BEFE-2B9D-0FF9-394AEE7D7346}"/>
              </a:ext>
            </a:extLst>
          </p:cNvPr>
          <p:cNvSpPr txBox="1"/>
          <p:nvPr/>
        </p:nvSpPr>
        <p:spPr>
          <a:xfrm>
            <a:off x="9004300" y="4381499"/>
            <a:ext cx="23876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700" b="1">
                <a:solidFill>
                  <a:srgbClr val="D95F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可信度验证</a:t>
            </a:r>
          </a:p>
        </p:txBody>
      </p:sp>
      <p:sp>
        <p:nvSpPr>
          <p:cNvPr id="76" name="task6-body">
            <a:extLst>
              <a:ext uri="{FF2B5EF4-FFF2-40B4-BE49-F238E27FC236}">
                <a16:creationId xmlns:a16="http://schemas.microsoft.com/office/drawing/2014/main" id="{27392CEA-18BA-7444-CA3F-6FB67E5E5A81}"/>
              </a:ext>
            </a:extLst>
          </p:cNvPr>
          <p:cNvSpPr txBox="1"/>
          <p:nvPr/>
        </p:nvSpPr>
        <p:spPr>
          <a:xfrm>
            <a:off x="9004300" y="4724399"/>
            <a:ext cx="24765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80">
                <a:solidFill>
                  <a:srgbClr val="5362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多事件、多批次复核
明确指标口径和应用边界</a:t>
            </a:r>
          </a:p>
        </p:txBody>
      </p:sp>
      <p:sp>
        <p:nvSpPr>
          <p:cNvPr id="77" name="bottom-band">
            <a:extLst>
              <a:ext uri="{FF2B5EF4-FFF2-40B4-BE49-F238E27FC236}">
                <a16:creationId xmlns:a16="http://schemas.microsoft.com/office/drawing/2014/main" id="{EC43163A-5D0D-1D0E-18FD-B996B9580A9E}"/>
              </a:ext>
            </a:extLst>
          </p:cNvPr>
          <p:cNvSpPr/>
          <p:nvPr/>
        </p:nvSpPr>
        <p:spPr>
          <a:xfrm>
            <a:off x="1752600" y="5943600"/>
            <a:ext cx="8890000" cy="609600"/>
          </a:xfrm>
          <a:prstGeom prst="roundRect">
            <a:avLst/>
          </a:prstGeom>
          <a:solidFill>
            <a:srgbClr val="173F5F"/>
          </a:solidFill>
          <a:ln w="0">
            <a:solidFill>
              <a:srgbClr val="173F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1" name="bottom-text">
            <a:extLst>
              <a:ext uri="{FF2B5EF4-FFF2-40B4-BE49-F238E27FC236}">
                <a16:creationId xmlns:a16="http://schemas.microsoft.com/office/drawing/2014/main" id="{681CB417-4423-15E1-CAC1-7789FDE86594}"/>
              </a:ext>
            </a:extLst>
          </p:cNvPr>
          <p:cNvSpPr txBox="1"/>
          <p:nvPr/>
        </p:nvSpPr>
        <p:spPr>
          <a:xfrm>
            <a:off x="2387600" y="6097958"/>
            <a:ext cx="7620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可运行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   →  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可校准实验平台   →   可部署辅助研判工具</a:t>
            </a:r>
          </a:p>
        </p:txBody>
      </p:sp>
    </p:spTree>
    <p:extLst>
      <p:ext uri="{BB962C8B-B14F-4D97-AF65-F5344CB8AC3E}">
        <p14:creationId xmlns:p14="http://schemas.microsoft.com/office/powerpoint/2010/main" val="359285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A-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 rotWithShape="1">
          <a:blip r:embed="rId7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66" name="PA-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67" name="PA-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B4489">
                  <a:alpha val="78000"/>
                </a:srgbClr>
              </a:gs>
              <a:gs pos="100000">
                <a:srgbClr val="1B4489">
                  <a:alpha val="66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71" name="任意多边形: 形状 101"/>
          <p:cNvSpPr/>
          <p:nvPr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2A900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72" name="任意多边形: 形状 83"/>
          <p:cNvSpPr/>
          <p:nvPr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ea"/>
            </a:endParaRPr>
          </a:p>
        </p:txBody>
      </p:sp>
      <p:sp>
        <p:nvSpPr>
          <p:cNvPr id="73" name="任意多边形: 形状 62"/>
          <p:cNvSpPr/>
          <p:nvPr/>
        </p:nvSpPr>
        <p:spPr>
          <a:xfrm>
            <a:off x="0" y="2989267"/>
            <a:ext cx="12191999" cy="741497"/>
          </a:xfrm>
          <a:custGeom>
            <a:avLst/>
            <a:gdLst>
              <a:gd name="connsiteX0" fmla="*/ 6096002 w 12191999"/>
              <a:gd name="connsiteY0" fmla="*/ 0 h 3805208"/>
              <a:gd name="connsiteX1" fmla="*/ 11517301 w 12191999"/>
              <a:gd name="connsiteY1" fmla="*/ 568339 h 3805208"/>
              <a:gd name="connsiteX2" fmla="*/ 12191999 w 12191999"/>
              <a:gd name="connsiteY2" fmla="*/ 741496 h 3805208"/>
              <a:gd name="connsiteX3" fmla="*/ 12191999 w 12191999"/>
              <a:gd name="connsiteY3" fmla="*/ 3805208 h 3805208"/>
              <a:gd name="connsiteX4" fmla="*/ 0 w 12191999"/>
              <a:gd name="connsiteY4" fmla="*/ 3805208 h 3805208"/>
              <a:gd name="connsiteX5" fmla="*/ 0 w 12191999"/>
              <a:gd name="connsiteY5" fmla="*/ 741497 h 3805208"/>
              <a:gd name="connsiteX6" fmla="*/ 674702 w 12191999"/>
              <a:gd name="connsiteY6" fmla="*/ 568339 h 3805208"/>
              <a:gd name="connsiteX7" fmla="*/ 6096002 w 12191999"/>
              <a:gd name="connsiteY7" fmla="*/ 0 h 3805208"/>
              <a:gd name="connsiteX0-1" fmla="*/ 12191999 w 12283439"/>
              <a:gd name="connsiteY0-2" fmla="*/ 3805208 h 3896648"/>
              <a:gd name="connsiteX1-3" fmla="*/ 0 w 12283439"/>
              <a:gd name="connsiteY1-4" fmla="*/ 3805208 h 3896648"/>
              <a:gd name="connsiteX2-5" fmla="*/ 0 w 12283439"/>
              <a:gd name="connsiteY2-6" fmla="*/ 741497 h 3896648"/>
              <a:gd name="connsiteX3-7" fmla="*/ 674702 w 12283439"/>
              <a:gd name="connsiteY3-8" fmla="*/ 568339 h 3896648"/>
              <a:gd name="connsiteX4-9" fmla="*/ 6096002 w 12283439"/>
              <a:gd name="connsiteY4-10" fmla="*/ 0 h 3896648"/>
              <a:gd name="connsiteX5-11" fmla="*/ 11517301 w 12283439"/>
              <a:gd name="connsiteY5-12" fmla="*/ 568339 h 3896648"/>
              <a:gd name="connsiteX6-13" fmla="*/ 12191999 w 12283439"/>
              <a:gd name="connsiteY6-14" fmla="*/ 741496 h 3896648"/>
              <a:gd name="connsiteX7-15" fmla="*/ 12283439 w 12283439"/>
              <a:gd name="connsiteY7-16" fmla="*/ 3896648 h 3896648"/>
              <a:gd name="connsiteX0-17" fmla="*/ 12191999 w 12191999"/>
              <a:gd name="connsiteY0-18" fmla="*/ 3805208 h 3805208"/>
              <a:gd name="connsiteX1-19" fmla="*/ 0 w 12191999"/>
              <a:gd name="connsiteY1-20" fmla="*/ 3805208 h 3805208"/>
              <a:gd name="connsiteX2-21" fmla="*/ 0 w 12191999"/>
              <a:gd name="connsiteY2-22" fmla="*/ 741497 h 3805208"/>
              <a:gd name="connsiteX3-23" fmla="*/ 674702 w 12191999"/>
              <a:gd name="connsiteY3-24" fmla="*/ 568339 h 3805208"/>
              <a:gd name="connsiteX4-25" fmla="*/ 6096002 w 12191999"/>
              <a:gd name="connsiteY4-26" fmla="*/ 0 h 3805208"/>
              <a:gd name="connsiteX5-27" fmla="*/ 11517301 w 12191999"/>
              <a:gd name="connsiteY5-28" fmla="*/ 568339 h 3805208"/>
              <a:gd name="connsiteX6-29" fmla="*/ 12191999 w 12191999"/>
              <a:gd name="connsiteY6-30" fmla="*/ 741496 h 3805208"/>
              <a:gd name="connsiteX0-31" fmla="*/ 0 w 12191999"/>
              <a:gd name="connsiteY0-32" fmla="*/ 3805208 h 3805208"/>
              <a:gd name="connsiteX1-33" fmla="*/ 0 w 12191999"/>
              <a:gd name="connsiteY1-34" fmla="*/ 741497 h 3805208"/>
              <a:gd name="connsiteX2-35" fmla="*/ 674702 w 12191999"/>
              <a:gd name="connsiteY2-36" fmla="*/ 568339 h 3805208"/>
              <a:gd name="connsiteX3-37" fmla="*/ 6096002 w 12191999"/>
              <a:gd name="connsiteY3-38" fmla="*/ 0 h 3805208"/>
              <a:gd name="connsiteX4-39" fmla="*/ 11517301 w 12191999"/>
              <a:gd name="connsiteY4-40" fmla="*/ 568339 h 3805208"/>
              <a:gd name="connsiteX5-41" fmla="*/ 12191999 w 12191999"/>
              <a:gd name="connsiteY5-42" fmla="*/ 741496 h 3805208"/>
              <a:gd name="connsiteX0-43" fmla="*/ 0 w 12191999"/>
              <a:gd name="connsiteY0-44" fmla="*/ 741497 h 741497"/>
              <a:gd name="connsiteX1-45" fmla="*/ 674702 w 12191999"/>
              <a:gd name="connsiteY1-46" fmla="*/ 568339 h 741497"/>
              <a:gd name="connsiteX2-47" fmla="*/ 6096002 w 12191999"/>
              <a:gd name="connsiteY2-48" fmla="*/ 0 h 741497"/>
              <a:gd name="connsiteX3-49" fmla="*/ 11517301 w 12191999"/>
              <a:gd name="connsiteY3-50" fmla="*/ 568339 h 741497"/>
              <a:gd name="connsiteX4-51" fmla="*/ 12191999 w 12191999"/>
              <a:gd name="connsiteY4-52" fmla="*/ 741496 h 741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1999" h="741497">
                <a:moveTo>
                  <a:pt x="0" y="741497"/>
                </a:move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</a:path>
            </a:pathLst>
          </a:cu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94" name="标题 47"/>
          <p:cNvSpPr txBox="1"/>
          <p:nvPr/>
        </p:nvSpPr>
        <p:spPr>
          <a:xfrm>
            <a:off x="2520877" y="4102988"/>
            <a:ext cx="7214483" cy="82994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4400" kern="1200" spc="100" dirty="0">
                <a:solidFill>
                  <a:schemeClr val="accent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cs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>
                <a:solidFill>
                  <a:srgbClr val="2257AE"/>
                </a:solidFill>
              </a:rPr>
              <a:t>敬请指导</a:t>
            </a:r>
            <a:endParaRPr kumimoji="0" lang="zh-CN" altLang="en-US" sz="4800" b="0" i="0" u="none" strike="noStrike" kern="1200" cap="none" spc="100" normalizeH="0" baseline="0" noProof="0" dirty="0">
              <a:ln>
                <a:noFill/>
              </a:ln>
              <a:solidFill>
                <a:srgbClr val="2257AE"/>
              </a:solidFill>
              <a:effectLst/>
              <a:uLnTx/>
              <a:uFillTx/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cxnSp>
        <p:nvCxnSpPr>
          <p:cNvPr id="108" name="直接连接符 107"/>
          <p:cNvCxnSpPr/>
          <p:nvPr/>
        </p:nvCxnSpPr>
        <p:spPr>
          <a:xfrm>
            <a:off x="2108522" y="5360072"/>
            <a:ext cx="7974957" cy="0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</a:ln>
          <a:effectLst/>
        </p:spPr>
      </p:cxnSp>
      <p:sp>
        <p:nvSpPr>
          <p:cNvPr id="54" name="businessman_57134"/>
          <p:cNvSpPr>
            <a:spLocks noChangeAspect="1"/>
          </p:cNvSpPr>
          <p:nvPr/>
        </p:nvSpPr>
        <p:spPr bwMode="auto">
          <a:xfrm>
            <a:off x="6360026" y="5728467"/>
            <a:ext cx="220032" cy="240154"/>
          </a:xfrm>
          <a:custGeom>
            <a:avLst/>
            <a:gdLst>
              <a:gd name="connsiteX0" fmla="*/ 243589 w 557114"/>
              <a:gd name="connsiteY0" fmla="*/ 355438 h 608062"/>
              <a:gd name="connsiteX1" fmla="*/ 277656 w 557114"/>
              <a:gd name="connsiteY1" fmla="*/ 355438 h 608062"/>
              <a:gd name="connsiteX2" fmla="*/ 277940 w 557114"/>
              <a:gd name="connsiteY2" fmla="*/ 355438 h 608062"/>
              <a:gd name="connsiteX3" fmla="*/ 278604 w 557114"/>
              <a:gd name="connsiteY3" fmla="*/ 355438 h 608062"/>
              <a:gd name="connsiteX4" fmla="*/ 279174 w 557114"/>
              <a:gd name="connsiteY4" fmla="*/ 355438 h 608062"/>
              <a:gd name="connsiteX5" fmla="*/ 279458 w 557114"/>
              <a:gd name="connsiteY5" fmla="*/ 355438 h 608062"/>
              <a:gd name="connsiteX6" fmla="*/ 279553 w 557114"/>
              <a:gd name="connsiteY6" fmla="*/ 355438 h 608062"/>
              <a:gd name="connsiteX7" fmla="*/ 313620 w 557114"/>
              <a:gd name="connsiteY7" fmla="*/ 355438 h 608062"/>
              <a:gd name="connsiteX8" fmla="*/ 324438 w 557114"/>
              <a:gd name="connsiteY8" fmla="*/ 375432 h 608062"/>
              <a:gd name="connsiteX9" fmla="*/ 298152 w 557114"/>
              <a:gd name="connsiteY9" fmla="*/ 430202 h 608062"/>
              <a:gd name="connsiteX10" fmla="*/ 301948 w 557114"/>
              <a:gd name="connsiteY10" fmla="*/ 510272 h 608062"/>
              <a:gd name="connsiteX11" fmla="*/ 356891 w 557114"/>
              <a:gd name="connsiteY11" fmla="*/ 389172 h 608062"/>
              <a:gd name="connsiteX12" fmla="*/ 356986 w 557114"/>
              <a:gd name="connsiteY12" fmla="*/ 389172 h 608062"/>
              <a:gd name="connsiteX13" fmla="*/ 376628 w 557114"/>
              <a:gd name="connsiteY13" fmla="*/ 375337 h 608062"/>
              <a:gd name="connsiteX14" fmla="*/ 383556 w 557114"/>
              <a:gd name="connsiteY14" fmla="*/ 376474 h 608062"/>
              <a:gd name="connsiteX15" fmla="*/ 383745 w 557114"/>
              <a:gd name="connsiteY15" fmla="*/ 376569 h 608062"/>
              <a:gd name="connsiteX16" fmla="*/ 518588 w 557114"/>
              <a:gd name="connsiteY16" fmla="*/ 438920 h 608062"/>
              <a:gd name="connsiteX17" fmla="*/ 557114 w 557114"/>
              <a:gd name="connsiteY17" fmla="*/ 482224 h 608062"/>
              <a:gd name="connsiteX18" fmla="*/ 557114 w 557114"/>
              <a:gd name="connsiteY18" fmla="*/ 608062 h 608062"/>
              <a:gd name="connsiteX19" fmla="*/ 279743 w 557114"/>
              <a:gd name="connsiteY19" fmla="*/ 608062 h 608062"/>
              <a:gd name="connsiteX20" fmla="*/ 279458 w 557114"/>
              <a:gd name="connsiteY20" fmla="*/ 608062 h 608062"/>
              <a:gd name="connsiteX21" fmla="*/ 279364 w 557114"/>
              <a:gd name="connsiteY21" fmla="*/ 608062 h 608062"/>
              <a:gd name="connsiteX22" fmla="*/ 279174 w 557114"/>
              <a:gd name="connsiteY22" fmla="*/ 608062 h 608062"/>
              <a:gd name="connsiteX23" fmla="*/ 278984 w 557114"/>
              <a:gd name="connsiteY23" fmla="*/ 608062 h 608062"/>
              <a:gd name="connsiteX24" fmla="*/ 278604 w 557114"/>
              <a:gd name="connsiteY24" fmla="*/ 608062 h 608062"/>
              <a:gd name="connsiteX25" fmla="*/ 278130 w 557114"/>
              <a:gd name="connsiteY25" fmla="*/ 608062 h 608062"/>
              <a:gd name="connsiteX26" fmla="*/ 277940 w 557114"/>
              <a:gd name="connsiteY26" fmla="*/ 608062 h 608062"/>
              <a:gd name="connsiteX27" fmla="*/ 277845 w 557114"/>
              <a:gd name="connsiteY27" fmla="*/ 608062 h 608062"/>
              <a:gd name="connsiteX28" fmla="*/ 277750 w 557114"/>
              <a:gd name="connsiteY28" fmla="*/ 608062 h 608062"/>
              <a:gd name="connsiteX29" fmla="*/ 277656 w 557114"/>
              <a:gd name="connsiteY29" fmla="*/ 608062 h 608062"/>
              <a:gd name="connsiteX30" fmla="*/ 277371 w 557114"/>
              <a:gd name="connsiteY30" fmla="*/ 608062 h 608062"/>
              <a:gd name="connsiteX31" fmla="*/ 0 w 557114"/>
              <a:gd name="connsiteY31" fmla="*/ 608062 h 608062"/>
              <a:gd name="connsiteX32" fmla="*/ 0 w 557114"/>
              <a:gd name="connsiteY32" fmla="*/ 482224 h 608062"/>
              <a:gd name="connsiteX33" fmla="*/ 38621 w 557114"/>
              <a:gd name="connsiteY33" fmla="*/ 438920 h 608062"/>
              <a:gd name="connsiteX34" fmla="*/ 173464 w 557114"/>
              <a:gd name="connsiteY34" fmla="*/ 376569 h 608062"/>
              <a:gd name="connsiteX35" fmla="*/ 173558 w 557114"/>
              <a:gd name="connsiteY35" fmla="*/ 376474 h 608062"/>
              <a:gd name="connsiteX36" fmla="*/ 180486 w 557114"/>
              <a:gd name="connsiteY36" fmla="*/ 375337 h 608062"/>
              <a:gd name="connsiteX37" fmla="*/ 200223 w 557114"/>
              <a:gd name="connsiteY37" fmla="*/ 389172 h 608062"/>
              <a:gd name="connsiteX38" fmla="*/ 255166 w 557114"/>
              <a:gd name="connsiteY38" fmla="*/ 510272 h 608062"/>
              <a:gd name="connsiteX39" fmla="*/ 258962 w 557114"/>
              <a:gd name="connsiteY39" fmla="*/ 430202 h 608062"/>
              <a:gd name="connsiteX40" fmla="*/ 232676 w 557114"/>
              <a:gd name="connsiteY40" fmla="*/ 375432 h 608062"/>
              <a:gd name="connsiteX41" fmla="*/ 243589 w 557114"/>
              <a:gd name="connsiteY41" fmla="*/ 355438 h 608062"/>
              <a:gd name="connsiteX42" fmla="*/ 276250 w 557114"/>
              <a:gd name="connsiteY42" fmla="*/ 0 h 608062"/>
              <a:gd name="connsiteX43" fmla="*/ 277674 w 557114"/>
              <a:gd name="connsiteY43" fmla="*/ 0 h 608062"/>
              <a:gd name="connsiteX44" fmla="*/ 277863 w 557114"/>
              <a:gd name="connsiteY44" fmla="*/ 0 h 608062"/>
              <a:gd name="connsiteX45" fmla="*/ 277958 w 557114"/>
              <a:gd name="connsiteY45" fmla="*/ 0 h 608062"/>
              <a:gd name="connsiteX46" fmla="*/ 279382 w 557114"/>
              <a:gd name="connsiteY46" fmla="*/ 0 h 608062"/>
              <a:gd name="connsiteX47" fmla="*/ 402570 w 557114"/>
              <a:gd name="connsiteY47" fmla="*/ 104895 h 608062"/>
              <a:gd name="connsiteX48" fmla="*/ 394693 w 557114"/>
              <a:gd name="connsiteY48" fmla="*/ 159001 h 608062"/>
              <a:gd name="connsiteX49" fmla="*/ 405892 w 557114"/>
              <a:gd name="connsiteY49" fmla="*/ 184774 h 608062"/>
              <a:gd name="connsiteX50" fmla="*/ 377040 w 557114"/>
              <a:gd name="connsiteY50" fmla="*/ 236890 h 608062"/>
              <a:gd name="connsiteX51" fmla="*/ 315731 w 557114"/>
              <a:gd name="connsiteY51" fmla="*/ 311274 h 608062"/>
              <a:gd name="connsiteX52" fmla="*/ 277958 w 557114"/>
              <a:gd name="connsiteY52" fmla="*/ 319707 h 608062"/>
              <a:gd name="connsiteX53" fmla="*/ 277958 w 557114"/>
              <a:gd name="connsiteY53" fmla="*/ 319802 h 608062"/>
              <a:gd name="connsiteX54" fmla="*/ 277863 w 557114"/>
              <a:gd name="connsiteY54" fmla="*/ 319802 h 608062"/>
              <a:gd name="connsiteX55" fmla="*/ 277674 w 557114"/>
              <a:gd name="connsiteY55" fmla="*/ 319802 h 608062"/>
              <a:gd name="connsiteX56" fmla="*/ 277674 w 557114"/>
              <a:gd name="connsiteY56" fmla="*/ 319707 h 608062"/>
              <a:gd name="connsiteX57" fmla="*/ 239901 w 557114"/>
              <a:gd name="connsiteY57" fmla="*/ 311274 h 608062"/>
              <a:gd name="connsiteX58" fmla="*/ 178592 w 557114"/>
              <a:gd name="connsiteY58" fmla="*/ 236890 h 608062"/>
              <a:gd name="connsiteX59" fmla="*/ 149740 w 557114"/>
              <a:gd name="connsiteY59" fmla="*/ 184774 h 608062"/>
              <a:gd name="connsiteX60" fmla="*/ 161034 w 557114"/>
              <a:gd name="connsiteY60" fmla="*/ 159001 h 608062"/>
              <a:gd name="connsiteX61" fmla="*/ 153062 w 557114"/>
              <a:gd name="connsiteY61" fmla="*/ 104895 h 608062"/>
              <a:gd name="connsiteX62" fmla="*/ 276250 w 557114"/>
              <a:gd name="connsiteY62" fmla="*/ 0 h 60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57114" h="608062">
                <a:moveTo>
                  <a:pt x="243589" y="355438"/>
                </a:moveTo>
                <a:lnTo>
                  <a:pt x="277656" y="355438"/>
                </a:lnTo>
                <a:lnTo>
                  <a:pt x="277940" y="355438"/>
                </a:lnTo>
                <a:lnTo>
                  <a:pt x="278604" y="355438"/>
                </a:lnTo>
                <a:lnTo>
                  <a:pt x="279174" y="355438"/>
                </a:lnTo>
                <a:lnTo>
                  <a:pt x="279458" y="355438"/>
                </a:lnTo>
                <a:lnTo>
                  <a:pt x="279553" y="355438"/>
                </a:lnTo>
                <a:lnTo>
                  <a:pt x="313620" y="355438"/>
                </a:lnTo>
                <a:cubicBezTo>
                  <a:pt x="325007" y="355438"/>
                  <a:pt x="330511" y="364630"/>
                  <a:pt x="324438" y="375432"/>
                </a:cubicBezTo>
                <a:cubicBezTo>
                  <a:pt x="321781" y="379980"/>
                  <a:pt x="298152" y="430202"/>
                  <a:pt x="298152" y="430202"/>
                </a:cubicBezTo>
                <a:lnTo>
                  <a:pt x="301948" y="510272"/>
                </a:lnTo>
                <a:cubicBezTo>
                  <a:pt x="317700" y="481655"/>
                  <a:pt x="343131" y="422432"/>
                  <a:pt x="356891" y="389172"/>
                </a:cubicBezTo>
                <a:cubicBezTo>
                  <a:pt x="356891" y="389172"/>
                  <a:pt x="356891" y="389172"/>
                  <a:pt x="356986" y="389172"/>
                </a:cubicBezTo>
                <a:cubicBezTo>
                  <a:pt x="359832" y="381117"/>
                  <a:pt x="367519" y="375337"/>
                  <a:pt x="376628" y="375337"/>
                </a:cubicBezTo>
                <a:cubicBezTo>
                  <a:pt x="379096" y="375337"/>
                  <a:pt x="381373" y="375716"/>
                  <a:pt x="383556" y="376474"/>
                </a:cubicBezTo>
                <a:cubicBezTo>
                  <a:pt x="383650" y="376474"/>
                  <a:pt x="383650" y="376474"/>
                  <a:pt x="383745" y="376569"/>
                </a:cubicBezTo>
                <a:cubicBezTo>
                  <a:pt x="387446" y="377706"/>
                  <a:pt x="464973" y="411724"/>
                  <a:pt x="518588" y="438920"/>
                </a:cubicBezTo>
                <a:cubicBezTo>
                  <a:pt x="542595" y="451049"/>
                  <a:pt x="557114" y="466305"/>
                  <a:pt x="557114" y="482224"/>
                </a:cubicBezTo>
                <a:lnTo>
                  <a:pt x="557114" y="608062"/>
                </a:lnTo>
                <a:lnTo>
                  <a:pt x="279743" y="608062"/>
                </a:lnTo>
                <a:lnTo>
                  <a:pt x="279458" y="608062"/>
                </a:lnTo>
                <a:lnTo>
                  <a:pt x="279364" y="608062"/>
                </a:lnTo>
                <a:lnTo>
                  <a:pt x="279174" y="608062"/>
                </a:lnTo>
                <a:lnTo>
                  <a:pt x="278984" y="608062"/>
                </a:lnTo>
                <a:lnTo>
                  <a:pt x="278604" y="608062"/>
                </a:lnTo>
                <a:lnTo>
                  <a:pt x="278130" y="608062"/>
                </a:lnTo>
                <a:lnTo>
                  <a:pt x="277940" y="608062"/>
                </a:lnTo>
                <a:lnTo>
                  <a:pt x="277845" y="608062"/>
                </a:lnTo>
                <a:lnTo>
                  <a:pt x="277750" y="608062"/>
                </a:lnTo>
                <a:lnTo>
                  <a:pt x="277656" y="608062"/>
                </a:lnTo>
                <a:lnTo>
                  <a:pt x="277371" y="608062"/>
                </a:lnTo>
                <a:lnTo>
                  <a:pt x="0" y="608062"/>
                </a:lnTo>
                <a:lnTo>
                  <a:pt x="0" y="482224"/>
                </a:lnTo>
                <a:cubicBezTo>
                  <a:pt x="0" y="466305"/>
                  <a:pt x="14519" y="451049"/>
                  <a:pt x="38621" y="438920"/>
                </a:cubicBezTo>
                <a:cubicBezTo>
                  <a:pt x="92141" y="411724"/>
                  <a:pt x="169668" y="377706"/>
                  <a:pt x="173464" y="376569"/>
                </a:cubicBezTo>
                <a:cubicBezTo>
                  <a:pt x="173464" y="376474"/>
                  <a:pt x="173464" y="376474"/>
                  <a:pt x="173558" y="376474"/>
                </a:cubicBezTo>
                <a:cubicBezTo>
                  <a:pt x="175741" y="375716"/>
                  <a:pt x="178018" y="375337"/>
                  <a:pt x="180486" y="375337"/>
                </a:cubicBezTo>
                <a:cubicBezTo>
                  <a:pt x="189595" y="375337"/>
                  <a:pt x="197282" y="381117"/>
                  <a:pt x="200223" y="389172"/>
                </a:cubicBezTo>
                <a:cubicBezTo>
                  <a:pt x="214078" y="422432"/>
                  <a:pt x="239414" y="481655"/>
                  <a:pt x="255166" y="510272"/>
                </a:cubicBezTo>
                <a:lnTo>
                  <a:pt x="258962" y="430202"/>
                </a:lnTo>
                <a:cubicBezTo>
                  <a:pt x="258962" y="430202"/>
                  <a:pt x="235333" y="379980"/>
                  <a:pt x="232676" y="375432"/>
                </a:cubicBezTo>
                <a:cubicBezTo>
                  <a:pt x="226603" y="364630"/>
                  <a:pt x="232107" y="355438"/>
                  <a:pt x="243589" y="355438"/>
                </a:cubicBezTo>
                <a:close/>
                <a:moveTo>
                  <a:pt x="276250" y="0"/>
                </a:moveTo>
                <a:cubicBezTo>
                  <a:pt x="276725" y="0"/>
                  <a:pt x="277199" y="0"/>
                  <a:pt x="277674" y="0"/>
                </a:cubicBezTo>
                <a:cubicBezTo>
                  <a:pt x="277769" y="0"/>
                  <a:pt x="277769" y="0"/>
                  <a:pt x="277863" y="0"/>
                </a:cubicBezTo>
                <a:cubicBezTo>
                  <a:pt x="277863" y="0"/>
                  <a:pt x="277863" y="0"/>
                  <a:pt x="277958" y="0"/>
                </a:cubicBezTo>
                <a:cubicBezTo>
                  <a:pt x="278433" y="0"/>
                  <a:pt x="278907" y="0"/>
                  <a:pt x="279382" y="0"/>
                </a:cubicBezTo>
                <a:cubicBezTo>
                  <a:pt x="385487" y="0"/>
                  <a:pt x="405417" y="75615"/>
                  <a:pt x="402570" y="104895"/>
                </a:cubicBezTo>
                <a:cubicBezTo>
                  <a:pt x="400387" y="128395"/>
                  <a:pt x="394693" y="159001"/>
                  <a:pt x="394693" y="159001"/>
                </a:cubicBezTo>
                <a:cubicBezTo>
                  <a:pt x="394693" y="159001"/>
                  <a:pt x="405892" y="164118"/>
                  <a:pt x="405892" y="184774"/>
                </a:cubicBezTo>
                <a:cubicBezTo>
                  <a:pt x="402001" y="236511"/>
                  <a:pt x="381311" y="214149"/>
                  <a:pt x="377040" y="236890"/>
                </a:cubicBezTo>
                <a:cubicBezTo>
                  <a:pt x="370017" y="274603"/>
                  <a:pt x="336610" y="301893"/>
                  <a:pt x="315731" y="311274"/>
                </a:cubicBezTo>
                <a:cubicBezTo>
                  <a:pt x="303583" y="316770"/>
                  <a:pt x="291055" y="319518"/>
                  <a:pt x="277958" y="319707"/>
                </a:cubicBezTo>
                <a:lnTo>
                  <a:pt x="277958" y="319802"/>
                </a:lnTo>
                <a:cubicBezTo>
                  <a:pt x="277863" y="319802"/>
                  <a:pt x="277863" y="319802"/>
                  <a:pt x="277863" y="319802"/>
                </a:cubicBezTo>
                <a:cubicBezTo>
                  <a:pt x="277769" y="319802"/>
                  <a:pt x="277769" y="319802"/>
                  <a:pt x="277674" y="319802"/>
                </a:cubicBezTo>
                <a:lnTo>
                  <a:pt x="277674" y="319707"/>
                </a:lnTo>
                <a:cubicBezTo>
                  <a:pt x="264577" y="319518"/>
                  <a:pt x="252049" y="316770"/>
                  <a:pt x="239901" y="311274"/>
                </a:cubicBezTo>
                <a:cubicBezTo>
                  <a:pt x="219022" y="301893"/>
                  <a:pt x="185615" y="274603"/>
                  <a:pt x="178592" y="236890"/>
                </a:cubicBezTo>
                <a:cubicBezTo>
                  <a:pt x="174321" y="214149"/>
                  <a:pt x="153631" y="236511"/>
                  <a:pt x="149740" y="184774"/>
                </a:cubicBezTo>
                <a:cubicBezTo>
                  <a:pt x="149740" y="164118"/>
                  <a:pt x="161034" y="159001"/>
                  <a:pt x="161034" y="159001"/>
                </a:cubicBezTo>
                <a:cubicBezTo>
                  <a:pt x="161034" y="159001"/>
                  <a:pt x="155245" y="128395"/>
                  <a:pt x="153062" y="104895"/>
                </a:cubicBezTo>
                <a:cubicBezTo>
                  <a:pt x="150215" y="75615"/>
                  <a:pt x="170145" y="0"/>
                  <a:pt x="27625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3" name="图片 2" descr="bai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219450" y="1130935"/>
            <a:ext cx="1169670" cy="1172210"/>
          </a:xfrm>
          <a:prstGeom prst="rect">
            <a:avLst/>
          </a:prstGeom>
        </p:spPr>
      </p:pic>
      <p:pic>
        <p:nvPicPr>
          <p:cNvPr id="4" name="图片 3" descr="未标题-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734560" y="1085215"/>
            <a:ext cx="384365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NCwiaGRpZCI6IjI5NTYyM2ZjNjc2MjA1YjZhYmRlMjRhNTQwNTVhNzA3IiwidXNlckNvdW50Ijoy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1581</TotalTime>
  <Words>3319</Words>
  <Application>Microsoft Office PowerPoint</Application>
  <PresentationFormat>宽屏</PresentationFormat>
  <Paragraphs>335</Paragraphs>
  <Slides>28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等线</vt:lpstr>
      <vt:lpstr>等线 Light</vt:lpstr>
      <vt:lpstr>方正大标宋简体</vt:lpstr>
      <vt:lpstr>Microsoft YaHei</vt:lpstr>
      <vt:lpstr>Microsoft YaHei</vt:lpstr>
      <vt:lpstr>微软雅黑 Light</vt:lpstr>
      <vt:lpstr>Arial</vt:lpstr>
      <vt:lpstr>Bahnschrift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</dc:creator>
  <cp:lastModifiedBy>jiu BAby</cp:lastModifiedBy>
  <cp:revision>58</cp:revision>
  <dcterms:created xsi:type="dcterms:W3CDTF">2019-04-19T08:53:00Z</dcterms:created>
  <dcterms:modified xsi:type="dcterms:W3CDTF">2026-09-03T10:03:22Z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KSOTemplateUUID">
    <vt:lpwstr>v1.0_mb_kZIsEY68EbFydeqQZ9Zz9g==</vt:lpwstr>
  </property>
  <property fmtid="{D5CDD505-2E9C-101B-9397-08002B2CF9AE}" pid="4" name="ICV">
    <vt:lpwstr>863471B37FA443B9A777DA1EF38C0100_12</vt:lpwstr>
  </property>
</Properties>
</file>