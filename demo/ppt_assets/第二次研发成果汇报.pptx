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88" r:id="rId4"/>
    <p:sldId id="265" r:id="rId5"/>
    <p:sldId id="275" r:id="rId6"/>
    <p:sldId id="267" r:id="rId7"/>
    <p:sldId id="269" r:id="rId8"/>
    <p:sldId id="270" r:id="rId9"/>
    <p:sldId id="271" r:id="rId10"/>
    <p:sldId id="289" r:id="rId11"/>
    <p:sldId id="268" r:id="rId12"/>
    <p:sldId id="272" r:id="rId13"/>
    <p:sldId id="273" r:id="rId14"/>
    <p:sldId id="290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285" r:id="rId26"/>
    <p:sldId id="291" r:id="rId27"/>
    <p:sldId id="283" r:id="rId28"/>
    <p:sldId id="284" r:id="rId29"/>
    <p:sldId id="286" r:id="rId30"/>
    <p:sldId id="292" r:id="rId31"/>
    <p:sldId id="287" r:id="rId32"/>
    <p:sldId id="264" r:id="rId33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3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7AE"/>
    <a:srgbClr val="1B4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1710" y="780"/>
      </p:cViewPr>
      <p:guideLst>
        <p:guide orient="horz" pos="2083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CA2BF-3030-4C6A-9CE5-A98D5AFBB53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49A20-36B2-431D-89D2-2EEA123B01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32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1350-D6BC-4829-BF7F-A44D608302B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9.pn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1.xml"/><Relationship Id="rId7" Type="http://schemas.openxmlformats.org/officeDocument/2006/relationships/image" Target="../media/image3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A-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7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66" name="PA-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67" name="PA-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B4489">
                  <a:alpha val="78000"/>
                </a:srgbClr>
              </a:gs>
              <a:gs pos="100000">
                <a:srgbClr val="1B4489">
                  <a:alpha val="66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1" name="任意多边形: 形状 101"/>
          <p:cNvSpPr/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2" name="任意多边形: 形状 83"/>
          <p:cNvSpPr/>
          <p:nvPr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ea"/>
            </a:endParaRPr>
          </a:p>
        </p:txBody>
      </p:sp>
      <p:sp>
        <p:nvSpPr>
          <p:cNvPr id="73" name="任意多边形: 形状 62"/>
          <p:cNvSpPr/>
          <p:nvPr/>
        </p:nvSpPr>
        <p:spPr>
          <a:xfrm>
            <a:off x="0" y="2989267"/>
            <a:ext cx="12191999" cy="741497"/>
          </a:xfrm>
          <a:custGeom>
            <a:avLst/>
            <a:gdLst>
              <a:gd name="connsiteX0" fmla="*/ 6096002 w 12191999"/>
              <a:gd name="connsiteY0" fmla="*/ 0 h 3805208"/>
              <a:gd name="connsiteX1" fmla="*/ 11517301 w 12191999"/>
              <a:gd name="connsiteY1" fmla="*/ 568339 h 3805208"/>
              <a:gd name="connsiteX2" fmla="*/ 12191999 w 12191999"/>
              <a:gd name="connsiteY2" fmla="*/ 741496 h 3805208"/>
              <a:gd name="connsiteX3" fmla="*/ 12191999 w 12191999"/>
              <a:gd name="connsiteY3" fmla="*/ 3805208 h 3805208"/>
              <a:gd name="connsiteX4" fmla="*/ 0 w 12191999"/>
              <a:gd name="connsiteY4" fmla="*/ 3805208 h 3805208"/>
              <a:gd name="connsiteX5" fmla="*/ 0 w 12191999"/>
              <a:gd name="connsiteY5" fmla="*/ 741497 h 3805208"/>
              <a:gd name="connsiteX6" fmla="*/ 674702 w 12191999"/>
              <a:gd name="connsiteY6" fmla="*/ 568339 h 3805208"/>
              <a:gd name="connsiteX7" fmla="*/ 6096002 w 12191999"/>
              <a:gd name="connsiteY7" fmla="*/ 0 h 3805208"/>
              <a:gd name="connsiteX0-1" fmla="*/ 12191999 w 12283439"/>
              <a:gd name="connsiteY0-2" fmla="*/ 3805208 h 3896648"/>
              <a:gd name="connsiteX1-3" fmla="*/ 0 w 12283439"/>
              <a:gd name="connsiteY1-4" fmla="*/ 3805208 h 3896648"/>
              <a:gd name="connsiteX2-5" fmla="*/ 0 w 12283439"/>
              <a:gd name="connsiteY2-6" fmla="*/ 741497 h 3896648"/>
              <a:gd name="connsiteX3-7" fmla="*/ 674702 w 12283439"/>
              <a:gd name="connsiteY3-8" fmla="*/ 568339 h 3896648"/>
              <a:gd name="connsiteX4-9" fmla="*/ 6096002 w 12283439"/>
              <a:gd name="connsiteY4-10" fmla="*/ 0 h 3896648"/>
              <a:gd name="connsiteX5-11" fmla="*/ 11517301 w 12283439"/>
              <a:gd name="connsiteY5-12" fmla="*/ 568339 h 3896648"/>
              <a:gd name="connsiteX6-13" fmla="*/ 12191999 w 12283439"/>
              <a:gd name="connsiteY6-14" fmla="*/ 741496 h 3896648"/>
              <a:gd name="connsiteX7-15" fmla="*/ 12283439 w 12283439"/>
              <a:gd name="connsiteY7-16" fmla="*/ 3896648 h 3896648"/>
              <a:gd name="connsiteX0-17" fmla="*/ 12191999 w 12191999"/>
              <a:gd name="connsiteY0-18" fmla="*/ 3805208 h 3805208"/>
              <a:gd name="connsiteX1-19" fmla="*/ 0 w 12191999"/>
              <a:gd name="connsiteY1-20" fmla="*/ 3805208 h 3805208"/>
              <a:gd name="connsiteX2-21" fmla="*/ 0 w 12191999"/>
              <a:gd name="connsiteY2-22" fmla="*/ 741497 h 3805208"/>
              <a:gd name="connsiteX3-23" fmla="*/ 674702 w 12191999"/>
              <a:gd name="connsiteY3-24" fmla="*/ 568339 h 3805208"/>
              <a:gd name="connsiteX4-25" fmla="*/ 6096002 w 12191999"/>
              <a:gd name="connsiteY4-26" fmla="*/ 0 h 3805208"/>
              <a:gd name="connsiteX5-27" fmla="*/ 11517301 w 12191999"/>
              <a:gd name="connsiteY5-28" fmla="*/ 568339 h 3805208"/>
              <a:gd name="connsiteX6-29" fmla="*/ 12191999 w 12191999"/>
              <a:gd name="connsiteY6-30" fmla="*/ 741496 h 3805208"/>
              <a:gd name="connsiteX0-31" fmla="*/ 0 w 12191999"/>
              <a:gd name="connsiteY0-32" fmla="*/ 3805208 h 3805208"/>
              <a:gd name="connsiteX1-33" fmla="*/ 0 w 12191999"/>
              <a:gd name="connsiteY1-34" fmla="*/ 741497 h 3805208"/>
              <a:gd name="connsiteX2-35" fmla="*/ 674702 w 12191999"/>
              <a:gd name="connsiteY2-36" fmla="*/ 568339 h 3805208"/>
              <a:gd name="connsiteX3-37" fmla="*/ 6096002 w 12191999"/>
              <a:gd name="connsiteY3-38" fmla="*/ 0 h 3805208"/>
              <a:gd name="connsiteX4-39" fmla="*/ 11517301 w 12191999"/>
              <a:gd name="connsiteY4-40" fmla="*/ 568339 h 3805208"/>
              <a:gd name="connsiteX5-41" fmla="*/ 12191999 w 12191999"/>
              <a:gd name="connsiteY5-42" fmla="*/ 741496 h 3805208"/>
              <a:gd name="connsiteX0-43" fmla="*/ 0 w 12191999"/>
              <a:gd name="connsiteY0-44" fmla="*/ 741497 h 741497"/>
              <a:gd name="connsiteX1-45" fmla="*/ 674702 w 12191999"/>
              <a:gd name="connsiteY1-46" fmla="*/ 568339 h 741497"/>
              <a:gd name="connsiteX2-47" fmla="*/ 6096002 w 12191999"/>
              <a:gd name="connsiteY2-48" fmla="*/ 0 h 741497"/>
              <a:gd name="connsiteX3-49" fmla="*/ 11517301 w 12191999"/>
              <a:gd name="connsiteY3-50" fmla="*/ 568339 h 741497"/>
              <a:gd name="connsiteX4-51" fmla="*/ 12191999 w 12191999"/>
              <a:gd name="connsiteY4-52" fmla="*/ 741496 h 741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1999" h="741497">
                <a:moveTo>
                  <a:pt x="0" y="741497"/>
                </a:move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</a:path>
            </a:pathLst>
          </a:cu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94" name="标题 47"/>
          <p:cNvSpPr txBox="1"/>
          <p:nvPr/>
        </p:nvSpPr>
        <p:spPr>
          <a:xfrm>
            <a:off x="2537316" y="3693224"/>
            <a:ext cx="7214483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400" kern="1200" spc="100" dirty="0">
                <a:solidFill>
                  <a:schemeClr val="accent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r>
              <a:rPr lang="zh-CN" altLang="en-US" sz="2400" b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突发事件网络舆情多</a:t>
            </a:r>
            <a:r>
              <a:rPr lang="en-US" altLang="zh-CN" sz="2400" b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2400" b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仿真系统</a:t>
            </a:r>
          </a:p>
          <a:p>
            <a:r>
              <a:rPr lang="zh-CN" altLang="en-US" sz="2400" b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第二阶段研发成果汇报</a:t>
            </a:r>
            <a:endParaRPr lang="zh-CN" altLang="zh-CN" sz="24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2108520" y="4952976"/>
            <a:ext cx="7974957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</p:cxnSp>
      <p:sp>
        <p:nvSpPr>
          <p:cNvPr id="51" name="矩形 50"/>
          <p:cNvSpPr/>
          <p:nvPr/>
        </p:nvSpPr>
        <p:spPr>
          <a:xfrm>
            <a:off x="2028286" y="5069181"/>
            <a:ext cx="4160113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研发单位：河北大学数学与信息科学学院</a:t>
            </a:r>
            <a:endParaRPr lang="en-US" altLang="zh-CN" sz="1400" b="1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zh-CN" altLang="en-US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河北省机器学习与计算智能重点实验室</a:t>
            </a:r>
            <a:endParaRPr lang="en-US" altLang="zh-CN" sz="1400" b="1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zh-CN" altLang="en-US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河北大学新闻传播学院</a:t>
            </a:r>
          </a:p>
          <a:p>
            <a:r>
              <a:rPr lang="zh-CN" altLang="en-US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  报  人：万来</a:t>
            </a:r>
          </a:p>
          <a:p>
            <a:r>
              <a:rPr lang="zh-CN" altLang="en-US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汇报日期：</a:t>
            </a:r>
            <a:r>
              <a:rPr lang="en-US" altLang="zh-CN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lang="zh-CN" altLang="en-US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endParaRPr lang="en-US" altLang="zh-CN" sz="1400" b="1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678007" y="571437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400" dirty="0">
              <a:solidFill>
                <a:srgbClr val="22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bai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19450" y="1130935"/>
            <a:ext cx="1169670" cy="1172210"/>
          </a:xfrm>
          <a:prstGeom prst="rect">
            <a:avLst/>
          </a:prstGeom>
        </p:spPr>
      </p:pic>
      <p:pic>
        <p:nvPicPr>
          <p:cNvPr id="4" name="图片 3" descr="未标题-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734560" y="1085215"/>
            <a:ext cx="384365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任意多边形: 形状 101"/>
          <p:cNvSpPr/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61" name="ïŝḻïďè"/>
          <p:cNvSpPr txBox="1"/>
          <p:nvPr/>
        </p:nvSpPr>
        <p:spPr>
          <a:xfrm>
            <a:off x="2199107" y="3676945"/>
            <a:ext cx="25438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5000"/>
              </a:lnSpc>
            </a:pP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2149523" y="2305487"/>
            <a:ext cx="2606048" cy="0"/>
          </a:xfrm>
          <a:prstGeom prst="line">
            <a:avLst/>
          </a:prstGeom>
          <a:ln w="9525" cap="rnd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2180003" y="4375719"/>
            <a:ext cx="2606048" cy="0"/>
          </a:xfrm>
          <a:prstGeom prst="line">
            <a:avLst/>
          </a:prstGeom>
          <a:ln w="38100" cap="rnd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iŝlídé"/>
          <p:cNvSpPr/>
          <p:nvPr/>
        </p:nvSpPr>
        <p:spPr bwMode="auto">
          <a:xfrm>
            <a:off x="6407090" y="948878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01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8082695" y="966513"/>
            <a:ext cx="1886088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342584" y="905487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íṡļîḓè"/>
          <p:cNvSpPr/>
          <p:nvPr/>
        </p:nvSpPr>
        <p:spPr bwMode="auto">
          <a:xfrm>
            <a:off x="6407090" y="2040717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02</a:t>
            </a:r>
          </a:p>
        </p:txBody>
      </p:sp>
      <p:sp>
        <p:nvSpPr>
          <p:cNvPr id="76" name="矩形 75"/>
          <p:cNvSpPr/>
          <p:nvPr/>
        </p:nvSpPr>
        <p:spPr>
          <a:xfrm>
            <a:off x="6342585" y="1995719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7" name="îṣḻidé"/>
          <p:cNvSpPr/>
          <p:nvPr/>
        </p:nvSpPr>
        <p:spPr bwMode="auto">
          <a:xfrm>
            <a:off x="6407090" y="3127905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03</a:t>
            </a:r>
          </a:p>
        </p:txBody>
      </p:sp>
      <p:sp>
        <p:nvSpPr>
          <p:cNvPr id="78" name="矩形 77"/>
          <p:cNvSpPr/>
          <p:nvPr/>
        </p:nvSpPr>
        <p:spPr>
          <a:xfrm>
            <a:off x="6342585" y="3085951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9" name="ïśḻîḋé"/>
          <p:cNvSpPr/>
          <p:nvPr/>
        </p:nvSpPr>
        <p:spPr bwMode="auto">
          <a:xfrm>
            <a:off x="6407090" y="4212542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04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8082695" y="4232656"/>
            <a:ext cx="201185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实验与演示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342585" y="4176184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8082694" y="3141503"/>
            <a:ext cx="201185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第二阶段进展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6342584" y="1577168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6342584" y="2677161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342584" y="3757872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6342584" y="4857865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reeform 5"/>
          <p:cNvSpPr/>
          <p:nvPr/>
        </p:nvSpPr>
        <p:spPr bwMode="auto">
          <a:xfrm>
            <a:off x="886594" y="-2479166"/>
            <a:ext cx="10418813" cy="11816333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1"/>
                </a:gs>
                <a:gs pos="100000">
                  <a:schemeClr val="accent1"/>
                </a:gs>
                <a:gs pos="50000">
                  <a:schemeClr val="bg1">
                    <a:lumMod val="95000"/>
                    <a:alpha val="10000"/>
                  </a:schemeClr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9" name="Freeform 5"/>
          <p:cNvSpPr/>
          <p:nvPr/>
        </p:nvSpPr>
        <p:spPr bwMode="auto">
          <a:xfrm>
            <a:off x="-763862" y="-4351006"/>
            <a:ext cx="13719726" cy="15560012"/>
          </a:xfrm>
          <a:prstGeom prst="ellipse">
            <a:avLst/>
          </a:prstGeom>
          <a:noFill/>
          <a:ln w="8890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0" name="ïśḻîḋé"/>
          <p:cNvSpPr/>
          <p:nvPr/>
        </p:nvSpPr>
        <p:spPr bwMode="auto">
          <a:xfrm>
            <a:off x="6407089" y="5315297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05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8082694" y="5335411"/>
            <a:ext cx="201185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后续工作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342584" y="5278939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93" name="直接连接符 92"/>
          <p:cNvCxnSpPr/>
          <p:nvPr/>
        </p:nvCxnSpPr>
        <p:spPr>
          <a:xfrm>
            <a:off x="6342583" y="5960620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099755" y="2236294"/>
            <a:ext cx="2676136" cy="1490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5000"/>
              </a:lnSpc>
            </a:pPr>
            <a:r>
              <a:rPr lang="zh-CN" altLang="en-US" sz="8000">
                <a:solidFill>
                  <a:srgbClr val="2257AE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en-US" altLang="zh-CN" sz="8000" dirty="0">
              <a:solidFill>
                <a:srgbClr val="22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5DA8C0-109A-CECC-91BC-4159E2A2B18A}"/>
              </a:ext>
            </a:extLst>
          </p:cNvPr>
          <p:cNvSpPr txBox="1"/>
          <p:nvPr/>
        </p:nvSpPr>
        <p:spPr>
          <a:xfrm>
            <a:off x="8082694" y="2060792"/>
            <a:ext cx="201185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第一阶段成果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043A546-A484-BC9C-143E-A66CD42B23E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244581-F0C5-6197-58FA-3A87887E09B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A7E151A-CDBE-1A9D-BE71-D991123FEE2F}"/>
              </a:ext>
            </a:extLst>
          </p:cNvPr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AF79C7-7B34-16C6-B9A1-6A6A913C2B6B}"/>
              </a:ext>
            </a:extLst>
          </p:cNvPr>
          <p:cNvSpPr txBox="1"/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54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5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D96C7FD-7C7D-23D1-1BBE-694BC292AE65}"/>
              </a:ext>
            </a:extLst>
          </p:cNvPr>
          <p:cNvSpPr txBox="1"/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97CDDC"/>
                </a:solidFill>
                <a:latin typeface="Microsoft YaHei" panose="020B0503020204020204" pitchFamily="34" charset="-122"/>
              </a:rPr>
              <a:t>SECTION</a:t>
            </a:r>
            <a:endParaRPr lang="zh-CN" altLang="en-US" sz="1100" b="1">
              <a:solidFill>
                <a:srgbClr val="97CDD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C14A425-8FE5-8277-631F-5A33405CCD5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B6B87C-FCDB-7475-C2F3-63D0514309AB}"/>
              </a:ext>
            </a:extLst>
          </p:cNvPr>
          <p:cNvSpPr txBox="1"/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600" b="1">
                <a:solidFill>
                  <a:srgbClr val="0C2B4C"/>
                </a:solidFill>
                <a:latin typeface="Microsoft YaHei" panose="020B0503020204020204" pitchFamily="34" charset="-122"/>
              </a:rPr>
              <a:t>项目背景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F19414-5938-D60A-8A9F-871ED93E8D2F}"/>
              </a:ext>
            </a:extLst>
          </p:cNvPr>
          <p:cNvSpPr txBox="1"/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536578"/>
                </a:solidFill>
                <a:latin typeface="Microsoft YaHei" panose="020B0503020204020204" pitchFamily="34" charset="-122"/>
              </a:rPr>
              <a:t>现实舆情研判中的问题与系统定位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D6ED714-D4CD-D523-BD32-21A50BE3FE1E}"/>
              </a:ext>
            </a:extLst>
          </p:cNvPr>
          <p:cNvCxnSpPr/>
          <p:nvPr/>
        </p:nvCxn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2463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67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占位符 43"/>
          <p:cNvSpPr txBox="1"/>
          <p:nvPr/>
        </p:nvSpPr>
        <p:spPr>
          <a:xfrm>
            <a:off x="399891" y="349328"/>
            <a:ext cx="7466453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案例引入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一起车位如何演化为舆情事件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AD29967-5447-D3FF-17D9-295592A67E2F}"/>
              </a:ext>
            </a:extLst>
          </p:cNvPr>
          <p:cNvSpPr/>
          <p:nvPr/>
        </p:nvSpPr>
        <p:spPr>
          <a:xfrm>
            <a:off x="8407576" y="1239519"/>
            <a:ext cx="2924824" cy="52609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日车位纠纷发生</a:t>
            </a:r>
          </a:p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52AE9B6-D9FC-442F-F0B7-3FFF8A48EEA1}"/>
              </a:ext>
            </a:extLst>
          </p:cNvPr>
          <p:cNvSpPr/>
          <p:nvPr/>
        </p:nvSpPr>
        <p:spPr>
          <a:xfrm>
            <a:off x="8407575" y="1990061"/>
            <a:ext cx="2924825" cy="52609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日冲突升级</a:t>
            </a:r>
          </a:p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068DAB5-54DF-6429-D5D0-EC19CC51E86A}"/>
              </a:ext>
            </a:extLst>
          </p:cNvPr>
          <p:cNvSpPr/>
          <p:nvPr/>
        </p:nvSpPr>
        <p:spPr>
          <a:xfrm>
            <a:off x="8407575" y="2754554"/>
            <a:ext cx="2924826" cy="564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日至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日纠纷调解</a:t>
            </a:r>
          </a:p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1D74AD3-8D97-2583-6D86-72A183A21631}"/>
              </a:ext>
            </a:extLst>
          </p:cNvPr>
          <p:cNvSpPr/>
          <p:nvPr/>
        </p:nvSpPr>
        <p:spPr>
          <a:xfrm>
            <a:off x="8407577" y="3553867"/>
            <a:ext cx="2924826" cy="564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日达成和解</a:t>
            </a:r>
          </a:p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93B94AC-AC06-F852-505B-E9BF2560DBBB}"/>
              </a:ext>
            </a:extLst>
          </p:cNvPr>
          <p:cNvSpPr/>
          <p:nvPr/>
        </p:nvSpPr>
        <p:spPr>
          <a:xfrm>
            <a:off x="8407577" y="4382672"/>
            <a:ext cx="2924826" cy="564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日官方发布声明</a:t>
            </a:r>
          </a:p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5DE3A35-F6E6-B89C-362B-69059F411A63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9869988" y="1765613"/>
            <a:ext cx="0" cy="224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21D9E34-62E9-3B34-AC8D-70E6B56243DE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9869988" y="2516155"/>
            <a:ext cx="0" cy="238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7CF8F8F-5650-A0AF-E803-68D35F1D7681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9869988" y="3318954"/>
            <a:ext cx="2" cy="23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C5FB646-0CDF-00C2-2B19-6D05F4EB0B80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9869990" y="4118267"/>
            <a:ext cx="0" cy="264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59">
            <a:extLst>
              <a:ext uri="{FF2B5EF4-FFF2-40B4-BE49-F238E27FC236}">
                <a16:creationId xmlns:a16="http://schemas.microsoft.com/office/drawing/2014/main" id="{0088FFA0-7526-BB15-3723-ACDB900A6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91" y="906522"/>
            <a:ext cx="5739072" cy="5826215"/>
          </a:xfrm>
          <a:prstGeom prst="rect">
            <a:avLst/>
          </a:prstGeom>
        </p:spPr>
      </p:pic>
      <p:sp>
        <p:nvSpPr>
          <p:cNvPr id="3" name="Page Number 4">
            <a:extLst>
              <a:ext uri="{FF2B5EF4-FFF2-40B4-BE49-F238E27FC236}">
                <a16:creationId xmlns:a16="http://schemas.microsoft.com/office/drawing/2014/main" id="{6AF63705-30F5-87EF-C6AF-90E751E44257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73AC-A6CF-8C2B-8A25-2ECF6044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>
            <a:extLst>
              <a:ext uri="{FF2B5EF4-FFF2-40B4-BE49-F238E27FC236}">
                <a16:creationId xmlns:a16="http://schemas.microsoft.com/office/drawing/2014/main" id="{750649E6-7387-D25F-8C40-0B08B1CAB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01" y="936883"/>
            <a:ext cx="3581747" cy="254892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8C26BD3-375E-1EDA-DF88-D11C09E9AD56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A11B57B-2143-2F16-740B-9167BDC879A1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41C5DBF2-4AF6-17D6-CDBA-15E2232FE136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占位符 43">
            <a:extLst>
              <a:ext uri="{FF2B5EF4-FFF2-40B4-BE49-F238E27FC236}">
                <a16:creationId xmlns:a16="http://schemas.microsoft.com/office/drawing/2014/main" id="{0A0427D2-0B70-80BA-6010-AB7F415F91B0}"/>
              </a:ext>
            </a:extLst>
          </p:cNvPr>
          <p:cNvSpPr txBox="1"/>
          <p:nvPr/>
        </p:nvSpPr>
        <p:spPr>
          <a:xfrm>
            <a:off x="399891" y="349328"/>
            <a:ext cx="6495687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舆情争议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官方回应后出现次生舆情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7BFC4F4B-774F-6BC4-9643-3848ABA61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085D994-A7B9-3085-64C0-554F8E9C1A9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45174912-1CF7-7433-7ACF-11F0630BB3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924" y="948320"/>
            <a:ext cx="3306358" cy="24658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A4A1726-E996-BDCE-A545-762110F1A8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875" y="936883"/>
            <a:ext cx="3409824" cy="247726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3C761CA-A41E-A388-8A6C-D7350ECF6F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7738" y="906521"/>
            <a:ext cx="3808886" cy="263208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542542A-0C14-EE9D-6FCE-9B1BAC58E8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7973" y="898353"/>
            <a:ext cx="3918651" cy="2632080"/>
          </a:xfrm>
          <a:prstGeom prst="rect">
            <a:avLst/>
          </a:prstGeom>
        </p:spPr>
      </p:pic>
      <p:sp>
        <p:nvSpPr>
          <p:cNvPr id="24" name="星形: 六角 23">
            <a:extLst>
              <a:ext uri="{FF2B5EF4-FFF2-40B4-BE49-F238E27FC236}">
                <a16:creationId xmlns:a16="http://schemas.microsoft.com/office/drawing/2014/main" id="{1426C6C6-CC96-2829-0AC9-8B0FE843D0A5}"/>
              </a:ext>
            </a:extLst>
          </p:cNvPr>
          <p:cNvSpPr/>
          <p:nvPr/>
        </p:nvSpPr>
        <p:spPr>
          <a:xfrm>
            <a:off x="661237" y="6068860"/>
            <a:ext cx="10979779" cy="752133"/>
          </a:xfrm>
          <a:prstGeom prst="star6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4BFCA2-4A50-CB58-CBA8-96BB1FD8BFF6}"/>
              </a:ext>
            </a:extLst>
          </p:cNvPr>
          <p:cNvSpPr txBox="1"/>
          <p:nvPr/>
        </p:nvSpPr>
        <p:spPr>
          <a:xfrm>
            <a:off x="2647603" y="6291037"/>
            <a:ext cx="7007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事件由</a:t>
            </a:r>
            <a:r>
              <a:rPr lang="zh-CN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普通车位纠纷</a:t>
            </a: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逐步转变为</a:t>
            </a:r>
            <a:r>
              <a:rPr lang="zh-CN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涉及干部作风、处置公平和政府公信力的公共舆情事件</a:t>
            </a:r>
            <a:endParaRPr lang="zh-CN" altLang="en-US" sz="1400">
              <a:solidFill>
                <a:srgbClr val="FF0000"/>
              </a:solidFill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EC14E30D-0269-79E5-EF3E-4B023A835E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706" y="948320"/>
            <a:ext cx="3806471" cy="386426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596968D2-80D8-436D-FCCC-E483CA4C5D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705" y="948320"/>
            <a:ext cx="3806471" cy="3866987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D0BC8147-9A66-FC69-F88F-C220DFFD66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775" y="901054"/>
            <a:ext cx="3734291" cy="2548925"/>
          </a:xfrm>
          <a:prstGeom prst="rect">
            <a:avLst/>
          </a:prstGeom>
        </p:spPr>
      </p:pic>
      <p:sp>
        <p:nvSpPr>
          <p:cNvPr id="45" name="思想气泡: 云 44">
            <a:extLst>
              <a:ext uri="{FF2B5EF4-FFF2-40B4-BE49-F238E27FC236}">
                <a16:creationId xmlns:a16="http://schemas.microsoft.com/office/drawing/2014/main" id="{CEBADF47-BEF4-4879-DD6F-46168EFE3770}"/>
              </a:ext>
            </a:extLst>
          </p:cNvPr>
          <p:cNvSpPr/>
          <p:nvPr/>
        </p:nvSpPr>
        <p:spPr>
          <a:xfrm>
            <a:off x="8354860" y="3588570"/>
            <a:ext cx="3611764" cy="2071774"/>
          </a:xfrm>
          <a:prstGeom prst="cloudCallou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F28F54F-7710-ABFA-6067-42AE3D507249}"/>
              </a:ext>
            </a:extLst>
          </p:cNvPr>
          <p:cNvSpPr txBox="1"/>
          <p:nvPr/>
        </p:nvSpPr>
        <p:spPr>
          <a:xfrm>
            <a:off x="4943652" y="4014592"/>
            <a:ext cx="3172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本身就是一个很简单的问题，占了别人的车位拒不归还，警察上门直接处理就完事了，就因为对方是公职人员，然后浪费了这么多部门的公共资源来解决这个事情？那这不叫公职人员，这叫特权人员。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纪委也应适时介入了！对该公职人员有背于公序良俗的违法行为追责</a:t>
            </a:r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停职处理太轻了，其行为严重影响到公仆的形象，最少都要双开，否则严重影响到政府的形象</a:t>
            </a:r>
            <a:endParaRPr lang="zh-CN" altLang="en-US" sz="800"/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……..</a:t>
            </a:r>
          </a:p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思想气泡: 云 3">
            <a:extLst>
              <a:ext uri="{FF2B5EF4-FFF2-40B4-BE49-F238E27FC236}">
                <a16:creationId xmlns:a16="http://schemas.microsoft.com/office/drawing/2014/main" id="{A48B0859-7F9C-6806-B381-D500A540761C}"/>
              </a:ext>
            </a:extLst>
          </p:cNvPr>
          <p:cNvSpPr/>
          <p:nvPr/>
        </p:nvSpPr>
        <p:spPr>
          <a:xfrm>
            <a:off x="4600684" y="3633018"/>
            <a:ext cx="3754175" cy="2027325"/>
          </a:xfrm>
          <a:prstGeom prst="cloudCallou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FC4255-9331-9A17-5124-210B71D85979}"/>
              </a:ext>
            </a:extLst>
          </p:cNvPr>
          <p:cNvSpPr txBox="1"/>
          <p:nvPr/>
        </p:nvSpPr>
        <p:spPr>
          <a:xfrm>
            <a:off x="8706840" y="4014592"/>
            <a:ext cx="3172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这通告是把我们普通老百姓都当傻子吗？ 当官的侵权停车叫“停”，老百姓维权停车就叫“堵”……好文笔呀…… 体育局想就这么偏袒过关吗？！……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霸占是源，维权是果，通报却玩“堵住/停放”的文字游戏护短洗白。这哪是定分止争，分明是刀笔削责、透支公信，越解释越显心虚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耍小聪明的笔杆子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赤裸裸的护犊子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Page Number 5">
            <a:extLst>
              <a:ext uri="{FF2B5EF4-FFF2-40B4-BE49-F238E27FC236}">
                <a16:creationId xmlns:a16="http://schemas.microsoft.com/office/drawing/2014/main" id="{E95557BB-BD66-1182-4C6D-E277A41A5D37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5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055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  <p:bldP spid="45" grpId="0" animBg="1"/>
      <p:bldP spid="47" grpId="0"/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9E65244-C786-9766-7F17-EC89D9914DC6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717C536-C023-3729-2578-9B72B9019F9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7CFD31B-D277-271E-E875-B6C8085C8CDE}"/>
              </a:ext>
            </a:extLst>
          </p:cNvPr>
          <p:cNvSpPr txBox="1"/>
          <p:nvPr/>
        </p:nvSpPr>
        <p:spPr>
          <a:xfrm>
            <a:off x="482600" y="292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15A997"/>
                </a:solidFill>
                <a:latin typeface="Microsoft YaHei" panose="020B0503020204020204" pitchFamily="34" charset="-122"/>
              </a:rPr>
              <a:t>项目背景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8FBC60-908B-6EED-547B-61FE9FC7EA87}"/>
              </a:ext>
            </a:extLst>
          </p:cNvPr>
          <p:cNvSpPr txBox="1"/>
          <p:nvPr/>
        </p:nvSpPr>
        <p:spPr>
          <a:xfrm>
            <a:off x="482600" y="546100"/>
            <a:ext cx="869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700" b="1">
                <a:solidFill>
                  <a:srgbClr val="08315E"/>
                </a:solidFill>
                <a:latin typeface="Microsoft YaHei" panose="020B0503020204020204" pitchFamily="34" charset="-122"/>
              </a:rPr>
              <a:t>现实问题与系统目标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5C5B73D-57B8-C979-D254-835725A5EA94}"/>
              </a:ext>
            </a:extLst>
          </p:cNvPr>
          <p:cNvCxnSpPr/>
          <p:nvPr/>
        </p:nvCxnSpPr>
        <p:spPr>
          <a:xfrm>
            <a:off x="406400" y="1066800"/>
            <a:ext cx="11379200" cy="0"/>
          </a:xfrm>
          <a:prstGeom prst="line">
            <a:avLst/>
          </a:prstGeom>
          <a:ln w="12700">
            <a:solidFill>
              <a:srgbClr val="CBDC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E380183-0529-8616-4D16-9E3130C100E8}"/>
              </a:ext>
            </a:extLst>
          </p:cNvPr>
          <p:cNvSpPr txBox="1"/>
          <p:nvPr/>
        </p:nvSpPr>
        <p:spPr>
          <a:xfrm>
            <a:off x="609600" y="13081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15A997"/>
                </a:solidFill>
                <a:latin typeface="Microsoft YaHei" panose="020B0503020204020204" pitchFamily="34" charset="-122"/>
              </a:rPr>
              <a:t>现实问题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DEB8616-34F0-8851-DD65-1002097A1A84}"/>
              </a:ext>
            </a:extLst>
          </p:cNvPr>
          <p:cNvSpPr/>
          <p:nvPr/>
        </p:nvSpPr>
        <p:spPr>
          <a:xfrm>
            <a:off x="698500" y="1739900"/>
            <a:ext cx="2108200" cy="698500"/>
          </a:xfrm>
          <a:prstGeom prst="roundRect">
            <a:avLst/>
          </a:prstGeom>
          <a:solidFill>
            <a:srgbClr val="E8F1FC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08315E"/>
                </a:solidFill>
                <a:latin typeface="Microsoft YaHei" panose="020B0503020204020204" pitchFamily="34" charset="-122"/>
              </a:rPr>
              <a:t>事件信息不完整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74D3E23-6AE2-D27A-6A3F-7FF7EB014BDA}"/>
              </a:ext>
            </a:extLst>
          </p:cNvPr>
          <p:cNvCxnSpPr/>
          <p:nvPr/>
        </p:nvCxnSpPr>
        <p:spPr>
          <a:xfrm>
            <a:off x="2819400" y="2082800"/>
            <a:ext cx="571500" cy="0"/>
          </a:xfrm>
          <a:prstGeom prst="line">
            <a:avLst/>
          </a:prstGeom>
          <a:ln w="1905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FD60E44-D999-4C8C-29B7-1BF150433D0D}"/>
              </a:ext>
            </a:extLst>
          </p:cNvPr>
          <p:cNvSpPr/>
          <p:nvPr/>
        </p:nvSpPr>
        <p:spPr>
          <a:xfrm>
            <a:off x="3492500" y="1739900"/>
            <a:ext cx="2108200" cy="6985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08315E"/>
                </a:solidFill>
                <a:latin typeface="Microsoft YaHei" panose="020B0503020204020204" pitchFamily="34" charset="-122"/>
              </a:rPr>
              <a:t>公众看到的信息不同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38B19B5-8C19-2E4D-1995-FBD4D26A7A0A}"/>
              </a:ext>
            </a:extLst>
          </p:cNvPr>
          <p:cNvCxnSpPr/>
          <p:nvPr/>
        </p:nvCxnSpPr>
        <p:spPr>
          <a:xfrm>
            <a:off x="5613400" y="2082800"/>
            <a:ext cx="571500" cy="0"/>
          </a:xfrm>
          <a:prstGeom prst="line">
            <a:avLst/>
          </a:prstGeom>
          <a:ln w="1905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67B5EA3-0B00-9D9F-66DE-66E7656139BC}"/>
              </a:ext>
            </a:extLst>
          </p:cNvPr>
          <p:cNvSpPr/>
          <p:nvPr/>
        </p:nvSpPr>
        <p:spPr>
          <a:xfrm>
            <a:off x="6286500" y="1739900"/>
            <a:ext cx="2108200" cy="698500"/>
          </a:xfrm>
          <a:prstGeom prst="roundRect">
            <a:avLst/>
          </a:prstGeom>
          <a:solidFill>
            <a:srgbClr val="FFF3E5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08315E"/>
                </a:solidFill>
                <a:latin typeface="Microsoft YaHei" panose="020B0503020204020204" pitchFamily="34" charset="-122"/>
              </a:rPr>
              <a:t>回应内容和时点不同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26630F9-4DEA-2C59-4D28-53661395B22B}"/>
              </a:ext>
            </a:extLst>
          </p:cNvPr>
          <p:cNvCxnSpPr/>
          <p:nvPr/>
        </p:nvCxnSpPr>
        <p:spPr>
          <a:xfrm>
            <a:off x="8407400" y="2082800"/>
            <a:ext cx="571500" cy="0"/>
          </a:xfrm>
          <a:prstGeom prst="line">
            <a:avLst/>
          </a:prstGeom>
          <a:ln w="1905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A18E190-2C51-885D-3F56-AA90F3998341}"/>
              </a:ext>
            </a:extLst>
          </p:cNvPr>
          <p:cNvSpPr/>
          <p:nvPr/>
        </p:nvSpPr>
        <p:spPr>
          <a:xfrm>
            <a:off x="9080500" y="1739900"/>
            <a:ext cx="2108200" cy="698500"/>
          </a:xfrm>
          <a:prstGeom prst="roundRect">
            <a:avLst/>
          </a:prstGeom>
          <a:solidFill>
            <a:srgbClr val="F1EDFC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08315E"/>
                </a:solidFill>
                <a:latin typeface="Microsoft YaHei" panose="020B0503020204020204" pitchFamily="34" charset="-122"/>
              </a:rPr>
              <a:t>结果难以提前判断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CD3122-F2A5-4BCE-1738-1FA586A59069}"/>
              </a:ext>
            </a:extLst>
          </p:cNvPr>
          <p:cNvSpPr txBox="1"/>
          <p:nvPr/>
        </p:nvSpPr>
        <p:spPr>
          <a:xfrm>
            <a:off x="609600" y="2730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15A997"/>
                </a:solidFill>
                <a:latin typeface="Microsoft YaHei" panose="020B0503020204020204" pitchFamily="34" charset="-122"/>
              </a:rPr>
              <a:t>系统需要回答的三个核心问题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BF18FA9-B652-E365-16C0-20E73ABFA030}"/>
              </a:ext>
            </a:extLst>
          </p:cNvPr>
          <p:cNvSpPr/>
          <p:nvPr/>
        </p:nvSpPr>
        <p:spPr>
          <a:xfrm>
            <a:off x="698500" y="3327400"/>
            <a:ext cx="406400" cy="4064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CE1BA8-3092-E7DF-E679-DCE18546E389}"/>
              </a:ext>
            </a:extLst>
          </p:cNvPr>
          <p:cNvSpPr txBox="1"/>
          <p:nvPr/>
        </p:nvSpPr>
        <p:spPr>
          <a:xfrm>
            <a:off x="1244600" y="32639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08315E"/>
                </a:solidFill>
                <a:latin typeface="Microsoft YaHei" panose="020B0503020204020204" pitchFamily="34" charset="-122"/>
              </a:rPr>
              <a:t>把真实数据转成差异化 </a:t>
            </a:r>
            <a:r>
              <a:rPr lang="en-US" altLang="zh-CN" sz="1500" b="1">
                <a:solidFill>
                  <a:srgbClr val="08315E"/>
                </a:solidFill>
                <a:latin typeface="Microsoft YaHei" panose="020B0503020204020204" pitchFamily="34" charset="-122"/>
              </a:rPr>
              <a:t>Agent</a:t>
            </a:r>
            <a:endParaRPr lang="zh-CN" altLang="en-US" sz="1500" b="1">
              <a:solidFill>
                <a:srgbClr val="08315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3B3D6C2-72C1-4E5A-C4EE-7BACDDCC8574}"/>
              </a:ext>
            </a:extLst>
          </p:cNvPr>
          <p:cNvSpPr/>
          <p:nvPr/>
        </p:nvSpPr>
        <p:spPr>
          <a:xfrm>
            <a:off x="698500" y="3937000"/>
            <a:ext cx="3429000" cy="1168400"/>
          </a:xfrm>
          <a:prstGeom prst="roundRect">
            <a:avLst/>
          </a:prstGeom>
          <a:solidFill>
            <a:srgbClr val="E8F1FC"/>
          </a:solidFill>
          <a:ln w="1524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r>
              <a:rPr lang="zh-CN" altLang="en-US" sz="1300">
                <a:solidFill>
                  <a:srgbClr val="1E3957"/>
                </a:solidFill>
                <a:latin typeface="Microsoft YaHei" panose="020B0503020204020204" pitchFamily="34" charset="-122"/>
              </a:rPr>
              <a:t>提取用户长期表达特征，保留个体差异，不复制真实个人。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0DB44C2-EF7E-5101-7629-DAFF9B7A86F8}"/>
              </a:ext>
            </a:extLst>
          </p:cNvPr>
          <p:cNvSpPr/>
          <p:nvPr/>
        </p:nvSpPr>
        <p:spPr>
          <a:xfrm>
            <a:off x="4432300" y="3327400"/>
            <a:ext cx="406400" cy="406400"/>
          </a:xfrm>
          <a:prstGeom prst="ellipse">
            <a:avLst/>
          </a:prstGeom>
          <a:solidFill>
            <a:srgbClr val="15A997"/>
          </a:solidFill>
          <a:ln w="0">
            <a:solidFill>
              <a:srgbClr val="15A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5796A04-2E70-CA57-9FEC-AEF5BADB553B}"/>
              </a:ext>
            </a:extLst>
          </p:cNvPr>
          <p:cNvSpPr txBox="1"/>
          <p:nvPr/>
        </p:nvSpPr>
        <p:spPr>
          <a:xfrm>
            <a:off x="4978400" y="32639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08315E"/>
                </a:solidFill>
                <a:latin typeface="Microsoft YaHei" panose="020B0503020204020204" pitchFamily="34" charset="-122"/>
              </a:rPr>
              <a:t>模拟逐轮信息接触与群体演化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5E0BCFF-8584-67A1-55D7-89B6E05CF843}"/>
              </a:ext>
            </a:extLst>
          </p:cNvPr>
          <p:cNvSpPr/>
          <p:nvPr/>
        </p:nvSpPr>
        <p:spPr>
          <a:xfrm>
            <a:off x="4432300" y="3937000"/>
            <a:ext cx="3429000" cy="11684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15A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r>
              <a:rPr lang="zh-CN" altLang="en-US" sz="1300">
                <a:solidFill>
                  <a:srgbClr val="1E3957"/>
                </a:solidFill>
                <a:latin typeface="Microsoft YaHei" panose="020B0503020204020204" pitchFamily="34" charset="-122"/>
              </a:rPr>
              <a:t>让不同 </a:t>
            </a:r>
            <a:r>
              <a:rPr lang="en-US" altLang="zh-CN" sz="1300">
                <a:solidFill>
                  <a:srgbClr val="1E3957"/>
                </a:solidFill>
                <a:latin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1E3957"/>
                </a:solidFill>
                <a:latin typeface="Microsoft YaHei" panose="020B0503020204020204" pitchFamily="34" charset="-122"/>
              </a:rPr>
              <a:t>看到不同评论，独立判断是否表达，并记录传播路径。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8662CDAD-9B96-52D4-8B4C-79EE224D8D9D}"/>
              </a:ext>
            </a:extLst>
          </p:cNvPr>
          <p:cNvSpPr/>
          <p:nvPr/>
        </p:nvSpPr>
        <p:spPr>
          <a:xfrm>
            <a:off x="8166100" y="3327400"/>
            <a:ext cx="406400" cy="406400"/>
          </a:xfrm>
          <a:prstGeom prst="ellipse">
            <a:avLst/>
          </a:prstGeom>
          <a:solidFill>
            <a:srgbClr val="F78B23"/>
          </a:solidFill>
          <a:ln w="0">
            <a:solidFill>
              <a:srgbClr val="F78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85BD507-659B-9A9E-56F4-CF79828176AE}"/>
              </a:ext>
            </a:extLst>
          </p:cNvPr>
          <p:cNvSpPr txBox="1"/>
          <p:nvPr/>
        </p:nvSpPr>
        <p:spPr>
          <a:xfrm>
            <a:off x="8712200" y="32639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08315E"/>
                </a:solidFill>
                <a:latin typeface="Microsoft YaHei" panose="020B0503020204020204" pitchFamily="34" charset="-122"/>
              </a:rPr>
              <a:t>比较官方回应并复盘历史事件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74FDF38-6212-F9A5-6EBA-93720589730D}"/>
              </a:ext>
            </a:extLst>
          </p:cNvPr>
          <p:cNvSpPr/>
          <p:nvPr/>
        </p:nvSpPr>
        <p:spPr>
          <a:xfrm>
            <a:off x="8166100" y="3937000"/>
            <a:ext cx="3429000" cy="1168400"/>
          </a:xfrm>
          <a:prstGeom prst="roundRect">
            <a:avLst/>
          </a:prstGeom>
          <a:solidFill>
            <a:srgbClr val="FFF3E5"/>
          </a:solidFill>
          <a:ln w="15240">
            <a:solidFill>
              <a:srgbClr val="F78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r>
              <a:rPr lang="zh-CN" altLang="en-US" sz="1300">
                <a:solidFill>
                  <a:srgbClr val="1E3957"/>
                </a:solidFill>
                <a:latin typeface="Microsoft YaHei" panose="020B0503020204020204" pitchFamily="34" charset="-122"/>
              </a:rPr>
              <a:t>在同一基线上投入不同策略，或按真实时间投入通告，观察相对变化。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6122704-35AA-08DD-7469-E72193072235}"/>
              </a:ext>
            </a:extLst>
          </p:cNvPr>
          <p:cNvSpPr/>
          <p:nvPr/>
        </p:nvSpPr>
        <p:spPr>
          <a:xfrm>
            <a:off x="698500" y="5461000"/>
            <a:ext cx="10795000" cy="6858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r>
              <a:rPr lang="zh-CN" altLang="en-US" sz="1300" b="1">
                <a:solidFill>
                  <a:srgbClr val="1E3957"/>
                </a:solidFill>
                <a:latin typeface="Microsoft YaHei" panose="020B0503020204020204" pitchFamily="34" charset="-122"/>
              </a:rPr>
              <a:t>使用边界　输出用于方案比较、历史复盘和机制检查；不预测具体个人，不替代监测、专家研判和业务决策。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2689222-715B-939A-93F2-C735C0CA556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6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932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D6941E2-2E70-313E-6444-ECF2AAD9CEFE}"/>
              </a:ext>
            </a:extLst>
          </p:cNvPr>
          <p:cNvSpPr txBox="1"/>
          <p:nvPr/>
        </p:nvSpPr>
        <p:spPr>
          <a:xfrm>
            <a:off x="393700" y="254000"/>
            <a:ext cx="22860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项目背景 </a:t>
            </a:r>
            <a:r>
              <a:rPr lang="en-US" altLang="zh-CN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核心问题一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AA170E-D191-0FD7-7D9F-8980885392CE}"/>
              </a:ext>
            </a:extLst>
          </p:cNvPr>
          <p:cNvSpPr txBox="1"/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真实人的数据如何变成</a:t>
            </a:r>
            <a:r>
              <a:rPr lang="en-US" altLang="zh-CN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2300" b="1">
              <a:solidFill>
                <a:srgbClr val="0B31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584F433-57A4-7FC6-96B5-D128D1E5F9A5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41416DD8-168B-54FB-A278-8081E65758E3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BA8C5F4F-778C-BAAF-3E26-41E08ECC164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48B9E54-5683-AEB0-5C92-774C21F6387B}"/>
              </a:ext>
            </a:extLst>
          </p:cNvPr>
          <p:cNvSpPr/>
          <p:nvPr/>
        </p:nvSpPr>
        <p:spPr>
          <a:xfrm>
            <a:off x="482600" y="1587500"/>
            <a:ext cx="1651000" cy="1714500"/>
          </a:xfrm>
          <a:prstGeom prst="roundRect">
            <a:avLst/>
          </a:prstGeom>
          <a:solidFill>
            <a:srgbClr val="EAF3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69C3626-393F-7AEA-35A9-88B8FFE97DD8}"/>
              </a:ext>
            </a:extLst>
          </p:cNvPr>
          <p:cNvSpPr/>
          <p:nvPr/>
        </p:nvSpPr>
        <p:spPr>
          <a:xfrm>
            <a:off x="1041400" y="1765300"/>
            <a:ext cx="533400" cy="533400"/>
          </a:xfrm>
          <a:prstGeom prst="ellipse">
            <a:avLst/>
          </a:prstGeom>
          <a:solidFill>
            <a:srgbClr val="1659B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33250C9-939B-D303-80C3-AE54925D5A6D}"/>
              </a:ext>
            </a:extLst>
          </p:cNvPr>
          <p:cNvSpPr txBox="1"/>
          <p:nvPr/>
        </p:nvSpPr>
        <p:spPr>
          <a:xfrm>
            <a:off x="609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MongoDB</a:t>
            </a:r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原始数据</a:t>
            </a:r>
          </a:p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用户表＋微博表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B3A17F9-70C0-E69D-A3A3-6467B60A8391}"/>
              </a:ext>
            </a:extLst>
          </p:cNvPr>
          <p:cNvCxnSpPr/>
          <p:nvPr/>
        </p:nvCxnSpPr>
        <p:spPr>
          <a:xfrm>
            <a:off x="2133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759F76D-A6DE-DFFE-9D71-7A7F96E56877}"/>
              </a:ext>
            </a:extLst>
          </p:cNvPr>
          <p:cNvSpPr/>
          <p:nvPr/>
        </p:nvSpPr>
        <p:spPr>
          <a:xfrm>
            <a:off x="2387600" y="1587500"/>
            <a:ext cx="1651000" cy="17145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097F8C9-F9F4-A985-E904-0D138B171962}"/>
              </a:ext>
            </a:extLst>
          </p:cNvPr>
          <p:cNvSpPr/>
          <p:nvPr/>
        </p:nvSpPr>
        <p:spPr>
          <a:xfrm>
            <a:off x="2946400" y="1765300"/>
            <a:ext cx="533400" cy="533400"/>
          </a:xfrm>
          <a:prstGeom prst="ellipse">
            <a:avLst/>
          </a:prstGeom>
          <a:solidFill>
            <a:srgbClr val="12A59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E164675-56C4-6989-55D4-B8EA03973A67}"/>
              </a:ext>
            </a:extLst>
          </p:cNvPr>
          <p:cNvSpPr txBox="1"/>
          <p:nvPr/>
        </p:nvSpPr>
        <p:spPr>
          <a:xfrm>
            <a:off x="2514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清洗与关联</a:t>
            </a:r>
          </a:p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</a:t>
            </a:r>
            <a:r>
              <a:rPr lang="en-US" altLang="zh-CN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user_id</a:t>
            </a:r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归集微博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05B2FB3-D11E-D85C-1C32-9F807BB7C03E}"/>
              </a:ext>
            </a:extLst>
          </p:cNvPr>
          <p:cNvCxnSpPr/>
          <p:nvPr/>
        </p:nvCxnSpPr>
        <p:spPr>
          <a:xfrm>
            <a:off x="4038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B6761C3-8E1C-282A-FC47-DC4188586B89}"/>
              </a:ext>
            </a:extLst>
          </p:cNvPr>
          <p:cNvSpPr/>
          <p:nvPr/>
        </p:nvSpPr>
        <p:spPr>
          <a:xfrm>
            <a:off x="4292600" y="1587500"/>
            <a:ext cx="1651000" cy="17145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0A0BD4F-8FF3-EAB4-9DB4-A1211D8DE603}"/>
              </a:ext>
            </a:extLst>
          </p:cNvPr>
          <p:cNvSpPr/>
          <p:nvPr/>
        </p:nvSpPr>
        <p:spPr>
          <a:xfrm>
            <a:off x="4851400" y="1765300"/>
            <a:ext cx="533400" cy="533400"/>
          </a:xfrm>
          <a:prstGeom prst="ellipse">
            <a:avLst/>
          </a:prstGeom>
          <a:solidFill>
            <a:srgbClr val="F28C2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223F36F-1D3F-5C69-C257-AB8FC1A449CF}"/>
              </a:ext>
            </a:extLst>
          </p:cNvPr>
          <p:cNvSpPr txBox="1"/>
          <p:nvPr/>
        </p:nvSpPr>
        <p:spPr>
          <a:xfrm>
            <a:off x="4419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逐条文本分类</a:t>
            </a:r>
          </a:p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主题、信息取向、情绪、派系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31FF8EA-ABD5-8D90-A385-383A71FA0125}"/>
              </a:ext>
            </a:extLst>
          </p:cNvPr>
          <p:cNvCxnSpPr/>
          <p:nvPr/>
        </p:nvCxnSpPr>
        <p:spPr>
          <a:xfrm>
            <a:off x="5943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551EA2C-4E96-2C16-D357-1967A4C937A4}"/>
              </a:ext>
            </a:extLst>
          </p:cNvPr>
          <p:cNvSpPr/>
          <p:nvPr/>
        </p:nvSpPr>
        <p:spPr>
          <a:xfrm>
            <a:off x="6197600" y="1587500"/>
            <a:ext cx="1651000" cy="1714500"/>
          </a:xfrm>
          <a:prstGeom prst="roundRect">
            <a:avLst/>
          </a:prstGeom>
          <a:solidFill>
            <a:srgbClr val="F0ECF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565EFB5E-A7EA-2875-4047-4154996CB181}"/>
              </a:ext>
            </a:extLst>
          </p:cNvPr>
          <p:cNvSpPr/>
          <p:nvPr/>
        </p:nvSpPr>
        <p:spPr>
          <a:xfrm>
            <a:off x="6756400" y="1765300"/>
            <a:ext cx="533400" cy="533400"/>
          </a:xfrm>
          <a:prstGeom prst="ellipse">
            <a:avLst/>
          </a:prstGeom>
          <a:solidFill>
            <a:srgbClr val="7157A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3778842-2F19-D5FF-58B4-E59CC2BC789A}"/>
              </a:ext>
            </a:extLst>
          </p:cNvPr>
          <p:cNvSpPr txBox="1"/>
          <p:nvPr/>
        </p:nvSpPr>
        <p:spPr>
          <a:xfrm>
            <a:off x="6324600" y="2374900"/>
            <a:ext cx="1397000" cy="471924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按用户聚合</a:t>
            </a:r>
          </a:p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计算长期表达比例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C2C838D-6D95-06A6-106E-E830BF03A9A1}"/>
              </a:ext>
            </a:extLst>
          </p:cNvPr>
          <p:cNvCxnSpPr/>
          <p:nvPr/>
        </p:nvCxnSpPr>
        <p:spPr>
          <a:xfrm>
            <a:off x="7848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58EC0F2-6F6B-0BAE-866E-D4E8DFB17C02}"/>
              </a:ext>
            </a:extLst>
          </p:cNvPr>
          <p:cNvSpPr/>
          <p:nvPr/>
        </p:nvSpPr>
        <p:spPr>
          <a:xfrm>
            <a:off x="8102600" y="1587500"/>
            <a:ext cx="1651000" cy="1714500"/>
          </a:xfrm>
          <a:prstGeom prst="roundRect">
            <a:avLst/>
          </a:prstGeom>
          <a:solidFill>
            <a:srgbClr val="FDECE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76700194-D743-BA82-3159-22E25CFD337A}"/>
              </a:ext>
            </a:extLst>
          </p:cNvPr>
          <p:cNvSpPr/>
          <p:nvPr/>
        </p:nvSpPr>
        <p:spPr>
          <a:xfrm>
            <a:off x="8661400" y="1765300"/>
            <a:ext cx="533400" cy="533400"/>
          </a:xfrm>
          <a:prstGeom prst="ellipse">
            <a:avLst/>
          </a:prstGeom>
          <a:solidFill>
            <a:srgbClr val="D94B5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313193F-0D3E-C34F-135F-A4D3404096CD}"/>
              </a:ext>
            </a:extLst>
          </p:cNvPr>
          <p:cNvSpPr txBox="1"/>
          <p:nvPr/>
        </p:nvSpPr>
        <p:spPr>
          <a:xfrm>
            <a:off x="8229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</a:t>
            </a:r>
            <a:r>
              <a:rPr lang="en-US" altLang="zh-CN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 JSON</a:t>
            </a:r>
          </a:p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保存画像与样本量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5CA7465-9B2A-1067-85F3-5167E8ECF8F7}"/>
              </a:ext>
            </a:extLst>
          </p:cNvPr>
          <p:cNvCxnSpPr/>
          <p:nvPr/>
        </p:nvCxnSpPr>
        <p:spPr>
          <a:xfrm>
            <a:off x="9753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68AB8EFE-4A99-8F94-D0FD-30419E78FAEA}"/>
              </a:ext>
            </a:extLst>
          </p:cNvPr>
          <p:cNvSpPr/>
          <p:nvPr/>
        </p:nvSpPr>
        <p:spPr>
          <a:xfrm>
            <a:off x="10007600" y="1587500"/>
            <a:ext cx="1651000" cy="1714500"/>
          </a:xfrm>
          <a:prstGeom prst="roundRect">
            <a:avLst/>
          </a:prstGeom>
          <a:solidFill>
            <a:srgbClr val="F4F7F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8D1CD1C4-1D24-3A0D-2B5B-723222D0AF54}"/>
              </a:ext>
            </a:extLst>
          </p:cNvPr>
          <p:cNvSpPr/>
          <p:nvPr/>
        </p:nvSpPr>
        <p:spPr>
          <a:xfrm>
            <a:off x="10566400" y="1765300"/>
            <a:ext cx="533400" cy="533400"/>
          </a:xfrm>
          <a:prstGeom prst="ellipse">
            <a:avLst/>
          </a:prstGeom>
          <a:solidFill>
            <a:srgbClr val="0B315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F60FF15-4BDD-0F8A-D560-CE8F317046C7}"/>
              </a:ext>
            </a:extLst>
          </p:cNvPr>
          <p:cNvSpPr txBox="1"/>
          <p:nvPr/>
        </p:nvSpPr>
        <p:spPr>
          <a:xfrm>
            <a:off x="10134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初始化</a:t>
            </a:r>
            <a:r>
              <a:rPr lang="en-US" altLang="zh-CN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</a:p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加载画像、空记忆和初始状态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33373C4-DA5F-278D-CEAE-F587666F2A36}"/>
              </a:ext>
            </a:extLst>
          </p:cNvPr>
          <p:cNvSpPr/>
          <p:nvPr/>
        </p:nvSpPr>
        <p:spPr>
          <a:xfrm>
            <a:off x="698500" y="3746500"/>
            <a:ext cx="5143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1E3AB99-21ED-6E2E-E00B-AA9FC6040B16}"/>
              </a:ext>
            </a:extLst>
          </p:cNvPr>
          <p:cNvSpPr txBox="1"/>
          <p:nvPr/>
        </p:nvSpPr>
        <p:spPr>
          <a:xfrm>
            <a:off x="952500" y="3962400"/>
            <a:ext cx="46355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 sz="1700" b="1">
                <a:solidFill>
                  <a:srgbClr val="1659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</a:t>
            </a:r>
            <a:r>
              <a:rPr lang="zh-CN" altLang="en-US" sz="1700" b="1">
                <a:solidFill>
                  <a:srgbClr val="1659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中保存什么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E729FEF-5F82-C2DA-15E2-D835E3B7BEAA}"/>
              </a:ext>
            </a:extLst>
          </p:cNvPr>
          <p:cNvSpPr txBox="1"/>
          <p:nvPr/>
        </p:nvSpPr>
        <p:spPr>
          <a:xfrm>
            <a:off x="952500" y="4445000"/>
            <a:ext cx="4635500" cy="110286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身份信息：性别、地区、粉丝量、认证状态</a:t>
            </a:r>
          </a:p>
          <a:p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行为偏好：原创与转发比例</a:t>
            </a:r>
          </a:p>
          <a:p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长期倾向：主题偏好、事实</a:t>
            </a:r>
            <a:r>
              <a:rPr lang="en-US" altLang="zh-CN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观点</a:t>
            </a:r>
            <a:r>
              <a:rPr lang="en-US" altLang="zh-CN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质疑比例、情绪表达、评论派系</a:t>
            </a:r>
          </a:p>
          <a:p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数据依据：各项实际样本数量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A6605B3-D445-3838-6F34-880F5ADA83D4}"/>
              </a:ext>
            </a:extLst>
          </p:cNvPr>
          <p:cNvSpPr/>
          <p:nvPr/>
        </p:nvSpPr>
        <p:spPr>
          <a:xfrm>
            <a:off x="6350000" y="3746500"/>
            <a:ext cx="5143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AD4679F-D497-C5C7-B1B7-16D975BA0342}"/>
              </a:ext>
            </a:extLst>
          </p:cNvPr>
          <p:cNvSpPr txBox="1"/>
          <p:nvPr/>
        </p:nvSpPr>
        <p:spPr>
          <a:xfrm>
            <a:off x="6604000" y="3962400"/>
            <a:ext cx="46355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7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如何避免把真人简单复制成</a:t>
            </a:r>
            <a:r>
              <a:rPr lang="en-US" altLang="zh-CN" sz="17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700" b="1">
              <a:solidFill>
                <a:srgbClr val="12A5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281DFEB-EA47-DC9A-4A7E-D756E04587CC}"/>
              </a:ext>
            </a:extLst>
          </p:cNvPr>
          <p:cNvSpPr txBox="1"/>
          <p:nvPr/>
        </p:nvSpPr>
        <p:spPr>
          <a:xfrm>
            <a:off x="6604000" y="4445000"/>
            <a:ext cx="4635500" cy="7027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系统保留长期统计特征，不把全部原微博直接当作</a:t>
            </a:r>
            <a:r>
              <a:rPr lang="en-US" altLang="zh-CN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回答。</a:t>
            </a:r>
          </a:p>
          <a:p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比例计算采用平滑处理，避免少量样本形成绝对</a:t>
            </a:r>
            <a:r>
              <a:rPr lang="en-US" altLang="zh-CN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或绝对</a:t>
            </a:r>
            <a:r>
              <a:rPr lang="en-US" altLang="zh-CN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r>
              <a:rPr lang="en-US" altLang="zh-CN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3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进入新事件后仍需结合当轮证据独立决策。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1EE2B8-05CF-0CDC-4035-C827E1FAD1A4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7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621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80F9AA3-6000-B96B-FEFA-A9FC712F59E7}"/>
              </a:ext>
            </a:extLst>
          </p:cNvPr>
          <p:cNvSpPr txBox="1"/>
          <p:nvPr/>
        </p:nvSpPr>
        <p:spPr>
          <a:xfrm>
            <a:off x="393700" y="254000"/>
            <a:ext cx="22860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项目背景 </a:t>
            </a:r>
            <a:r>
              <a:rPr lang="en-US" altLang="zh-CN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核心问题二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5BC52C-1CEE-7F2C-7F37-BA98EF061915}"/>
              </a:ext>
            </a:extLst>
          </p:cNvPr>
          <p:cNvSpPr txBox="1"/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建好之后，系统如何模拟现实舆情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C40021C-8CCF-26D1-50D3-4F359C950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29BF64C8-6CC5-1522-D773-533BCDA66C0F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78F66078-836A-53A9-26DC-E5B82B89238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0C83A8E9-6A14-9FB0-7468-675F64F95DC4}"/>
              </a:ext>
            </a:extLst>
          </p:cNvPr>
          <p:cNvSpPr txBox="1"/>
          <p:nvPr/>
        </p:nvSpPr>
        <p:spPr>
          <a:xfrm>
            <a:off x="1016000" y="1244600"/>
            <a:ext cx="10160000" cy="31803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4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系统按轮次运行。每一轮产生的新表达，会成为下一轮其他</a:t>
            </a:r>
            <a:r>
              <a:rPr lang="en-US" altLang="zh-CN" sz="14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4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可能看到的信息。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F3FDD75-9708-85CD-677D-A3073D868A4C}"/>
              </a:ext>
            </a:extLst>
          </p:cNvPr>
          <p:cNvSpPr/>
          <p:nvPr/>
        </p:nvSpPr>
        <p:spPr>
          <a:xfrm>
            <a:off x="571500" y="1841500"/>
            <a:ext cx="2476500" cy="1460500"/>
          </a:xfrm>
          <a:prstGeom prst="roundRect">
            <a:avLst/>
          </a:prstGeom>
          <a:solidFill>
            <a:srgbClr val="EAF3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50501B1-EB1F-B5D2-0AFF-67B84A9757C8}"/>
              </a:ext>
            </a:extLst>
          </p:cNvPr>
          <p:cNvSpPr/>
          <p:nvPr/>
        </p:nvSpPr>
        <p:spPr>
          <a:xfrm>
            <a:off x="723900" y="1993900"/>
            <a:ext cx="457200" cy="457200"/>
          </a:xfrm>
          <a:prstGeom prst="ellipse">
            <a:avLst/>
          </a:prstGeom>
          <a:solidFill>
            <a:srgbClr val="1659B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C0D7E9-E36B-A455-4E7D-0A45BDAEB312}"/>
              </a:ext>
            </a:extLst>
          </p:cNvPr>
          <p:cNvSpPr txBox="1"/>
          <p:nvPr/>
        </p:nvSpPr>
        <p:spPr>
          <a:xfrm>
            <a:off x="1231900" y="2070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输入当前事实</a:t>
            </a:r>
          </a:p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事件进展与有效通告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9F1BE14-C6AC-0B3A-DFC1-7C5062FECEFE}"/>
              </a:ext>
            </a:extLst>
          </p:cNvPr>
          <p:cNvSpPr/>
          <p:nvPr/>
        </p:nvSpPr>
        <p:spPr>
          <a:xfrm>
            <a:off x="3429000" y="1841500"/>
            <a:ext cx="2476500" cy="14605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16DF4B0-339B-E400-81D4-BCA94DDF78F4}"/>
              </a:ext>
            </a:extLst>
          </p:cNvPr>
          <p:cNvSpPr/>
          <p:nvPr/>
        </p:nvSpPr>
        <p:spPr>
          <a:xfrm>
            <a:off x="3581400" y="1993900"/>
            <a:ext cx="457200" cy="457200"/>
          </a:xfrm>
          <a:prstGeom prst="ellipse">
            <a:avLst/>
          </a:prstGeom>
          <a:solidFill>
            <a:srgbClr val="12A59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B816788-0278-8F0E-361D-334526AD1F1F}"/>
              </a:ext>
            </a:extLst>
          </p:cNvPr>
          <p:cNvSpPr txBox="1"/>
          <p:nvPr/>
        </p:nvSpPr>
        <p:spPr>
          <a:xfrm>
            <a:off x="4089400" y="2070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形成公共环境</a:t>
            </a:r>
          </a:p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初始评论＋本轮增量评论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F1A04CE-A1CD-DF39-3963-43218B6FA095}"/>
              </a:ext>
            </a:extLst>
          </p:cNvPr>
          <p:cNvSpPr/>
          <p:nvPr/>
        </p:nvSpPr>
        <p:spPr>
          <a:xfrm>
            <a:off x="6286500" y="1841500"/>
            <a:ext cx="2476500" cy="14605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A282933-4391-ADB1-615F-27244D9D596B}"/>
              </a:ext>
            </a:extLst>
          </p:cNvPr>
          <p:cNvSpPr/>
          <p:nvPr/>
        </p:nvSpPr>
        <p:spPr>
          <a:xfrm>
            <a:off x="6438900" y="199390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E30899C-22DC-3CC5-F27F-CCB47694037D}"/>
              </a:ext>
            </a:extLst>
          </p:cNvPr>
          <p:cNvSpPr txBox="1"/>
          <p:nvPr/>
        </p:nvSpPr>
        <p:spPr>
          <a:xfrm>
            <a:off x="6946900" y="2070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生成个人视野</a:t>
            </a:r>
          </a:p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公共评论＋邻居上一轮表达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9A70F8D-12C7-4A91-6F26-53FAEDBE7E86}"/>
              </a:ext>
            </a:extLst>
          </p:cNvPr>
          <p:cNvSpPr/>
          <p:nvPr/>
        </p:nvSpPr>
        <p:spPr>
          <a:xfrm>
            <a:off x="9144000" y="1841500"/>
            <a:ext cx="2476500" cy="1460500"/>
          </a:xfrm>
          <a:prstGeom prst="roundRect">
            <a:avLst/>
          </a:prstGeom>
          <a:solidFill>
            <a:srgbClr val="F0ECF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0C1CCE7-CDC2-B482-9DAB-56A392B9A8E3}"/>
              </a:ext>
            </a:extLst>
          </p:cNvPr>
          <p:cNvSpPr/>
          <p:nvPr/>
        </p:nvSpPr>
        <p:spPr>
          <a:xfrm>
            <a:off x="9296400" y="1993900"/>
            <a:ext cx="457200" cy="457200"/>
          </a:xfrm>
          <a:prstGeom prst="ellipse">
            <a:avLst/>
          </a:prstGeom>
          <a:solidFill>
            <a:srgbClr val="7157A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BE0168-BA0C-6B5E-342E-1E690EA91A17}"/>
              </a:ext>
            </a:extLst>
          </p:cNvPr>
          <p:cNvSpPr txBox="1"/>
          <p:nvPr/>
        </p:nvSpPr>
        <p:spPr>
          <a:xfrm>
            <a:off x="9804400" y="2070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独立决策</a:t>
            </a:r>
          </a:p>
          <a:p>
            <a:pPr algn="ctr"/>
            <a:r>
              <a:rPr lang="en-US" altLang="zh-CN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</a:t>
            </a:r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＋记忆＋当轮证据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0B57E83-A6DC-25B5-291E-8BD2CDB2F3B8}"/>
              </a:ext>
            </a:extLst>
          </p:cNvPr>
          <p:cNvSpPr/>
          <p:nvPr/>
        </p:nvSpPr>
        <p:spPr>
          <a:xfrm>
            <a:off x="9144000" y="4000500"/>
            <a:ext cx="2476500" cy="1460500"/>
          </a:xfrm>
          <a:prstGeom prst="roundRect">
            <a:avLst/>
          </a:prstGeom>
          <a:solidFill>
            <a:srgbClr val="FDECE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911FE12-2C9B-75B4-E1D1-23D941531079}"/>
              </a:ext>
            </a:extLst>
          </p:cNvPr>
          <p:cNvSpPr/>
          <p:nvPr/>
        </p:nvSpPr>
        <p:spPr>
          <a:xfrm>
            <a:off x="9296400" y="4152900"/>
            <a:ext cx="457200" cy="457200"/>
          </a:xfrm>
          <a:prstGeom prst="ellipse">
            <a:avLst/>
          </a:prstGeom>
          <a:solidFill>
            <a:srgbClr val="D94B5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762F785-118F-B3AF-07CB-D94405ECC230}"/>
              </a:ext>
            </a:extLst>
          </p:cNvPr>
          <p:cNvSpPr txBox="1"/>
          <p:nvPr/>
        </p:nvSpPr>
        <p:spPr>
          <a:xfrm>
            <a:off x="9804400" y="4229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决定是否表达</a:t>
            </a:r>
          </a:p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选择是否评论或保持沉默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2C940CF-94DB-F006-2604-5C74B561768F}"/>
              </a:ext>
            </a:extLst>
          </p:cNvPr>
          <p:cNvSpPr/>
          <p:nvPr/>
        </p:nvSpPr>
        <p:spPr>
          <a:xfrm>
            <a:off x="6286500" y="4000500"/>
            <a:ext cx="2476500" cy="14605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060F92C3-E992-70BC-0D0B-04A2ED1DB21E}"/>
              </a:ext>
            </a:extLst>
          </p:cNvPr>
          <p:cNvSpPr/>
          <p:nvPr/>
        </p:nvSpPr>
        <p:spPr>
          <a:xfrm>
            <a:off x="6438900" y="415290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DD9BED8-7ECA-80EF-ED29-368D8F188393}"/>
              </a:ext>
            </a:extLst>
          </p:cNvPr>
          <p:cNvSpPr txBox="1"/>
          <p:nvPr/>
        </p:nvSpPr>
        <p:spPr>
          <a:xfrm>
            <a:off x="6946900" y="4229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记录真实曝光</a:t>
            </a:r>
          </a:p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保存来源、目标和传播层级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FE94E50-31A6-AFB0-55E8-9590305A5C0A}"/>
              </a:ext>
            </a:extLst>
          </p:cNvPr>
          <p:cNvSpPr/>
          <p:nvPr/>
        </p:nvSpPr>
        <p:spPr>
          <a:xfrm>
            <a:off x="3429000" y="4000500"/>
            <a:ext cx="2476500" cy="14605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9D892F4A-AB70-4E74-5BBA-8129F6F992B3}"/>
              </a:ext>
            </a:extLst>
          </p:cNvPr>
          <p:cNvSpPr/>
          <p:nvPr/>
        </p:nvSpPr>
        <p:spPr>
          <a:xfrm>
            <a:off x="3581400" y="4152900"/>
            <a:ext cx="457200" cy="457200"/>
          </a:xfrm>
          <a:prstGeom prst="ellipse">
            <a:avLst/>
          </a:prstGeom>
          <a:solidFill>
            <a:srgbClr val="12A59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75C85FF-B10E-628C-3B16-B6167473F6A4}"/>
              </a:ext>
            </a:extLst>
          </p:cNvPr>
          <p:cNvSpPr txBox="1"/>
          <p:nvPr/>
        </p:nvSpPr>
        <p:spPr>
          <a:xfrm>
            <a:off x="4089400" y="4229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更新群体指标</a:t>
            </a:r>
          </a:p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情绪、官方态度和传播指标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C9619F3A-C2B3-07A9-FE0A-F90102368EE2}"/>
              </a:ext>
            </a:extLst>
          </p:cNvPr>
          <p:cNvSpPr/>
          <p:nvPr/>
        </p:nvSpPr>
        <p:spPr>
          <a:xfrm>
            <a:off x="571500" y="4000500"/>
            <a:ext cx="2476500" cy="1460500"/>
          </a:xfrm>
          <a:prstGeom prst="roundRect">
            <a:avLst/>
          </a:prstGeom>
          <a:solidFill>
            <a:srgbClr val="EAF3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DC42CC3F-E490-1CB4-BBA0-4A2663DFAC38}"/>
              </a:ext>
            </a:extLst>
          </p:cNvPr>
          <p:cNvSpPr/>
          <p:nvPr/>
        </p:nvSpPr>
        <p:spPr>
          <a:xfrm>
            <a:off x="723900" y="4152900"/>
            <a:ext cx="457200" cy="457200"/>
          </a:xfrm>
          <a:prstGeom prst="ellipse">
            <a:avLst/>
          </a:prstGeom>
          <a:solidFill>
            <a:srgbClr val="1659B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8E508B0-E7FE-5491-8EED-D794606066A0}"/>
              </a:ext>
            </a:extLst>
          </p:cNvPr>
          <p:cNvSpPr txBox="1"/>
          <p:nvPr/>
        </p:nvSpPr>
        <p:spPr>
          <a:xfrm>
            <a:off x="1231900" y="4229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进入下一轮</a:t>
            </a:r>
          </a:p>
          <a:p>
            <a:pPr algn="ctr"/>
            <a:r>
              <a:rPr lang="zh-CN" altLang="en-US" sz="13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保留个人状态和表达历史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AAC2E7D-2AC7-5CFB-FA23-EBCA9B0CC0B3}"/>
              </a:ext>
            </a:extLst>
          </p:cNvPr>
          <p:cNvCxnSpPr/>
          <p:nvPr/>
        </p:nvCxnSpPr>
        <p:spPr>
          <a:xfrm>
            <a:off x="3048000" y="2565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52CF567-18B8-7623-6E98-46A8CF74CFAB}"/>
              </a:ext>
            </a:extLst>
          </p:cNvPr>
          <p:cNvCxnSpPr/>
          <p:nvPr/>
        </p:nvCxnSpPr>
        <p:spPr>
          <a:xfrm>
            <a:off x="5905500" y="2565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6805409-FDEF-42A5-94BA-9E223AD90C16}"/>
              </a:ext>
            </a:extLst>
          </p:cNvPr>
          <p:cNvCxnSpPr/>
          <p:nvPr/>
        </p:nvCxnSpPr>
        <p:spPr>
          <a:xfrm>
            <a:off x="8763000" y="2565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11376F6-5DD5-5F9D-063C-F3D21C972736}"/>
              </a:ext>
            </a:extLst>
          </p:cNvPr>
          <p:cNvCxnSpPr/>
          <p:nvPr/>
        </p:nvCxnSpPr>
        <p:spPr>
          <a:xfrm>
            <a:off x="10388600" y="3302000"/>
            <a:ext cx="0" cy="63500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1E7DCEB1-FB45-4C4D-CDCD-52C2A9E1DFD8}"/>
              </a:ext>
            </a:extLst>
          </p:cNvPr>
          <p:cNvCxnSpPr/>
          <p:nvPr/>
        </p:nvCxnSpPr>
        <p:spPr>
          <a:xfrm flipH="1">
            <a:off x="8826500" y="4724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8807AFEA-F567-4288-071D-B444E12C8F2E}"/>
              </a:ext>
            </a:extLst>
          </p:cNvPr>
          <p:cNvCxnSpPr/>
          <p:nvPr/>
        </p:nvCxnSpPr>
        <p:spPr>
          <a:xfrm flipH="1">
            <a:off x="5969000" y="4724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06A5A27-D06D-50CD-33AE-8DB5BD778CF7}"/>
              </a:ext>
            </a:extLst>
          </p:cNvPr>
          <p:cNvCxnSpPr/>
          <p:nvPr/>
        </p:nvCxnSpPr>
        <p:spPr>
          <a:xfrm flipH="1">
            <a:off x="3111500" y="4724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0CCE385-6AA0-402D-C0FB-227DA5DEFAD2}"/>
              </a:ext>
            </a:extLst>
          </p:cNvPr>
          <p:cNvCxnSpPr/>
          <p:nvPr/>
        </p:nvCxnSpPr>
        <p:spPr>
          <a:xfrm flipV="1">
            <a:off x="1778000" y="3454400"/>
            <a:ext cx="0" cy="546100"/>
          </a:xfrm>
          <a:prstGeom prst="line">
            <a:avLst/>
          </a:prstGeom>
          <a:ln w="27940">
            <a:solidFill>
              <a:srgbClr val="1659B7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AB5801A-73EE-AF21-55A2-563A0B5291D3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8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539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AD8697A-BFE7-D740-C75D-F93F943DE7FC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C7325E9-463A-F6CF-40C9-B468DF388B6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4FE1A03-6E7A-7E85-F1E8-681CECAEC14D}"/>
              </a:ext>
            </a:extLst>
          </p:cNvPr>
          <p:cNvSpPr txBox="1"/>
          <p:nvPr/>
        </p:nvSpPr>
        <p:spPr>
          <a:xfrm>
            <a:off x="482600" y="292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15A997"/>
                </a:solidFill>
                <a:latin typeface="Microsoft YaHei" panose="020B0503020204020204" pitchFamily="34" charset="-122"/>
              </a:rPr>
              <a:t>项目背景 </a:t>
            </a:r>
            <a:r>
              <a:rPr lang="en-US" altLang="zh-CN" sz="1200" b="1">
                <a:solidFill>
                  <a:srgbClr val="15A99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15A997"/>
                </a:solidFill>
                <a:latin typeface="Microsoft YaHei" panose="020B0503020204020204" pitchFamily="34" charset="-122"/>
              </a:rPr>
              <a:t>核心问题三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76C299-522B-46AC-F9C0-E2D6DFDEAE00}"/>
              </a:ext>
            </a:extLst>
          </p:cNvPr>
          <p:cNvSpPr txBox="1"/>
          <p:nvPr/>
        </p:nvSpPr>
        <p:spPr>
          <a:xfrm>
            <a:off x="482600" y="546100"/>
            <a:ext cx="869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700" b="1">
                <a:solidFill>
                  <a:srgbClr val="08315E"/>
                </a:solidFill>
                <a:latin typeface="Microsoft YaHei" panose="020B0503020204020204" pitchFamily="34" charset="-122"/>
              </a:rPr>
              <a:t>官方通告何时进入模拟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4DD05D4-ECCE-992D-3786-8937EAD29168}"/>
              </a:ext>
            </a:extLst>
          </p:cNvPr>
          <p:cNvCxnSpPr/>
          <p:nvPr/>
        </p:nvCxnSpPr>
        <p:spPr>
          <a:xfrm>
            <a:off x="406400" y="1066800"/>
            <a:ext cx="11379200" cy="0"/>
          </a:xfrm>
          <a:prstGeom prst="line">
            <a:avLst/>
          </a:prstGeom>
          <a:ln w="12700">
            <a:solidFill>
              <a:srgbClr val="CBDC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2E384B9-4F47-DFE3-6579-0E43DC2FB77E}"/>
              </a:ext>
            </a:extLst>
          </p:cNvPr>
          <p:cNvSpPr txBox="1"/>
          <p:nvPr/>
        </p:nvSpPr>
        <p:spPr>
          <a:xfrm>
            <a:off x="609600" y="12827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00">
                <a:solidFill>
                  <a:srgbClr val="667A97"/>
                </a:solidFill>
                <a:latin typeface="Microsoft YaHei" panose="020B0503020204020204" pitchFamily="34" charset="-122"/>
              </a:rPr>
              <a:t>通告先写入本轮事件状态，再生成本轮评论和 </a:t>
            </a:r>
            <a:r>
              <a:rPr lang="en-US" altLang="zh-CN" sz="1600">
                <a:solidFill>
                  <a:srgbClr val="667A97"/>
                </a:solidFill>
                <a:latin typeface="Microsoft YaHei" panose="020B0503020204020204" pitchFamily="34" charset="-122"/>
              </a:rPr>
              <a:t>Agent </a:t>
            </a:r>
            <a:r>
              <a:rPr lang="zh-CN" altLang="en-US" sz="1600">
                <a:solidFill>
                  <a:srgbClr val="667A97"/>
                </a:solidFill>
                <a:latin typeface="Microsoft YaHei" panose="020B0503020204020204" pitchFamily="34" charset="-122"/>
              </a:rPr>
              <a:t>决策。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DEBBB0C-DFB6-249C-D1D2-2BA13F79BF12}"/>
              </a:ext>
            </a:extLst>
          </p:cNvPr>
          <p:cNvSpPr/>
          <p:nvPr/>
        </p:nvSpPr>
        <p:spPr>
          <a:xfrm>
            <a:off x="1219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0BB8F1-EE29-FB22-92B5-EFF3EAEF036B}"/>
              </a:ext>
            </a:extLst>
          </p:cNvPr>
          <p:cNvSpPr txBox="1"/>
          <p:nvPr/>
        </p:nvSpPr>
        <p:spPr>
          <a:xfrm>
            <a:off x="533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8315E"/>
                </a:solidFill>
                <a:latin typeface="Microsoft YaHei" panose="020B0503020204020204" pitchFamily="34" charset="-122"/>
              </a:rPr>
              <a:t>轮次开始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3A3691-A08C-3ECB-AEE8-1AC9E9ECB310}"/>
              </a:ext>
            </a:extLst>
          </p:cNvPr>
          <p:cNvSpPr txBox="1"/>
          <p:nvPr/>
        </p:nvSpPr>
        <p:spPr>
          <a:xfrm>
            <a:off x="533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67A97"/>
                </a:solidFill>
                <a:latin typeface="Microsoft YaHei" panose="020B0503020204020204" pitchFamily="34" charset="-122"/>
              </a:rPr>
              <a:t>读取当前阶段事实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F398C09-07BD-51AC-5801-9A861B391481}"/>
              </a:ext>
            </a:extLst>
          </p:cNvPr>
          <p:cNvCxnSpPr/>
          <p:nvPr/>
        </p:nvCxnSpPr>
        <p:spPr>
          <a:xfrm>
            <a:off x="2133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80FC7E71-423C-B609-8091-B377EEBD8165}"/>
              </a:ext>
            </a:extLst>
          </p:cNvPr>
          <p:cNvSpPr/>
          <p:nvPr/>
        </p:nvSpPr>
        <p:spPr>
          <a:xfrm>
            <a:off x="3124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F55BC6-B7FC-346B-3235-D872F4E105DF}"/>
              </a:ext>
            </a:extLst>
          </p:cNvPr>
          <p:cNvSpPr txBox="1"/>
          <p:nvPr/>
        </p:nvSpPr>
        <p:spPr>
          <a:xfrm>
            <a:off x="2438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8315E"/>
                </a:solidFill>
                <a:latin typeface="Microsoft YaHei" panose="020B0503020204020204" pitchFamily="34" charset="-122"/>
              </a:rPr>
              <a:t>检查通告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04B8A1-FDC5-AD22-BBF5-129FDA8043BB}"/>
              </a:ext>
            </a:extLst>
          </p:cNvPr>
          <p:cNvSpPr txBox="1"/>
          <p:nvPr/>
        </p:nvSpPr>
        <p:spPr>
          <a:xfrm>
            <a:off x="2438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67A97"/>
                </a:solidFill>
                <a:latin typeface="Microsoft YaHei" panose="020B0503020204020204" pitchFamily="34" charset="-122"/>
              </a:rPr>
              <a:t>判断本轮是否新增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547D956-867E-8953-E007-A16C6B5F21A7}"/>
              </a:ext>
            </a:extLst>
          </p:cNvPr>
          <p:cNvCxnSpPr/>
          <p:nvPr/>
        </p:nvCxnSpPr>
        <p:spPr>
          <a:xfrm>
            <a:off x="4038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3AC45616-A2F8-EE99-401B-E234AE738A3F}"/>
              </a:ext>
            </a:extLst>
          </p:cNvPr>
          <p:cNvSpPr/>
          <p:nvPr/>
        </p:nvSpPr>
        <p:spPr>
          <a:xfrm>
            <a:off x="5029200" y="1854200"/>
            <a:ext cx="381000" cy="381000"/>
          </a:xfrm>
          <a:prstGeom prst="ellipse">
            <a:avLst/>
          </a:prstGeom>
          <a:solidFill>
            <a:srgbClr val="F78B23"/>
          </a:solidFill>
          <a:ln w="0">
            <a:solidFill>
              <a:srgbClr val="F78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81148D-38E6-9296-FE18-7833E412FC85}"/>
              </a:ext>
            </a:extLst>
          </p:cNvPr>
          <p:cNvSpPr txBox="1"/>
          <p:nvPr/>
        </p:nvSpPr>
        <p:spPr>
          <a:xfrm>
            <a:off x="4343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8315E"/>
                </a:solidFill>
                <a:latin typeface="Microsoft YaHei" panose="020B0503020204020204" pitchFamily="34" charset="-122"/>
              </a:rPr>
              <a:t>写入状态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9F0624B-1E8D-3E05-1C8F-54A95A82BD33}"/>
              </a:ext>
            </a:extLst>
          </p:cNvPr>
          <p:cNvSpPr txBox="1"/>
          <p:nvPr/>
        </p:nvSpPr>
        <p:spPr>
          <a:xfrm>
            <a:off x="4343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67A97"/>
                </a:solidFill>
                <a:latin typeface="Microsoft YaHei" panose="020B0503020204020204" pitchFamily="34" charset="-122"/>
              </a:rPr>
              <a:t>保存原文、状态和时点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F0CD604-7F7E-45DE-AB5F-5D28C3DD26F4}"/>
              </a:ext>
            </a:extLst>
          </p:cNvPr>
          <p:cNvCxnSpPr/>
          <p:nvPr/>
        </p:nvCxnSpPr>
        <p:spPr>
          <a:xfrm>
            <a:off x="5943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BFC27206-F831-5D78-FA45-765B536F96D7}"/>
              </a:ext>
            </a:extLst>
          </p:cNvPr>
          <p:cNvSpPr/>
          <p:nvPr/>
        </p:nvSpPr>
        <p:spPr>
          <a:xfrm>
            <a:off x="6934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BFB0E4-E05D-C1CF-247F-B679ED3EEB33}"/>
              </a:ext>
            </a:extLst>
          </p:cNvPr>
          <p:cNvSpPr txBox="1"/>
          <p:nvPr/>
        </p:nvSpPr>
        <p:spPr>
          <a:xfrm>
            <a:off x="6248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8315E"/>
                </a:solidFill>
                <a:latin typeface="Microsoft YaHei" panose="020B0503020204020204" pitchFamily="34" charset="-122"/>
              </a:rPr>
              <a:t>生成评论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41EBB19-B6AA-2276-EDB4-317107851A2E}"/>
              </a:ext>
            </a:extLst>
          </p:cNvPr>
          <p:cNvSpPr txBox="1"/>
          <p:nvPr/>
        </p:nvSpPr>
        <p:spPr>
          <a:xfrm>
            <a:off x="6248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67A97"/>
                </a:solidFill>
                <a:latin typeface="Microsoft YaHei" panose="020B0503020204020204" pitchFamily="34" charset="-122"/>
              </a:rPr>
              <a:t>围绕事实和通告形成环境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70CA522-9263-9083-3A06-E06A0392BFED}"/>
              </a:ext>
            </a:extLst>
          </p:cNvPr>
          <p:cNvCxnSpPr/>
          <p:nvPr/>
        </p:nvCxnSpPr>
        <p:spPr>
          <a:xfrm>
            <a:off x="7848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137B7FE9-BDE9-71A8-DC5E-D07F0F1EE2E9}"/>
              </a:ext>
            </a:extLst>
          </p:cNvPr>
          <p:cNvSpPr/>
          <p:nvPr/>
        </p:nvSpPr>
        <p:spPr>
          <a:xfrm>
            <a:off x="8839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64E3CDD-544F-5452-BB32-E0F2D8A46874}"/>
              </a:ext>
            </a:extLst>
          </p:cNvPr>
          <p:cNvSpPr txBox="1"/>
          <p:nvPr/>
        </p:nvSpPr>
        <p:spPr>
          <a:xfrm>
            <a:off x="8153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08315E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300" b="1">
                <a:solidFill>
                  <a:srgbClr val="08315E"/>
                </a:solidFill>
                <a:latin typeface="Microsoft YaHei" panose="020B0503020204020204" pitchFamily="34" charset="-122"/>
              </a:rPr>
              <a:t>判断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4DB2BEC-2509-21DA-EC44-87AB4F318F8F}"/>
              </a:ext>
            </a:extLst>
          </p:cNvPr>
          <p:cNvSpPr txBox="1"/>
          <p:nvPr/>
        </p:nvSpPr>
        <p:spPr>
          <a:xfrm>
            <a:off x="8153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67A97"/>
                </a:solidFill>
                <a:latin typeface="Microsoft YaHei" panose="020B0503020204020204" pitchFamily="34" charset="-122"/>
              </a:rPr>
              <a:t>分别判断情绪和官方态度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2ED5ADE-A533-86EF-D04A-E8326882C741}"/>
              </a:ext>
            </a:extLst>
          </p:cNvPr>
          <p:cNvCxnSpPr/>
          <p:nvPr/>
        </p:nvCxnSpPr>
        <p:spPr>
          <a:xfrm>
            <a:off x="9753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68F1A8DF-E7F5-6077-9BD0-46A57D5F0608}"/>
              </a:ext>
            </a:extLst>
          </p:cNvPr>
          <p:cNvSpPr/>
          <p:nvPr/>
        </p:nvSpPr>
        <p:spPr>
          <a:xfrm>
            <a:off x="10744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6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982FBCD-5F1C-7063-6232-D6E897B236D2}"/>
              </a:ext>
            </a:extLst>
          </p:cNvPr>
          <p:cNvSpPr txBox="1"/>
          <p:nvPr/>
        </p:nvSpPr>
        <p:spPr>
          <a:xfrm>
            <a:off x="10058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08315E"/>
                </a:solidFill>
                <a:latin typeface="Microsoft YaHei" panose="020B0503020204020204" pitchFamily="34" charset="-122"/>
              </a:rPr>
              <a:t>延续到后续轮次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6B9BFD5-BEF4-3C4F-A853-9F900293EC2E}"/>
              </a:ext>
            </a:extLst>
          </p:cNvPr>
          <p:cNvSpPr txBox="1"/>
          <p:nvPr/>
        </p:nvSpPr>
        <p:spPr>
          <a:xfrm>
            <a:off x="10058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67A97"/>
                </a:solidFill>
                <a:latin typeface="Microsoft YaHei" panose="020B0503020204020204" pitchFamily="34" charset="-122"/>
              </a:rPr>
              <a:t>直到新通告覆盖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EE9E4D8-E009-757D-1E85-CA3F2FBD84A8}"/>
              </a:ext>
            </a:extLst>
          </p:cNvPr>
          <p:cNvCxnSpPr/>
          <p:nvPr/>
        </p:nvCxnSpPr>
        <p:spPr>
          <a:xfrm>
            <a:off x="609600" y="3289300"/>
            <a:ext cx="10883900" cy="0"/>
          </a:xfrm>
          <a:prstGeom prst="line">
            <a:avLst/>
          </a:prstGeom>
          <a:ln w="12700">
            <a:solidFill>
              <a:srgbClr val="D4DF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C267809-A578-BA23-EDBE-6C93036CA81A}"/>
              </a:ext>
            </a:extLst>
          </p:cNvPr>
          <p:cNvSpPr txBox="1"/>
          <p:nvPr/>
        </p:nvSpPr>
        <p:spPr>
          <a:xfrm>
            <a:off x="698500" y="3530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15A997"/>
                </a:solidFill>
                <a:latin typeface="Microsoft YaHei" panose="020B0503020204020204" pitchFamily="34" charset="-122"/>
              </a:rPr>
              <a:t>历史趋势复现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744F846-C55C-25EB-6A74-904A23BA2F39}"/>
              </a:ext>
            </a:extLst>
          </p:cNvPr>
          <p:cNvSpPr/>
          <p:nvPr/>
        </p:nvSpPr>
        <p:spPr>
          <a:xfrm>
            <a:off x="698500" y="3924300"/>
            <a:ext cx="4953000" cy="13335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15A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r>
              <a:rPr lang="zh-CN" altLang="en-US" sz="1300">
                <a:solidFill>
                  <a:srgbClr val="1E3957"/>
                </a:solidFill>
                <a:latin typeface="Microsoft YaHei" panose="020B0503020204020204" pitchFamily="34" charset="-122"/>
              </a:rPr>
              <a:t>当 </a:t>
            </a:r>
            <a:r>
              <a:rPr lang="en-US" altLang="zh-CN" sz="1300">
                <a:solidFill>
                  <a:srgbClr val="1E3957"/>
                </a:solidFill>
                <a:latin typeface="Microsoft YaHei" panose="020B0503020204020204" pitchFamily="34" charset="-122"/>
              </a:rPr>
              <a:t>official_response_timeline </a:t>
            </a:r>
            <a:r>
              <a:rPr lang="zh-CN" altLang="en-US" sz="1300">
                <a:solidFill>
                  <a:srgbClr val="1E3957"/>
                </a:solidFill>
                <a:latin typeface="Microsoft YaHei" panose="020B0503020204020204" pitchFamily="34" charset="-122"/>
              </a:rPr>
              <a:t>中的 </a:t>
            </a:r>
            <a:r>
              <a:rPr lang="en-US" altLang="zh-CN" sz="1300">
                <a:solidFill>
                  <a:srgbClr val="1E3957"/>
                </a:solidFill>
                <a:latin typeface="Microsoft YaHei" panose="020B0503020204020204" pitchFamily="34" charset="-122"/>
              </a:rPr>
              <a:t>step </a:t>
            </a:r>
            <a:r>
              <a:rPr lang="zh-CN" altLang="en-US" sz="1300">
                <a:solidFill>
                  <a:srgbClr val="1E3957"/>
                </a:solidFill>
                <a:latin typeface="Microsoft YaHei" panose="020B0503020204020204" pitchFamily="34" charset="-122"/>
              </a:rPr>
              <a:t>等于当前轮次时，系统在本轮仿真开始前写入真实通告原文。后续轮次继续使用该通告，直到新的通告覆盖。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DB25228-29C1-6A1E-6F04-C45CBC49C6C6}"/>
              </a:ext>
            </a:extLst>
          </p:cNvPr>
          <p:cNvSpPr txBox="1"/>
          <p:nvPr/>
        </p:nvSpPr>
        <p:spPr>
          <a:xfrm>
            <a:off x="6426200" y="3530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F78B23"/>
                </a:solidFill>
                <a:latin typeface="Microsoft YaHei" panose="020B0503020204020204" pitchFamily="34" charset="-122"/>
              </a:rPr>
              <a:t>五策略实验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B064E194-C8D9-DD03-D4DC-9F5B869BD5D6}"/>
              </a:ext>
            </a:extLst>
          </p:cNvPr>
          <p:cNvSpPr/>
          <p:nvPr/>
        </p:nvSpPr>
        <p:spPr>
          <a:xfrm>
            <a:off x="6426200" y="3924300"/>
            <a:ext cx="5067300" cy="1333500"/>
          </a:xfrm>
          <a:prstGeom prst="roundRect">
            <a:avLst/>
          </a:prstGeom>
          <a:solidFill>
            <a:srgbClr val="FFF3E5"/>
          </a:solidFill>
          <a:ln w="15240">
            <a:solidFill>
              <a:srgbClr val="F78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r>
              <a:rPr lang="zh-CN" altLang="en-US" sz="1300">
                <a:solidFill>
                  <a:srgbClr val="1E3957"/>
                </a:solidFill>
                <a:latin typeface="Microsoft YaHei" panose="020B0503020204020204" pitchFamily="34" charset="-122"/>
              </a:rPr>
              <a:t>系统先运行共同基线。上一轮指标触发进场后，</a:t>
            </a:r>
            <a:r>
              <a:rPr lang="en-US" altLang="zh-CN" sz="1300">
                <a:solidFill>
                  <a:srgbClr val="1E3957"/>
                </a:solidFill>
                <a:latin typeface="Microsoft YaHei" panose="020B0503020204020204" pitchFamily="34" charset="-122"/>
              </a:rPr>
              <a:t>response_step </a:t>
            </a:r>
            <a:r>
              <a:rPr lang="zh-CN" altLang="en-US" sz="1300">
                <a:solidFill>
                  <a:srgbClr val="1E3957"/>
                </a:solidFill>
                <a:latin typeface="Microsoft YaHei" panose="020B0503020204020204" pitchFamily="34" charset="-122"/>
              </a:rPr>
              <a:t>设为下一轮；五个内容策略从同一快照分叉，并在该轮决策前写入各自通告。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1332BFE-6510-04E0-4FAD-C20DBD1ADF10}"/>
              </a:ext>
            </a:extLst>
          </p:cNvPr>
          <p:cNvSpPr/>
          <p:nvPr/>
        </p:nvSpPr>
        <p:spPr>
          <a:xfrm>
            <a:off x="698500" y="5575300"/>
            <a:ext cx="10795000" cy="635000"/>
          </a:xfrm>
          <a:prstGeom prst="roundRect">
            <a:avLst/>
          </a:prstGeom>
          <a:solidFill>
            <a:srgbClr val="F1EDFC"/>
          </a:solidFill>
          <a:ln w="15240">
            <a:solidFill>
              <a:srgbClr val="6F58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>
            <a:noAutofit/>
          </a:bodyPr>
          <a:lstStyle/>
          <a:p>
            <a:r>
              <a:rPr lang="zh-CN" altLang="en-US" sz="1250" b="1">
                <a:solidFill>
                  <a:srgbClr val="1E3957"/>
                </a:solidFill>
                <a:latin typeface="Microsoft YaHei" panose="020B0503020204020204" pitchFamily="34" charset="-122"/>
              </a:rPr>
              <a:t>同一通告原文对所有 </a:t>
            </a:r>
            <a:r>
              <a:rPr lang="en-US" altLang="zh-CN" sz="1250" b="1">
                <a:solidFill>
                  <a:srgbClr val="1E3957"/>
                </a:solidFill>
                <a:latin typeface="Microsoft YaHei" panose="020B0503020204020204" pitchFamily="34" charset="-122"/>
              </a:rPr>
              <a:t>Agent </a:t>
            </a:r>
            <a:r>
              <a:rPr lang="zh-CN" altLang="en-US" sz="1250" b="1">
                <a:solidFill>
                  <a:srgbClr val="1E3957"/>
                </a:solidFill>
                <a:latin typeface="Microsoft YaHei" panose="020B0503020204020204" pitchFamily="34" charset="-122"/>
              </a:rPr>
              <a:t>可见，但每个 </a:t>
            </a:r>
            <a:r>
              <a:rPr lang="en-US" altLang="zh-CN" sz="1250" b="1">
                <a:solidFill>
                  <a:srgbClr val="1E3957"/>
                </a:solidFill>
                <a:latin typeface="Microsoft YaHei" panose="020B0503020204020204" pitchFamily="34" charset="-122"/>
              </a:rPr>
              <a:t>Agent </a:t>
            </a:r>
            <a:r>
              <a:rPr lang="zh-CN" altLang="en-US" sz="1250" b="1">
                <a:solidFill>
                  <a:srgbClr val="1E3957"/>
                </a:solidFill>
                <a:latin typeface="Microsoft YaHei" panose="020B0503020204020204" pitchFamily="34" charset="-122"/>
              </a:rPr>
              <a:t>结合 </a:t>
            </a:r>
            <a:r>
              <a:rPr lang="en-US" altLang="zh-CN" sz="1250" b="1">
                <a:solidFill>
                  <a:srgbClr val="1E3957"/>
                </a:solidFill>
                <a:latin typeface="Microsoft YaHei" panose="020B0503020204020204" pitchFamily="34" charset="-122"/>
              </a:rPr>
              <a:t>Persona</a:t>
            </a:r>
            <a:r>
              <a:rPr lang="zh-CN" altLang="en-US" sz="1250" b="1">
                <a:solidFill>
                  <a:srgbClr val="1E3957"/>
                </a:solidFill>
                <a:latin typeface="Microsoft YaHei" panose="020B0503020204020204" pitchFamily="34" charset="-122"/>
              </a:rPr>
              <a:t>、记忆和个人评论视野，分别选择接受、观望或质疑。事件情绪仍单独判断。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9B545E2-CD7F-09A6-65F1-236598386CAB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9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834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043A546-A484-BC9C-143E-A66CD42B23E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244581-F0C5-6197-58FA-3A87887E09B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9B25B24-3460-E98E-FE32-B551CF2725E7}"/>
              </a:ext>
            </a:extLst>
          </p:cNvPr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28352C5-F0EE-E72E-7BC7-58D754F622B2}"/>
              </a:ext>
            </a:extLst>
          </p:cNvPr>
          <p:cNvSpPr txBox="1"/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54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5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509AA7D-58C0-4B39-900D-6F3085D319D3}"/>
              </a:ext>
            </a:extLst>
          </p:cNvPr>
          <p:cNvSpPr txBox="1"/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97CDDC"/>
                </a:solidFill>
                <a:latin typeface="Microsoft YaHei" panose="020B0503020204020204" pitchFamily="34" charset="-122"/>
              </a:rPr>
              <a:t>SECTION</a:t>
            </a:r>
            <a:endParaRPr lang="zh-CN" altLang="en-US" sz="1100" b="1">
              <a:solidFill>
                <a:srgbClr val="97CDD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BDE5C42-0D29-A39B-C1C5-1B9CF3C1C78C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C6E014-B726-C469-42AB-C7FD4EA5B0E2}"/>
              </a:ext>
            </a:extLst>
          </p:cNvPr>
          <p:cNvSpPr txBox="1"/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600" b="1">
                <a:solidFill>
                  <a:srgbClr val="0C2B4C"/>
                </a:solidFill>
                <a:latin typeface="Microsoft YaHei" panose="020B0503020204020204" pitchFamily="34" charset="-122"/>
              </a:rPr>
              <a:t>第一阶段成果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586B95-9FA5-18C6-98D7-20F83256F22A}"/>
              </a:ext>
            </a:extLst>
          </p:cNvPr>
          <p:cNvSpPr txBox="1"/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536578"/>
                </a:solidFill>
                <a:latin typeface="Microsoft YaHei" panose="020B0503020204020204" pitchFamily="34" charset="-122"/>
              </a:rPr>
              <a:t>系统闭环、核心机制与历史趋势复现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6156E4D-7FCF-1B09-002A-241F38F1D345}"/>
              </a:ext>
            </a:extLst>
          </p:cNvPr>
          <p:cNvCxnSpPr/>
          <p:nvPr/>
        </p:nvCxn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15A9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74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71C07D-5853-0F38-E2A5-A53703F8DF19}"/>
              </a:ext>
            </a:extLst>
          </p:cNvPr>
          <p:cNvSpPr txBox="1"/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D8BD15-E6BA-814A-E61D-B731246D5C9D}"/>
              </a:ext>
            </a:extLst>
          </p:cNvPr>
          <p:cNvSpPr txBox="1"/>
          <p:nvPr/>
        </p:nvSpPr>
        <p:spPr>
          <a:xfrm>
            <a:off x="393700" y="482600"/>
            <a:ext cx="9334500" cy="54886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29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第一阶段建立了两类实验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AF43BCF-9E89-B1BF-236B-1E71FC9826C5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ACD41711-1672-D726-9B9C-7DEC93A1216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9F4703-9F2D-8F8A-B206-C85D88969FE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5DB9AF9-BA9B-8D1C-1850-9E49064AA851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893C33-9581-9B40-A4CE-DC127E02CDB2}"/>
              </a:ext>
            </a:extLst>
          </p:cNvPr>
          <p:cNvSpPr txBox="1"/>
          <p:nvPr/>
        </p:nvSpPr>
        <p:spPr>
          <a:xfrm>
            <a:off x="952500" y="12446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50">
                <a:solidFill>
                  <a:srgbClr val="5B708B"/>
                </a:solidFill>
                <a:latin typeface="Microsoft YaHei" panose="020B0503020204020204" pitchFamily="34" charset="-122"/>
              </a:rPr>
              <a:t>五策略实验比较不同回应方案，历史趋势复现检验系统对真实事件变化方向的刻画。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2EEE12D-B1F3-23E2-3398-88B1ACD5C918}"/>
              </a:ext>
            </a:extLst>
          </p:cNvPr>
          <p:cNvSpPr/>
          <p:nvPr/>
        </p:nvSpPr>
        <p:spPr>
          <a:xfrm>
            <a:off x="952500" y="3200400"/>
            <a:ext cx="4889500" cy="2209800"/>
          </a:xfrm>
          <a:prstGeom prst="roundRect">
            <a:avLst/>
          </a:prstGeom>
          <a:solidFill>
            <a:srgbClr val="FFF4E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B7BA1A3-51E6-29EC-A207-675BF877F4B5}"/>
              </a:ext>
            </a:extLst>
          </p:cNvPr>
          <p:cNvSpPr txBox="1"/>
          <p:nvPr/>
        </p:nvSpPr>
        <p:spPr>
          <a:xfrm>
            <a:off x="1270000" y="3467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100" b="1">
                <a:solidFill>
                  <a:srgbClr val="F2801E"/>
                </a:solidFill>
                <a:latin typeface="Microsoft YaHei" panose="020B0503020204020204" pitchFamily="34" charset="-122"/>
              </a:rPr>
              <a:t>五策略实验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B38E1D4-96E1-08A6-10E6-609949D566C0}"/>
              </a:ext>
            </a:extLst>
          </p:cNvPr>
          <p:cNvSpPr txBox="1"/>
          <p:nvPr/>
        </p:nvSpPr>
        <p:spPr>
          <a:xfrm>
            <a:off x="1270000" y="3987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F3760"/>
                </a:solidFill>
                <a:latin typeface="Microsoft YaHei" panose="020B0503020204020204" pitchFamily="34" charset="-122"/>
              </a:rPr>
              <a:t>不同官方回应策略会带来什么变化？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8177107-2F49-9ADB-0A53-39A18E357416}"/>
              </a:ext>
            </a:extLst>
          </p:cNvPr>
          <p:cNvSpPr txBox="1"/>
          <p:nvPr/>
        </p:nvSpPr>
        <p:spPr>
          <a:xfrm>
            <a:off x="1270000" y="4495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B708B"/>
                </a:solidFill>
                <a:latin typeface="Microsoft YaHei" panose="020B0503020204020204" pitchFamily="34" charset="-122"/>
              </a:rPr>
              <a:t>保持事件和初始环境一致，分别投入五种回应策略，比较舆情变化和传播结果。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A102DF77-B9AB-9AFA-C702-BB1E7794EE26}"/>
              </a:ext>
            </a:extLst>
          </p:cNvPr>
          <p:cNvSpPr/>
          <p:nvPr/>
        </p:nvSpPr>
        <p:spPr>
          <a:xfrm>
            <a:off x="6350000" y="3200400"/>
            <a:ext cx="4889500" cy="2209800"/>
          </a:xfrm>
          <a:prstGeom prst="roundRect">
            <a:avLst/>
          </a:prstGeom>
          <a:solidFill>
            <a:srgbClr val="EBF8F5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570D4D4-7F40-6E52-A7E3-7333DAFBBC5E}"/>
              </a:ext>
            </a:extLst>
          </p:cNvPr>
          <p:cNvSpPr txBox="1"/>
          <p:nvPr/>
        </p:nvSpPr>
        <p:spPr>
          <a:xfrm>
            <a:off x="6667500" y="3467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100" b="1">
                <a:solidFill>
                  <a:srgbClr val="15A997"/>
                </a:solidFill>
                <a:latin typeface="Microsoft YaHei" panose="020B0503020204020204" pitchFamily="34" charset="-122"/>
              </a:rPr>
              <a:t>历史趋势复现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25C61D5-3DB9-741A-6849-160C763EDCFE}"/>
              </a:ext>
            </a:extLst>
          </p:cNvPr>
          <p:cNvSpPr txBox="1"/>
          <p:nvPr/>
        </p:nvSpPr>
        <p:spPr>
          <a:xfrm>
            <a:off x="6667500" y="3987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F3760"/>
                </a:solidFill>
                <a:latin typeface="Microsoft YaHei" panose="020B0503020204020204" pitchFamily="34" charset="-122"/>
              </a:rPr>
              <a:t>模拟趋势是否接近真实事件的变化方向？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32B3609-2E30-E8D1-548A-684039F7E8AC}"/>
              </a:ext>
            </a:extLst>
          </p:cNvPr>
          <p:cNvSpPr txBox="1"/>
          <p:nvPr/>
        </p:nvSpPr>
        <p:spPr>
          <a:xfrm>
            <a:off x="6667500" y="4495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B708B"/>
                </a:solidFill>
                <a:latin typeface="Microsoft YaHei" panose="020B0503020204020204" pitchFamily="34" charset="-122"/>
              </a:rPr>
              <a:t>按照真实时间线投入客观事实和官方通告，运行同一批 </a:t>
            </a:r>
            <a:r>
              <a:rPr lang="en-US" altLang="zh-CN" sz="1500">
                <a:solidFill>
                  <a:srgbClr val="5B708B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500">
                <a:solidFill>
                  <a:srgbClr val="5B708B"/>
                </a:solidFill>
                <a:latin typeface="Microsoft YaHei" panose="020B0503020204020204" pitchFamily="34" charset="-122"/>
              </a:rPr>
              <a:t>，并与人工采集趋势对照。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073DB53-A19E-355D-41D9-DA9E894D940E}"/>
              </a:ext>
            </a:extLst>
          </p:cNvPr>
          <p:cNvSpPr>
            <a:spLocks noGrp="1"/>
          </p:cNvSpPr>
          <p:nvPr/>
        </p:nvSpPr>
        <p:spPr>
          <a:xfrm>
            <a:off x="952500" y="1727200"/>
            <a:ext cx="10287000" cy="1168400"/>
          </a:xfrm>
          <a:prstGeom prst="roundRect">
            <a:avLst/>
          </a:prstGeom>
          <a:solidFill>
            <a:srgbClr val="EEF5FD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41">
            <a:extLst>
              <a:ext uri="{FF2B5EF4-FFF2-40B4-BE49-F238E27FC236}">
                <a16:creationId xmlns:a16="http://schemas.microsoft.com/office/drawing/2014/main" id="{1BC14A8E-8656-2DB5-50AD-2CE73AFD9A7A}"/>
              </a:ext>
            </a:extLst>
          </p:cNvPr>
          <p:cNvSpPr>
            <a:spLocks noGrp="1"/>
          </p:cNvSpPr>
          <p:nvPr/>
        </p:nvSpPr>
        <p:spPr>
          <a:xfrm>
            <a:off x="1295400" y="1955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000" b="1">
                <a:solidFill>
                  <a:srgbClr val="0F3760"/>
                </a:solidFill>
                <a:latin typeface="Microsoft YaHei"/>
                <a:ea typeface="Microsoft YaHei"/>
                <a:cs typeface="Microsoft YaHei"/>
              </a:rPr>
              <a:t>共享基础设施</a:t>
            </a:r>
          </a:p>
        </p:txBody>
      </p:sp>
      <p:sp>
        <p:nvSpPr>
          <p:cNvPr id="15" name="文本框 42">
            <a:extLst>
              <a:ext uri="{FF2B5EF4-FFF2-40B4-BE49-F238E27FC236}">
                <a16:creationId xmlns:a16="http://schemas.microsoft.com/office/drawing/2014/main" id="{792814A5-5B93-EF5B-7484-7C4435F0390B}"/>
              </a:ext>
            </a:extLst>
          </p:cNvPr>
          <p:cNvSpPr>
            <a:spLocks noGrp="1"/>
          </p:cNvSpPr>
          <p:nvPr/>
        </p:nvSpPr>
        <p:spPr>
          <a:xfrm>
            <a:off x="3810000" y="18796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550">
                <a:solidFill>
                  <a:srgbClr val="5B708B"/>
                </a:solidFill>
                <a:latin typeface="Microsoft YaHei"/>
                <a:ea typeface="Microsoft YaHei"/>
                <a:cs typeface="Microsoft YaHei"/>
              </a:rPr>
              <a:t>Persona加载、评论环境、状态记录、社交网络与指标存储</a:t>
            </a:r>
          </a:p>
          <a:p>
            <a:r>
              <a:rPr sz="1550">
                <a:solidFill>
                  <a:srgbClr val="5B708B"/>
                </a:solidFill>
                <a:latin typeface="Microsoft YaHei"/>
                <a:ea typeface="Microsoft YaHei"/>
                <a:cs typeface="Microsoft YaHei"/>
              </a:rPr>
              <a:t>两类实验共用基础设施，表达路径按实验模式区分。</a:t>
            </a:r>
          </a:p>
        </p:txBody>
      </p:sp>
    </p:spTree>
    <p:extLst>
      <p:ext uri="{BB962C8B-B14F-4D97-AF65-F5344CB8AC3E}">
        <p14:creationId xmlns:p14="http://schemas.microsoft.com/office/powerpoint/2010/main" val="34048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352BDB-5845-A088-B2C5-D9B4D0917844}"/>
              </a:ext>
            </a:extLst>
          </p:cNvPr>
          <p:cNvSpPr txBox="1"/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81CFB4-89E9-8D60-B6F4-24B849EBFA2B}"/>
              </a:ext>
            </a:extLst>
          </p:cNvPr>
          <p:cNvSpPr txBox="1"/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指标、状态和质量记录让实验可以复查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F14B822-A386-D290-C1F4-916CAC59637B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9CC3694A-11CE-F24B-CD51-ED0C0C103EE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330C7D2-A8D3-24F0-4019-4F7BB4D1FEB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882D084-3605-6653-0D6C-40E8DEF47046}"/>
              </a:ext>
            </a:extLst>
          </p:cNvPr>
          <p:cNvSpPr/>
          <p:nvPr/>
        </p:nvSpPr>
        <p:spPr>
          <a:xfrm>
            <a:off x="571500" y="1524000"/>
            <a:ext cx="3429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9BF2573-143B-3BD2-5FD4-DD3BD9101BCB}"/>
              </a:ext>
            </a:extLst>
          </p:cNvPr>
          <p:cNvSpPr/>
          <p:nvPr/>
        </p:nvSpPr>
        <p:spPr>
          <a:xfrm>
            <a:off x="800100" y="1752600"/>
            <a:ext cx="457200" cy="4572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CED850-6F41-037C-6A58-63AC9A09555B}"/>
              </a:ext>
            </a:extLst>
          </p:cNvPr>
          <p:cNvSpPr txBox="1"/>
          <p:nvPr/>
        </p:nvSpPr>
        <p:spPr>
          <a:xfrm>
            <a:off x="1397000" y="1727200"/>
            <a:ext cx="23876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7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指标体系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CB9E45-1482-081A-439A-010C5217EBB8}"/>
              </a:ext>
            </a:extLst>
          </p:cNvPr>
          <p:cNvSpPr txBox="1"/>
          <p:nvPr/>
        </p:nvSpPr>
        <p:spPr>
          <a:xfrm>
            <a:off x="825500" y="2286000"/>
            <a:ext cx="2921000" cy="110286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负面率、接受率和质疑率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负面峰值与累计负面量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恢复、持续和反弹情况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F0DCAB9-45EB-603C-E49B-415E458CF39E}"/>
              </a:ext>
            </a:extLst>
          </p:cNvPr>
          <p:cNvSpPr/>
          <p:nvPr/>
        </p:nvSpPr>
        <p:spPr>
          <a:xfrm>
            <a:off x="4381500" y="1524000"/>
            <a:ext cx="3429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B39CA77-9F29-703A-E2B8-AC99CFE26789}"/>
              </a:ext>
            </a:extLst>
          </p:cNvPr>
          <p:cNvSpPr/>
          <p:nvPr/>
        </p:nvSpPr>
        <p:spPr>
          <a:xfrm>
            <a:off x="4610100" y="1752600"/>
            <a:ext cx="457200" cy="4572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6513EA-54AF-ACFE-6A97-EB645B7A3ED3}"/>
              </a:ext>
            </a:extLst>
          </p:cNvPr>
          <p:cNvSpPr txBox="1"/>
          <p:nvPr/>
        </p:nvSpPr>
        <p:spPr>
          <a:xfrm>
            <a:off x="5207000" y="1727200"/>
            <a:ext cx="23876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7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状态管理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CB785E-205C-6735-E614-36F921D018B1}"/>
              </a:ext>
            </a:extLst>
          </p:cNvPr>
          <p:cNvSpPr txBox="1"/>
          <p:nvPr/>
        </p:nvSpPr>
        <p:spPr>
          <a:xfrm>
            <a:off x="4635500" y="2286000"/>
            <a:ext cx="2921000" cy="110286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每轮事件和</a:t>
            </a:r>
            <a:r>
              <a:rPr lang="en-US" altLang="zh-CN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状态单独保存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策略分叉后使用独立目录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旧批次不被新实验覆盖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556D82C-B953-A6B3-6F49-A4149DC34E2F}"/>
              </a:ext>
            </a:extLst>
          </p:cNvPr>
          <p:cNvSpPr/>
          <p:nvPr/>
        </p:nvSpPr>
        <p:spPr>
          <a:xfrm>
            <a:off x="8191500" y="1524000"/>
            <a:ext cx="3429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D6D1A90-41FD-0BFA-22C3-C8D2916EB3B1}"/>
              </a:ext>
            </a:extLst>
          </p:cNvPr>
          <p:cNvSpPr/>
          <p:nvPr/>
        </p:nvSpPr>
        <p:spPr>
          <a:xfrm>
            <a:off x="8420100" y="17526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A1729B-651D-75F7-86DE-AE84EA582274}"/>
              </a:ext>
            </a:extLst>
          </p:cNvPr>
          <p:cNvSpPr txBox="1"/>
          <p:nvPr/>
        </p:nvSpPr>
        <p:spPr>
          <a:xfrm>
            <a:off x="9017000" y="1727200"/>
            <a:ext cx="23876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7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质量与容错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A88EE8-917B-74A2-DCCA-0D90C8B9097B}"/>
              </a:ext>
            </a:extLst>
          </p:cNvPr>
          <p:cNvSpPr txBox="1"/>
          <p:nvPr/>
        </p:nvSpPr>
        <p:spPr>
          <a:xfrm>
            <a:off x="8445500" y="2286000"/>
            <a:ext cx="2921000" cy="110286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请求失败和</a:t>
            </a:r>
            <a:r>
              <a:rPr lang="en-US" altLang="zh-CN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</a:t>
            </a:r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错误重试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无效文本过滤并记录原因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兜底比例形成质量标记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33C598-C107-9831-22B3-A5C9C8530FA9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643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457F35-4C75-24C5-8575-9682FD37B002}"/>
              </a:ext>
            </a:extLst>
          </p:cNvPr>
          <p:cNvSpPr txBox="1"/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BF01B9-4EFC-B5AB-E9E5-0BDC4F64F47E}"/>
              </a:ext>
            </a:extLst>
          </p:cNvPr>
          <p:cNvSpPr txBox="1"/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第一阶段已经完成胡某宇事件历史趋势复现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26AF24E-4D8E-F094-E27D-0839DBF6478E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A38D5315-A9C2-577B-C26E-D75E757C6DFA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CF70634-B1DD-363A-8B74-136B6AC207D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60085FC-227A-0DCC-C939-FE3BF4B7A709}"/>
              </a:ext>
            </a:extLst>
          </p:cNvPr>
          <p:cNvSpPr txBox="1"/>
          <p:nvPr/>
        </p:nvSpPr>
        <p:spPr>
          <a:xfrm>
            <a:off x="889000" y="1308100"/>
            <a:ext cx="104140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按照真实事件发展划分</a:t>
            </a:r>
            <a:r>
              <a:rPr lang="en-US" altLang="zh-CN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个阶段，在第</a:t>
            </a:r>
            <a:r>
              <a:rPr lang="en-US" altLang="zh-CN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轮投入</a:t>
            </a:r>
            <a:r>
              <a:rPr lang="en-US" altLang="zh-CN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7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次官方信息，并与人工整理趋势进行对照。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04F4F-5D37-1273-66D2-B5376F4FDCD3}"/>
              </a:ext>
            </a:extLst>
          </p:cNvPr>
          <p:cNvSpPr/>
          <p:nvPr/>
        </p:nvSpPr>
        <p:spPr>
          <a:xfrm>
            <a:off x="8890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36F4439-1A0F-C720-C0FE-3867A763EAA9}"/>
              </a:ext>
            </a:extLst>
          </p:cNvPr>
          <p:cNvCxnSpPr/>
          <p:nvPr/>
        </p:nvCxnSpPr>
        <p:spPr>
          <a:xfrm>
            <a:off x="12827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6EF64CA9-F250-AAD5-9954-7D714675CEBC}"/>
              </a:ext>
            </a:extLst>
          </p:cNvPr>
          <p:cNvSpPr txBox="1"/>
          <p:nvPr/>
        </p:nvSpPr>
        <p:spPr>
          <a:xfrm>
            <a:off x="4445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失联与搜寻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A1D1A40-F125-8361-4886-D0AAE3C4FD44}"/>
              </a:ext>
            </a:extLst>
          </p:cNvPr>
          <p:cNvSpPr/>
          <p:nvPr/>
        </p:nvSpPr>
        <p:spPr>
          <a:xfrm>
            <a:off x="23114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DD33A4F-7CEB-8C8F-B6B4-6437D2750D77}"/>
              </a:ext>
            </a:extLst>
          </p:cNvPr>
          <p:cNvCxnSpPr/>
          <p:nvPr/>
        </p:nvCxnSpPr>
        <p:spPr>
          <a:xfrm>
            <a:off x="27051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A8AAF51-2B2C-C7BF-4D40-2A5CEE6C7D06}"/>
              </a:ext>
            </a:extLst>
          </p:cNvPr>
          <p:cNvSpPr txBox="1"/>
          <p:nvPr/>
        </p:nvSpPr>
        <p:spPr>
          <a:xfrm>
            <a:off x="18669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新增线索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96F34A2-82B5-FE26-438F-0C7F27B9864E}"/>
              </a:ext>
            </a:extLst>
          </p:cNvPr>
          <p:cNvSpPr/>
          <p:nvPr/>
        </p:nvSpPr>
        <p:spPr>
          <a:xfrm>
            <a:off x="3733800" y="2336800"/>
            <a:ext cx="381000" cy="381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A50772E-C2BD-E1AA-AAE9-46A2A3DA8D04}"/>
              </a:ext>
            </a:extLst>
          </p:cNvPr>
          <p:cNvCxnSpPr/>
          <p:nvPr/>
        </p:nvCxnSpPr>
        <p:spPr>
          <a:xfrm>
            <a:off x="41275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21BE2A5-6CF3-6DDD-A452-755DC06C8A23}"/>
              </a:ext>
            </a:extLst>
          </p:cNvPr>
          <p:cNvSpPr txBox="1"/>
          <p:nvPr/>
        </p:nvSpPr>
        <p:spPr>
          <a:xfrm>
            <a:off x="32893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通报发布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5AB3ED-4ABB-F37B-17BC-0815576BD9A6}"/>
              </a:ext>
            </a:extLst>
          </p:cNvPr>
          <p:cNvSpPr txBox="1"/>
          <p:nvPr/>
        </p:nvSpPr>
        <p:spPr>
          <a:xfrm>
            <a:off x="3289300" y="2032000"/>
            <a:ext cx="1270000" cy="25648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官方信息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6984995-4FE0-86A7-D177-F1D2FEF1574B}"/>
              </a:ext>
            </a:extLst>
          </p:cNvPr>
          <p:cNvSpPr/>
          <p:nvPr/>
        </p:nvSpPr>
        <p:spPr>
          <a:xfrm>
            <a:off x="51562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FC50072-EE8A-5662-85D0-9F9048AF96E8}"/>
              </a:ext>
            </a:extLst>
          </p:cNvPr>
          <p:cNvCxnSpPr/>
          <p:nvPr/>
        </p:nvCxnSpPr>
        <p:spPr>
          <a:xfrm>
            <a:off x="55499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DBD88E0A-B734-B061-D19E-5C24051AD803}"/>
              </a:ext>
            </a:extLst>
          </p:cNvPr>
          <p:cNvSpPr txBox="1"/>
          <p:nvPr/>
        </p:nvSpPr>
        <p:spPr>
          <a:xfrm>
            <a:off x="47117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继续调查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9CD57FD-828C-6080-F99C-AF25597A94CC}"/>
              </a:ext>
            </a:extLst>
          </p:cNvPr>
          <p:cNvSpPr/>
          <p:nvPr/>
        </p:nvSpPr>
        <p:spPr>
          <a:xfrm>
            <a:off x="6578600" y="2336800"/>
            <a:ext cx="381000" cy="381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1E68074-4F14-A03B-CCD8-36B19AC2E8F3}"/>
              </a:ext>
            </a:extLst>
          </p:cNvPr>
          <p:cNvCxnSpPr/>
          <p:nvPr/>
        </p:nvCxnSpPr>
        <p:spPr>
          <a:xfrm>
            <a:off x="69723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C53C892-8BA2-20F2-B38B-B5D149003D45}"/>
              </a:ext>
            </a:extLst>
          </p:cNvPr>
          <p:cNvSpPr txBox="1"/>
          <p:nvPr/>
        </p:nvSpPr>
        <p:spPr>
          <a:xfrm>
            <a:off x="61341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遗体确认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32E044C-CC79-2F80-9EA4-D8C334EA5AEA}"/>
              </a:ext>
            </a:extLst>
          </p:cNvPr>
          <p:cNvSpPr txBox="1"/>
          <p:nvPr/>
        </p:nvSpPr>
        <p:spPr>
          <a:xfrm>
            <a:off x="6134100" y="2032000"/>
            <a:ext cx="1270000" cy="25648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官方信息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34FC0F3-F5C8-F554-7293-EF9269F1F777}"/>
              </a:ext>
            </a:extLst>
          </p:cNvPr>
          <p:cNvSpPr/>
          <p:nvPr/>
        </p:nvSpPr>
        <p:spPr>
          <a:xfrm>
            <a:off x="80010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AE30B6B-E8AC-0C7B-59F0-B502A4329D68}"/>
              </a:ext>
            </a:extLst>
          </p:cNvPr>
          <p:cNvCxnSpPr/>
          <p:nvPr/>
        </p:nvCxnSpPr>
        <p:spPr>
          <a:xfrm>
            <a:off x="83947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BC5A22D0-4A3F-33D0-6DE1-C49711D765ED}"/>
              </a:ext>
            </a:extLst>
          </p:cNvPr>
          <p:cNvSpPr txBox="1"/>
          <p:nvPr/>
        </p:nvSpPr>
        <p:spPr>
          <a:xfrm>
            <a:off x="75565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鉴定进行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4322A4B-886C-C2A5-B051-C1C90A6A1B06}"/>
              </a:ext>
            </a:extLst>
          </p:cNvPr>
          <p:cNvSpPr/>
          <p:nvPr/>
        </p:nvSpPr>
        <p:spPr>
          <a:xfrm>
            <a:off x="9423400" y="2336800"/>
            <a:ext cx="381000" cy="381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74878CF-6A9B-8726-60B1-0CA02EEFD7F5}"/>
              </a:ext>
            </a:extLst>
          </p:cNvPr>
          <p:cNvCxnSpPr/>
          <p:nvPr/>
        </p:nvCxnSpPr>
        <p:spPr>
          <a:xfrm>
            <a:off x="98171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2D95319-957C-8268-24EC-28ADF70AE019}"/>
              </a:ext>
            </a:extLst>
          </p:cNvPr>
          <p:cNvSpPr txBox="1"/>
          <p:nvPr/>
        </p:nvSpPr>
        <p:spPr>
          <a:xfrm>
            <a:off x="89789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结论发布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EE110F2-754E-A596-23F6-A8C9EACC6040}"/>
              </a:ext>
            </a:extLst>
          </p:cNvPr>
          <p:cNvSpPr txBox="1"/>
          <p:nvPr/>
        </p:nvSpPr>
        <p:spPr>
          <a:xfrm>
            <a:off x="8978900" y="2032000"/>
            <a:ext cx="1270000" cy="25648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官方信息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37694D2-B8F3-086F-E72A-79AAAD8F1CAB}"/>
              </a:ext>
            </a:extLst>
          </p:cNvPr>
          <p:cNvSpPr/>
          <p:nvPr/>
        </p:nvSpPr>
        <p:spPr>
          <a:xfrm>
            <a:off x="108458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9849AE9-377A-6979-8501-97509D22912E}"/>
              </a:ext>
            </a:extLst>
          </p:cNvPr>
          <p:cNvSpPr txBox="1"/>
          <p:nvPr/>
        </p:nvSpPr>
        <p:spPr>
          <a:xfrm>
            <a:off x="104013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发布后阶段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A6D9333-8495-2E0A-A29C-6ED962EFB51E}"/>
              </a:ext>
            </a:extLst>
          </p:cNvPr>
          <p:cNvSpPr/>
          <p:nvPr/>
        </p:nvSpPr>
        <p:spPr>
          <a:xfrm>
            <a:off x="742950" y="4064000"/>
            <a:ext cx="10928350" cy="13335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zh-CN" altLang="en-US" sz="17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第一阶段已经具备：历史阶段推进、官方节点投入、模拟评论趋势、</a:t>
            </a:r>
            <a:r>
              <a:rPr lang="en-US" altLang="zh-CN" sz="17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7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情绪、官方态度以及人工趋势对照。</a:t>
            </a:r>
          </a:p>
          <a:p>
            <a:pPr algn="ctr"/>
            <a:r>
              <a:rPr lang="zh-CN" altLang="en-US" sz="1700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第二阶段是在这条已完成流程上继续扩展，不是重新建立历史复现。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9E17A2-00BB-A117-4265-351013FE6425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580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043A546-A484-BC9C-143E-A66CD42B23E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244581-F0C5-6197-58FA-3A87887E09B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4EF8FF3-5056-728C-1C4F-98A71FAE224B}"/>
              </a:ext>
            </a:extLst>
          </p:cNvPr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32D646-2214-FA47-E97F-DABADF309FDB}"/>
              </a:ext>
            </a:extLst>
          </p:cNvPr>
          <p:cNvSpPr txBox="1"/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54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5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D85743-7B4E-5D9B-07BB-2247C7B167D2}"/>
              </a:ext>
            </a:extLst>
          </p:cNvPr>
          <p:cNvSpPr txBox="1"/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97CDDC"/>
                </a:solidFill>
                <a:latin typeface="Microsoft YaHei" panose="020B0503020204020204" pitchFamily="34" charset="-122"/>
              </a:rPr>
              <a:t>SECTION</a:t>
            </a:r>
            <a:endParaRPr lang="zh-CN" altLang="en-US" sz="1100" b="1">
              <a:solidFill>
                <a:srgbClr val="97CDD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70CA7EF-7409-34F9-6E2E-0B7F24306527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B1C702-F718-093F-A799-5CDDBC1B912C}"/>
              </a:ext>
            </a:extLst>
          </p:cNvPr>
          <p:cNvSpPr txBox="1"/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600" b="1">
                <a:solidFill>
                  <a:srgbClr val="0C2B4C"/>
                </a:solidFill>
                <a:latin typeface="Microsoft YaHei" panose="020B0503020204020204" pitchFamily="34" charset="-122"/>
              </a:rPr>
              <a:t>第二阶段进展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6968FC-5083-C45B-33F2-EB2407EC4AD4}"/>
              </a:ext>
            </a:extLst>
          </p:cNvPr>
          <p:cNvSpPr txBox="1"/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536578"/>
                </a:solidFill>
                <a:latin typeface="Microsoft YaHei" panose="020B0503020204020204" pitchFamily="34" charset="-122"/>
              </a:rPr>
              <a:t>社交网络、传播路径与可解释性增强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0050BF6-9EFF-9BA8-1638-38EB3249C578}"/>
              </a:ext>
            </a:extLst>
          </p:cNvPr>
          <p:cNvCxnSpPr/>
          <p:nvPr/>
        </p:nvCxn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F78B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73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169F9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机制体系演进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599"/>
            <a:ext cx="9334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0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第一阶段基础与第二阶段扩展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0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4A5C0C2-E52B-6579-B9A4-6FA6AF3BDBDE}"/>
              </a:ext>
            </a:extLst>
          </p:cNvPr>
          <p:cNvSpPr/>
          <p:nvPr/>
        </p:nvSpPr>
        <p:spPr>
          <a:xfrm>
            <a:off x="698500" y="1803400"/>
            <a:ext cx="3429000" cy="30861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813539-7B26-D91C-1CF0-A10DECF07117}"/>
              </a:ext>
            </a:extLst>
          </p:cNvPr>
          <p:cNvSpPr txBox="1"/>
          <p:nvPr/>
        </p:nvSpPr>
        <p:spPr>
          <a:xfrm>
            <a:off x="990600" y="2006600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2F6FC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第一阶段基础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CCA67C-7D3A-8D6F-957F-DE823C4049A2}"/>
              </a:ext>
            </a:extLst>
          </p:cNvPr>
          <p:cNvSpPr txBox="1"/>
          <p:nvPr/>
        </p:nvSpPr>
        <p:spPr>
          <a:xfrm>
            <a:off x="990600" y="2374900"/>
            <a:ext cx="2794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</a:t>
            </a:r>
            <a:r>
              <a:rPr lang="en-US" altLang="zh-CN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及其基本决策能力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33151DA-0D62-C4E0-DDEB-9FD92B449901}"/>
              </a:ext>
            </a:extLst>
          </p:cNvPr>
          <p:cNvSpPr/>
          <p:nvPr/>
        </p:nvSpPr>
        <p:spPr>
          <a:xfrm>
            <a:off x="990600" y="2895600"/>
            <a:ext cx="342900" cy="342900"/>
          </a:xfrm>
          <a:prstGeom prst="ellipse">
            <a:avLst/>
          </a:prstGeom>
          <a:solidFill>
            <a:srgbClr val="2F6F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D06B23-8AB1-4394-2503-0D81D27E42F5}"/>
              </a:ext>
            </a:extLst>
          </p:cNvPr>
          <p:cNvSpPr txBox="1"/>
          <p:nvPr/>
        </p:nvSpPr>
        <p:spPr>
          <a:xfrm>
            <a:off x="1460500" y="2882899"/>
            <a:ext cx="23241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</a:t>
            </a:r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FE2349-7119-CBDB-D8B3-5EA3A546DB68}"/>
              </a:ext>
            </a:extLst>
          </p:cNvPr>
          <p:cNvSpPr txBox="1"/>
          <p:nvPr/>
        </p:nvSpPr>
        <p:spPr>
          <a:xfrm>
            <a:off x="1460500" y="3136900"/>
            <a:ext cx="2603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8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从真实用户历史表达中提取长期差异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065E9F7-7FCB-9E47-5B3D-93BDE0C75B65}"/>
              </a:ext>
            </a:extLst>
          </p:cNvPr>
          <p:cNvSpPr/>
          <p:nvPr/>
        </p:nvSpPr>
        <p:spPr>
          <a:xfrm>
            <a:off x="990600" y="3835400"/>
            <a:ext cx="342900" cy="342900"/>
          </a:xfrm>
          <a:prstGeom prst="ellipse">
            <a:avLst/>
          </a:prstGeom>
          <a:solidFill>
            <a:srgbClr val="2F6F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55A833-0C92-7E46-2AD7-AFECED11F6DB}"/>
              </a:ext>
            </a:extLst>
          </p:cNvPr>
          <p:cNvSpPr txBox="1"/>
          <p:nvPr/>
        </p:nvSpPr>
        <p:spPr>
          <a:xfrm>
            <a:off x="1460500" y="3822699"/>
            <a:ext cx="23241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个体决策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7B9CD6-3E2F-2D72-659E-5FFCED26EE8A}"/>
              </a:ext>
            </a:extLst>
          </p:cNvPr>
          <p:cNvSpPr txBox="1"/>
          <p:nvPr/>
        </p:nvSpPr>
        <p:spPr>
          <a:xfrm>
            <a:off x="1460500" y="4076700"/>
            <a:ext cx="2603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8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结合</a:t>
            </a:r>
            <a:r>
              <a:rPr lang="en-US" altLang="zh-CN" sz="118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</a:t>
            </a:r>
            <a:r>
              <a:rPr lang="zh-CN" altLang="en-US" sz="118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、上一轮状态与当轮证据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D8D7E48-732A-A0E6-DDC1-DC0202006061}"/>
              </a:ext>
            </a:extLst>
          </p:cNvPr>
          <p:cNvSpPr/>
          <p:nvPr/>
        </p:nvSpPr>
        <p:spPr>
          <a:xfrm>
            <a:off x="4445000" y="1803400"/>
            <a:ext cx="7048500" cy="3086100"/>
          </a:xfrm>
          <a:prstGeom prst="roundRect">
            <a:avLst/>
          </a:prstGeom>
          <a:solidFill>
            <a:srgbClr val="EEF8F7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8F159EF-4046-282B-D509-99434359712F}"/>
              </a:ext>
            </a:extLst>
          </p:cNvPr>
          <p:cNvSpPr txBox="1"/>
          <p:nvPr/>
        </p:nvSpPr>
        <p:spPr>
          <a:xfrm>
            <a:off x="4737100" y="2006600"/>
            <a:ext cx="3302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169F9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第二阶段新增与完善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36616C7-F442-6098-44FE-D843D3EC9BFE}"/>
              </a:ext>
            </a:extLst>
          </p:cNvPr>
          <p:cNvSpPr txBox="1"/>
          <p:nvPr/>
        </p:nvSpPr>
        <p:spPr>
          <a:xfrm>
            <a:off x="4737100" y="2374900"/>
            <a:ext cx="6350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新增传播网络层，同时把历史复现约束做成可检查的机制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B15EA89-62D8-4A48-FFCE-C2D576A12FFA}"/>
              </a:ext>
            </a:extLst>
          </p:cNvPr>
          <p:cNvSpPr txBox="1"/>
          <p:nvPr/>
        </p:nvSpPr>
        <p:spPr>
          <a:xfrm>
            <a:off x="4737100" y="2743199"/>
            <a:ext cx="2794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169F9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新增：网络传播层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E148591-EB43-4556-E062-4E8AC325800F}"/>
              </a:ext>
            </a:extLst>
          </p:cNvPr>
          <p:cNvSpPr/>
          <p:nvPr/>
        </p:nvSpPr>
        <p:spPr>
          <a:xfrm>
            <a:off x="4737100" y="3086100"/>
            <a:ext cx="342900" cy="342900"/>
          </a:xfrm>
          <a:prstGeom prst="ellipse">
            <a:avLst/>
          </a:prstGeom>
          <a:solidFill>
            <a:srgbClr val="16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793477E-5E1F-A053-F178-516905D7A804}"/>
              </a:ext>
            </a:extLst>
          </p:cNvPr>
          <p:cNvSpPr txBox="1"/>
          <p:nvPr/>
        </p:nvSpPr>
        <p:spPr>
          <a:xfrm>
            <a:off x="5207000" y="3073399"/>
            <a:ext cx="2514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固定网络与权重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0E3657AC-3ABC-062B-80ED-4B98B92D674E}"/>
              </a:ext>
            </a:extLst>
          </p:cNvPr>
          <p:cNvSpPr/>
          <p:nvPr/>
        </p:nvSpPr>
        <p:spPr>
          <a:xfrm>
            <a:off x="4737100" y="3543300"/>
            <a:ext cx="342900" cy="342900"/>
          </a:xfrm>
          <a:prstGeom prst="ellipse">
            <a:avLst/>
          </a:prstGeom>
          <a:solidFill>
            <a:srgbClr val="16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4483EEA-2BF3-9FEE-3BF7-C5C71D6BAF9E}"/>
              </a:ext>
            </a:extLst>
          </p:cNvPr>
          <p:cNvSpPr txBox="1"/>
          <p:nvPr/>
        </p:nvSpPr>
        <p:spPr>
          <a:xfrm>
            <a:off x="5207000" y="3530599"/>
            <a:ext cx="2514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个人可见范围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E53CF696-C291-31B2-213F-502896CDBAB7}"/>
              </a:ext>
            </a:extLst>
          </p:cNvPr>
          <p:cNvSpPr/>
          <p:nvPr/>
        </p:nvSpPr>
        <p:spPr>
          <a:xfrm>
            <a:off x="4737100" y="4000500"/>
            <a:ext cx="342900" cy="342900"/>
          </a:xfrm>
          <a:prstGeom prst="ellipse">
            <a:avLst/>
          </a:prstGeom>
          <a:solidFill>
            <a:srgbClr val="16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D96EB4B-12A0-DA8E-76BC-AECC792FDE4F}"/>
              </a:ext>
            </a:extLst>
          </p:cNvPr>
          <p:cNvSpPr txBox="1"/>
          <p:nvPr/>
        </p:nvSpPr>
        <p:spPr>
          <a:xfrm>
            <a:off x="5207000" y="3987799"/>
            <a:ext cx="2514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跨层传播衰减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1D8F67D0-F171-EB36-8872-214EB1703AF4}"/>
              </a:ext>
            </a:extLst>
          </p:cNvPr>
          <p:cNvSpPr/>
          <p:nvPr/>
        </p:nvSpPr>
        <p:spPr>
          <a:xfrm>
            <a:off x="4737100" y="4457700"/>
            <a:ext cx="342900" cy="342900"/>
          </a:xfrm>
          <a:prstGeom prst="ellipse">
            <a:avLst/>
          </a:prstGeom>
          <a:solidFill>
            <a:srgbClr val="16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56456F4-8685-1540-3845-13FC0C22797B}"/>
              </a:ext>
            </a:extLst>
          </p:cNvPr>
          <p:cNvSpPr txBox="1"/>
          <p:nvPr/>
        </p:nvSpPr>
        <p:spPr>
          <a:xfrm>
            <a:off x="5207000" y="4444999"/>
            <a:ext cx="2514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传播路径留痕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5238B37-0261-46E7-4B7D-2E4E253AFC17}"/>
              </a:ext>
            </a:extLst>
          </p:cNvPr>
          <p:cNvSpPr txBox="1"/>
          <p:nvPr/>
        </p:nvSpPr>
        <p:spPr>
          <a:xfrm>
            <a:off x="8102600" y="2743199"/>
            <a:ext cx="2984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F27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完善：历史回放规则</a:t>
            </a: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DAFD62CC-AFBD-D606-7B17-9E6693015392}"/>
              </a:ext>
            </a:extLst>
          </p:cNvPr>
          <p:cNvSpPr/>
          <p:nvPr/>
        </p:nvSpPr>
        <p:spPr>
          <a:xfrm>
            <a:off x="8102600" y="3086100"/>
            <a:ext cx="342900" cy="342900"/>
          </a:xfrm>
          <a:prstGeom prst="ellipse">
            <a:avLst/>
          </a:prstGeom>
          <a:solidFill>
            <a:srgbClr val="F27C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7497D46-7177-A070-FFF9-510333F42D3A}"/>
              </a:ext>
            </a:extLst>
          </p:cNvPr>
          <p:cNvSpPr txBox="1"/>
          <p:nvPr/>
        </p:nvSpPr>
        <p:spPr>
          <a:xfrm>
            <a:off x="8572500" y="3073399"/>
            <a:ext cx="25781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情绪与官方态度分离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CE4486C6-831C-9EC8-BB23-5FCDBF095D80}"/>
              </a:ext>
            </a:extLst>
          </p:cNvPr>
          <p:cNvSpPr/>
          <p:nvPr/>
        </p:nvSpPr>
        <p:spPr>
          <a:xfrm>
            <a:off x="8102600" y="3695700"/>
            <a:ext cx="342900" cy="342900"/>
          </a:xfrm>
          <a:prstGeom prst="ellipse">
            <a:avLst/>
          </a:prstGeom>
          <a:solidFill>
            <a:srgbClr val="F27C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3789BF3-4F6D-FE01-4FCA-C4D54E6390F8}"/>
              </a:ext>
            </a:extLst>
          </p:cNvPr>
          <p:cNvSpPr txBox="1"/>
          <p:nvPr/>
        </p:nvSpPr>
        <p:spPr>
          <a:xfrm>
            <a:off x="8572500" y="3682999"/>
            <a:ext cx="25781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通告按时间进场</a:t>
            </a: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55E5A8D6-8075-AAEE-9F43-D1F4799531FE}"/>
              </a:ext>
            </a:extLst>
          </p:cNvPr>
          <p:cNvSpPr/>
          <p:nvPr/>
        </p:nvSpPr>
        <p:spPr>
          <a:xfrm>
            <a:off x="8102600" y="4305300"/>
            <a:ext cx="342900" cy="342900"/>
          </a:xfrm>
          <a:prstGeom prst="ellipse">
            <a:avLst/>
          </a:prstGeom>
          <a:solidFill>
            <a:srgbClr val="F27C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F05CB40-0EC3-D254-067F-4A8941B7B9BE}"/>
              </a:ext>
            </a:extLst>
          </p:cNvPr>
          <p:cNvSpPr txBox="1"/>
          <p:nvPr/>
        </p:nvSpPr>
        <p:spPr>
          <a:xfrm>
            <a:off x="8572500" y="4292599"/>
            <a:ext cx="25781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历史信息边界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49F74B7-D113-C115-95D4-70CC902C9EBF}"/>
              </a:ext>
            </a:extLst>
          </p:cNvPr>
          <p:cNvSpPr/>
          <p:nvPr/>
        </p:nvSpPr>
        <p:spPr>
          <a:xfrm>
            <a:off x="698500" y="5207000"/>
            <a:ext cx="10795000" cy="749300"/>
          </a:xfrm>
          <a:prstGeom prst="roundRect">
            <a:avLst/>
          </a:prstGeom>
          <a:solidFill>
            <a:srgbClr val="FFF7E9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20E98E5-2CB1-F2CC-E83A-A4B1B14513B3}"/>
              </a:ext>
            </a:extLst>
          </p:cNvPr>
          <p:cNvSpPr txBox="1"/>
          <p:nvPr/>
        </p:nvSpPr>
        <p:spPr>
          <a:xfrm>
            <a:off x="990600" y="5435599"/>
            <a:ext cx="1524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阶段关系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FB67AC0-9F85-B6AA-4676-DE1F25114F6C}"/>
              </a:ext>
            </a:extLst>
          </p:cNvPr>
          <p:cNvSpPr txBox="1"/>
          <p:nvPr/>
        </p:nvSpPr>
        <p:spPr>
          <a:xfrm>
            <a:off x="2476500" y="5435600"/>
            <a:ext cx="8636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第一阶段提供</a:t>
            </a:r>
            <a:r>
              <a:rPr lang="en-US" altLang="zh-CN" sz="1450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450">
                <a:solidFill>
                  <a:srgbClr val="0B2F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基础；第二阶段增加真实的局部传播，并规范历史材料何时、以什么方式进入模拟。</a:t>
            </a:r>
          </a:p>
        </p:txBody>
      </p:sp>
    </p:spTree>
    <p:extLst>
      <p:ext uri="{BB962C8B-B14F-4D97-AF65-F5344CB8AC3E}">
        <p14:creationId xmlns:p14="http://schemas.microsoft.com/office/powerpoint/2010/main" val="108978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2F6FC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第一阶段基础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形成与个体差异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78899A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9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F55973-18E5-6798-34CC-4CE0DA8C4E72}"/>
              </a:ext>
            </a:extLst>
          </p:cNvPr>
          <p:cNvSpPr txBox="1"/>
          <p:nvPr/>
        </p:nvSpPr>
        <p:spPr>
          <a:xfrm>
            <a:off x="698500" y="1244599"/>
            <a:ext cx="10795000" cy="315471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CN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Persona</a:t>
            </a:r>
            <a:r>
              <a:rPr lang="zh-CN" altLang="en-US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提供长期倾向，使</a:t>
            </a:r>
            <a:r>
              <a:rPr lang="en-US" altLang="zh-CN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在关注点和表达习惯上存在差异。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73023F1-BAE6-E904-8A9F-971B94EEEAF4}"/>
              </a:ext>
            </a:extLst>
          </p:cNvPr>
          <p:cNvSpPr/>
          <p:nvPr/>
        </p:nvSpPr>
        <p:spPr>
          <a:xfrm>
            <a:off x="698500" y="1841500"/>
            <a:ext cx="76200" cy="1422400"/>
          </a:xfrm>
          <a:prstGeom prst="roundRect">
            <a:avLst/>
          </a:prstGeom>
          <a:solidFill>
            <a:srgbClr val="D84A55"/>
          </a:solidFill>
          <a:ln w="12700">
            <a:solidFill>
              <a:srgbClr val="D84A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64241B-8F6B-964A-752A-7FE54BC34D1E}"/>
              </a:ext>
            </a:extLst>
          </p:cNvPr>
          <p:cNvSpPr txBox="1"/>
          <p:nvPr/>
        </p:nvSpPr>
        <p:spPr>
          <a:xfrm>
            <a:off x="9779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现实问题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B022D2-87FB-3110-3B7D-EE6768DAD920}"/>
              </a:ext>
            </a:extLst>
          </p:cNvPr>
          <p:cNvSpPr txBox="1"/>
          <p:nvPr/>
        </p:nvSpPr>
        <p:spPr>
          <a:xfrm>
            <a:off x="9779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原始微博数量不一，字段和文本质量也不同。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如果直接把少量发言当成人格结论，个体画像会被偶然表达左右。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9ECD038-5EBA-7738-BBBD-A899C2B7A843}"/>
              </a:ext>
            </a:extLst>
          </p:cNvPr>
          <p:cNvSpPr/>
          <p:nvPr/>
        </p:nvSpPr>
        <p:spPr>
          <a:xfrm>
            <a:off x="4445000" y="1841500"/>
            <a:ext cx="76200" cy="1422400"/>
          </a:xfrm>
          <a:prstGeom prst="roundRect">
            <a:avLst/>
          </a:prstGeom>
          <a:solidFill>
            <a:srgbClr val="109D94"/>
          </a:solidFill>
          <a:ln w="12700">
            <a:solidFill>
              <a:srgbClr val="109D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CD7E23-0CA7-9E89-55AE-17CB9061A5F5}"/>
              </a:ext>
            </a:extLst>
          </p:cNvPr>
          <p:cNvSpPr txBox="1"/>
          <p:nvPr/>
        </p:nvSpPr>
        <p:spPr>
          <a:xfrm>
            <a:off x="47244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设计机制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23CFD3-2B8F-A7DD-EA20-6477022E982C}"/>
              </a:ext>
            </a:extLst>
          </p:cNvPr>
          <p:cNvSpPr txBox="1"/>
          <p:nvPr/>
        </p:nvSpPr>
        <p:spPr>
          <a:xfrm>
            <a:off x="47244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系统先清洗并分类微博，再按用户聚合主题偏好、信息取向、情绪表达和原创转发倾向。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同时保留有效样本数量。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1B4E099-E950-BB59-1CC1-7B364755F998}"/>
              </a:ext>
            </a:extLst>
          </p:cNvPr>
          <p:cNvSpPr/>
          <p:nvPr/>
        </p:nvSpPr>
        <p:spPr>
          <a:xfrm>
            <a:off x="8191500" y="1841500"/>
            <a:ext cx="76200" cy="1422400"/>
          </a:xfrm>
          <a:prstGeom prst="roundRect">
            <a:avLst/>
          </a:prstGeom>
          <a:solidFill>
            <a:srgbClr val="2F70D0"/>
          </a:solidFill>
          <a:ln w="12700">
            <a:solidFill>
              <a:srgbClr val="2F70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4B5AAA-ED71-A8F2-66A3-FDE33AE36043}"/>
              </a:ext>
            </a:extLst>
          </p:cNvPr>
          <p:cNvSpPr txBox="1"/>
          <p:nvPr/>
        </p:nvSpPr>
        <p:spPr>
          <a:xfrm>
            <a:off x="84709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如何进入决策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9B359B-60D0-155F-517C-BE0214543BEF}"/>
              </a:ext>
            </a:extLst>
          </p:cNvPr>
          <p:cNvSpPr txBox="1"/>
          <p:nvPr/>
        </p:nvSpPr>
        <p:spPr>
          <a:xfrm>
            <a:off x="84709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CN" sz="1400">
                <a:solidFill>
                  <a:srgbClr val="24374C"/>
                </a:solidFill>
                <a:latin typeface="Microsoft YaHei" panose="020B0503020204020204" pitchFamily="34" charset="-122"/>
              </a:rPr>
              <a:t>Persona</a:t>
            </a:r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不直接指定本轮答案。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它决定</a:t>
            </a:r>
            <a:r>
              <a:rPr lang="en-US" altLang="zh-CN" sz="1400">
                <a:solidFill>
                  <a:srgbClr val="24374C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更关注事实、责任判断还是信息缺口，并影响状态改变和表达方式。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7A56068-9DCF-7DE3-44E0-47E872DDA472}"/>
              </a:ext>
            </a:extLst>
          </p:cNvPr>
          <p:cNvSpPr/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5EBCF31-7776-827A-5C1E-636B44A89B94}"/>
              </a:ext>
            </a:extLst>
          </p:cNvPr>
          <p:cNvSpPr/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8FA4D08-5975-D2C5-EFED-4D1A8C9EE4A2}"/>
              </a:ext>
            </a:extLst>
          </p:cNvPr>
          <p:cNvSpPr txBox="1"/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E76F22"/>
                </a:solidFill>
                <a:latin typeface="Microsoft YaHei" panose="020B0503020204020204" pitchFamily="34" charset="-122"/>
              </a:rPr>
              <a:t>为什么这样设计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B8E4E6-3A1E-9B84-1AE3-4292297A7905}"/>
              </a:ext>
            </a:extLst>
          </p:cNvPr>
          <p:cNvSpPr txBox="1"/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80">
                <a:solidFill>
                  <a:srgbClr val="132D47"/>
                </a:solidFill>
                <a:latin typeface="Microsoft YaHei" panose="020B0503020204020204" pitchFamily="34" charset="-122"/>
              </a:rPr>
              <a:t>一个人偶尔发布的一条微博，不能代表他的长期倾向。系统综合多条历史表达，并保留样本数量和分类依据，可以减少偶然发言的影响，也方便研究人员回查</a:t>
            </a:r>
            <a:r>
              <a:rPr lang="en-US" altLang="zh-CN" sz="1480">
                <a:solidFill>
                  <a:srgbClr val="132D47"/>
                </a:solidFill>
                <a:latin typeface="Microsoft YaHei" panose="020B0503020204020204" pitchFamily="34" charset="-122"/>
              </a:rPr>
              <a:t>Persona</a:t>
            </a:r>
            <a:r>
              <a:rPr lang="zh-CN" altLang="en-US" sz="1480">
                <a:solidFill>
                  <a:srgbClr val="132D47"/>
                </a:solidFill>
                <a:latin typeface="Microsoft YaHei" panose="020B0503020204020204" pitchFamily="34" charset="-122"/>
              </a:rPr>
              <a:t>是怎样形成的。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2EC79C9-FF7E-456C-F7C6-399AD1DA0B90}"/>
              </a:ext>
            </a:extLst>
          </p:cNvPr>
          <p:cNvSpPr txBox="1"/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机制边界：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Persona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描述历史表达倾向，不等同于真实人的完整心理，也不等于本轮情绪。</a:t>
            </a:r>
          </a:p>
        </p:txBody>
      </p:sp>
    </p:spTree>
    <p:extLst>
      <p:ext uri="{BB962C8B-B14F-4D97-AF65-F5344CB8AC3E}">
        <p14:creationId xmlns:p14="http://schemas.microsoft.com/office/powerpoint/2010/main" val="342985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2F6FC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第一阶段基础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：个体决策与状态惯性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78899A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9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4B5DEC-B300-C846-390D-667F2BA6C206}"/>
              </a:ext>
            </a:extLst>
          </p:cNvPr>
          <p:cNvSpPr txBox="1"/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CN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以上一轮状态为默认基线，只有相关的新证据才能推动状态变化。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F1E2B55-BD40-CABC-AA3E-2E86C7A7CBA0}"/>
              </a:ext>
            </a:extLst>
          </p:cNvPr>
          <p:cNvSpPr/>
          <p:nvPr/>
        </p:nvSpPr>
        <p:spPr>
          <a:xfrm>
            <a:off x="1625600" y="2032000"/>
            <a:ext cx="508000" cy="5080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E9E5A63-99CD-5677-18BA-E84F3DD06EA3}"/>
              </a:ext>
            </a:extLst>
          </p:cNvPr>
          <p:cNvCxnSpPr/>
          <p:nvPr/>
        </p:nvCxnSpPr>
        <p:spPr>
          <a:xfrm>
            <a:off x="2197100" y="2286000"/>
            <a:ext cx="11049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078C982-4A3B-4FF0-8E93-DA0FB3A95247}"/>
              </a:ext>
            </a:extLst>
          </p:cNvPr>
          <p:cNvSpPr txBox="1"/>
          <p:nvPr/>
        </p:nvSpPr>
        <p:spPr>
          <a:xfrm>
            <a:off x="698500" y="2730499"/>
            <a:ext cx="2413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上一轮状态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44F9AF-D017-24B1-C7CA-8E0BDCB9ACAB}"/>
              </a:ext>
            </a:extLst>
          </p:cNvPr>
          <p:cNvSpPr txBox="1"/>
          <p:nvPr/>
        </p:nvSpPr>
        <p:spPr>
          <a:xfrm>
            <a:off x="698500" y="3136900"/>
            <a:ext cx="2413000" cy="3937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提供连续性，避免每轮从零开始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85C9B36-BC56-D88C-6B33-0D04C57C9AEB}"/>
              </a:ext>
            </a:extLst>
          </p:cNvPr>
          <p:cNvSpPr/>
          <p:nvPr/>
        </p:nvSpPr>
        <p:spPr>
          <a:xfrm>
            <a:off x="4356100" y="2032000"/>
            <a:ext cx="508000" cy="5080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7B08ECE-0D0E-8F6E-1D68-7D1DD66DEA2A}"/>
              </a:ext>
            </a:extLst>
          </p:cNvPr>
          <p:cNvCxnSpPr/>
          <p:nvPr/>
        </p:nvCxnSpPr>
        <p:spPr>
          <a:xfrm>
            <a:off x="4927600" y="2286000"/>
            <a:ext cx="11049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3ECEA04-B5A7-86D5-9511-659991B0B152}"/>
              </a:ext>
            </a:extLst>
          </p:cNvPr>
          <p:cNvSpPr txBox="1"/>
          <p:nvPr/>
        </p:nvSpPr>
        <p:spPr>
          <a:xfrm>
            <a:off x="3429000" y="2730499"/>
            <a:ext cx="2413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Persona</a:t>
            </a:r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关注方式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DDFA4C3-2AC0-DA4C-7CB1-73791318CD12}"/>
              </a:ext>
            </a:extLst>
          </p:cNvPr>
          <p:cNvSpPr txBox="1"/>
          <p:nvPr/>
        </p:nvSpPr>
        <p:spPr>
          <a:xfrm>
            <a:off x="3429000" y="3136900"/>
            <a:ext cx="2413000" cy="3937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决定该</a:t>
            </a:r>
            <a:r>
              <a:rPr lang="en-US" altLang="zh-CN" sz="1250">
                <a:solidFill>
                  <a:srgbClr val="24374C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优先检查哪类证据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41A0A2A-7738-7E0E-A7F7-5BB7CBB7D096}"/>
              </a:ext>
            </a:extLst>
          </p:cNvPr>
          <p:cNvSpPr/>
          <p:nvPr/>
        </p:nvSpPr>
        <p:spPr>
          <a:xfrm>
            <a:off x="7086600" y="2032000"/>
            <a:ext cx="508000" cy="5080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901E815-9700-DA29-B4DA-28BAF0B763DF}"/>
              </a:ext>
            </a:extLst>
          </p:cNvPr>
          <p:cNvCxnSpPr/>
          <p:nvPr/>
        </p:nvCxnSpPr>
        <p:spPr>
          <a:xfrm>
            <a:off x="7658100" y="2286000"/>
            <a:ext cx="11049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1BAA58F-E232-2726-47E7-15ECB4F51AB9}"/>
              </a:ext>
            </a:extLst>
          </p:cNvPr>
          <p:cNvSpPr txBox="1"/>
          <p:nvPr/>
        </p:nvSpPr>
        <p:spPr>
          <a:xfrm>
            <a:off x="6159500" y="2730499"/>
            <a:ext cx="2413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本轮新增证据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A822F5F-60AB-F3C1-DD0D-648EDF5E8347}"/>
              </a:ext>
            </a:extLst>
          </p:cNvPr>
          <p:cNvSpPr txBox="1"/>
          <p:nvPr/>
        </p:nvSpPr>
        <p:spPr>
          <a:xfrm>
            <a:off x="6159500" y="3136900"/>
            <a:ext cx="2413000" cy="3937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事实、通告和个人可见评论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ACE472A-5647-C2A1-FA81-9331BD46945A}"/>
              </a:ext>
            </a:extLst>
          </p:cNvPr>
          <p:cNvSpPr/>
          <p:nvPr/>
        </p:nvSpPr>
        <p:spPr>
          <a:xfrm>
            <a:off x="9817100" y="2032000"/>
            <a:ext cx="508000" cy="508000"/>
          </a:xfrm>
          <a:prstGeom prst="ellipse">
            <a:avLst/>
          </a:prstGeom>
          <a:solidFill>
            <a:srgbClr val="EE7D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59DFA63-351A-01AD-DBE0-7E842D280E80}"/>
              </a:ext>
            </a:extLst>
          </p:cNvPr>
          <p:cNvSpPr txBox="1"/>
          <p:nvPr/>
        </p:nvSpPr>
        <p:spPr>
          <a:xfrm>
            <a:off x="8890000" y="2730499"/>
            <a:ext cx="2413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结构化决策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B823083-1C8A-5216-225A-F2B008837BEB}"/>
              </a:ext>
            </a:extLst>
          </p:cNvPr>
          <p:cNvSpPr txBox="1"/>
          <p:nvPr/>
        </p:nvSpPr>
        <p:spPr>
          <a:xfrm>
            <a:off x="8890000" y="3136900"/>
            <a:ext cx="2413000" cy="46166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情绪、官方态度、是否评论和派系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C7A490F-A657-E490-1CA4-AC5BC42CCC05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5D5D663-D320-2EB3-ECBF-33C51F71F448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文本框 35">
            <a:extLst>
              <a:ext uri="{FF2B5EF4-FFF2-40B4-BE49-F238E27FC236}">
                <a16:creationId xmlns:a16="http://schemas.microsoft.com/office/drawing/2014/main" id="{91A462DF-D08D-207E-0827-6EDE5BAE5C44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21" name="文本框 36">
            <a:extLst>
              <a:ext uri="{FF2B5EF4-FFF2-40B4-BE49-F238E27FC236}">
                <a16:creationId xmlns:a16="http://schemas.microsoft.com/office/drawing/2014/main" id="{3E18325B-3D07-85E7-28D5-5BECDE85288E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现实中的人不会每看到一条评论就立刻改变立场。系统让Agent先保留上一轮状态，只有出现与其关注点相关的新证据时才调整，降低共同信息引发同步转向的风险。当前实验仍可能出现趋同，需要继续校准。</a:t>
            </a:r>
          </a:p>
        </p:txBody>
      </p:sp>
      <p:sp>
        <p:nvSpPr>
          <p:cNvPr id="38" name="文本框 52">
            <a:extLst>
              <a:ext uri="{FF2B5EF4-FFF2-40B4-BE49-F238E27FC236}">
                <a16:creationId xmlns:a16="http://schemas.microsoft.com/office/drawing/2014/main" id="{88A5D013-43B9-890B-D83A-4DE1D501EC74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212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机制边界：系统不设置情绪配额，也不强制保持原状态；同一证据允许因Persona差异产生不同判断，但不保证群体一定分化。</a:t>
            </a:r>
          </a:p>
        </p:txBody>
      </p:sp>
    </p:spTree>
    <p:extLst>
      <p:ext uri="{BB962C8B-B14F-4D97-AF65-F5344CB8AC3E}">
        <p14:creationId xmlns:p14="http://schemas.microsoft.com/office/powerpoint/2010/main" val="21593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169F9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第二阶段新增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：固定社交网络与影响力权重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78899A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9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05799A-D8FE-1711-FB24-9E556A02D45D}"/>
              </a:ext>
            </a:extLst>
          </p:cNvPr>
          <p:cNvSpPr txBox="1"/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固定的有向关系描述谁能读取谁的上一轮表达，权重只改变表达被看见的机会。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B486A0B-F762-A207-760E-1A92A669E9C0}"/>
              </a:ext>
            </a:extLst>
          </p:cNvPr>
          <p:cNvSpPr/>
          <p:nvPr/>
        </p:nvSpPr>
        <p:spPr>
          <a:xfrm>
            <a:off x="698500" y="1778000"/>
            <a:ext cx="63500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478797-3EFC-CE2F-7374-AE117F5595A0}"/>
              </a:ext>
            </a:extLst>
          </p:cNvPr>
          <p:cNvSpPr txBox="1"/>
          <p:nvPr/>
        </p:nvSpPr>
        <p:spPr>
          <a:xfrm>
            <a:off x="1016000" y="1968499"/>
            <a:ext cx="5715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500" b="1">
                <a:solidFill>
                  <a:srgbClr val="2F70D0"/>
                </a:solidFill>
                <a:latin typeface="Microsoft YaHei" panose="020B0503020204020204" pitchFamily="34" charset="-122"/>
              </a:rPr>
              <a:t>保留公式：影响力权重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ADB0E7-C91E-4114-7B79-A9BCB150C5A2}"/>
              </a:ext>
            </a:extLst>
          </p:cNvPr>
          <p:cNvSpPr txBox="1"/>
          <p:nvPr/>
        </p:nvSpPr>
        <p:spPr>
          <a:xfrm>
            <a:off x="952500" y="2565400"/>
            <a:ext cx="58420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CN" sz="2100" b="1">
                <a:solidFill>
                  <a:srgbClr val="072341"/>
                </a:solidFill>
                <a:latin typeface="Cambria Math" panose="02040503050406030204" pitchFamily="18" charset="0"/>
              </a:rPr>
              <a:t>Wᵢ = 1 + ln(1+fᵢ) / maxⱼln(1+fⱼ) + 0.2·vᵢ</a:t>
            </a:r>
            <a:endParaRPr lang="zh-CN" altLang="en-US" sz="2100" b="1">
              <a:solidFill>
                <a:srgbClr val="072341"/>
              </a:solidFill>
              <a:latin typeface="Cambria Math" panose="020405030504060302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D217F4-21C5-3362-4295-F84BB945788A}"/>
              </a:ext>
            </a:extLst>
          </p:cNvPr>
          <p:cNvSpPr txBox="1"/>
          <p:nvPr/>
        </p:nvSpPr>
        <p:spPr>
          <a:xfrm>
            <a:off x="1016000" y="3213100"/>
            <a:ext cx="57150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en-US" altLang="zh-CN" sz="1250">
                <a:solidFill>
                  <a:srgbClr val="607489"/>
                </a:solidFill>
                <a:latin typeface="Microsoft YaHei" panose="020B0503020204020204" pitchFamily="34" charset="-122"/>
              </a:rPr>
              <a:t>fᵢ</a:t>
            </a:r>
            <a:r>
              <a:rPr lang="zh-CN" altLang="en-US" sz="1250">
                <a:solidFill>
                  <a:srgbClr val="607489"/>
                </a:solidFill>
                <a:latin typeface="Microsoft YaHei" panose="020B0503020204020204" pitchFamily="34" charset="-122"/>
              </a:rPr>
              <a:t>为粉丝数，</a:t>
            </a:r>
            <a:r>
              <a:rPr lang="en-US" altLang="zh-CN" sz="1250">
                <a:solidFill>
                  <a:srgbClr val="607489"/>
                </a:solidFill>
                <a:latin typeface="Microsoft YaHei" panose="020B0503020204020204" pitchFamily="34" charset="-122"/>
              </a:rPr>
              <a:t>vᵢ</a:t>
            </a:r>
            <a:r>
              <a:rPr lang="zh-CN" altLang="en-US" sz="1250">
                <a:solidFill>
                  <a:srgbClr val="607489"/>
                </a:solidFill>
                <a:latin typeface="Microsoft YaHei" panose="020B0503020204020204" pitchFamily="34" charset="-122"/>
              </a:rPr>
              <a:t>表示是否认证。粉丝量先取对数，避免头部账号完全支配网络。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1E6F1B3-7AD5-39CE-3BB4-8B7B17A71A86}"/>
              </a:ext>
            </a:extLst>
          </p:cNvPr>
          <p:cNvSpPr/>
          <p:nvPr/>
        </p:nvSpPr>
        <p:spPr>
          <a:xfrm>
            <a:off x="7493000" y="1841500"/>
            <a:ext cx="76200" cy="1422400"/>
          </a:xfrm>
          <a:prstGeom prst="roundRect">
            <a:avLst/>
          </a:prstGeom>
          <a:solidFill>
            <a:srgbClr val="109D94"/>
          </a:solidFill>
          <a:ln w="12700">
            <a:solidFill>
              <a:srgbClr val="109D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9D33C7-98B5-3841-2CDC-FC4B28843BDD}"/>
              </a:ext>
            </a:extLst>
          </p:cNvPr>
          <p:cNvSpPr txBox="1"/>
          <p:nvPr/>
        </p:nvSpPr>
        <p:spPr>
          <a:xfrm>
            <a:off x="7772400" y="1841500"/>
            <a:ext cx="37211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关系构建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F828A9-46C7-14DD-43D5-26E3ADEE0F8E}"/>
              </a:ext>
            </a:extLst>
          </p:cNvPr>
          <p:cNvSpPr txBox="1"/>
          <p:nvPr/>
        </p:nvSpPr>
        <p:spPr>
          <a:xfrm>
            <a:off x="7772400" y="2273300"/>
            <a:ext cx="3721100" cy="938719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系统使用固定种子，为每个</a:t>
            </a:r>
            <a:r>
              <a:rPr lang="en-US" altLang="zh-CN" sz="1400">
                <a:solidFill>
                  <a:srgbClr val="24374C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选择</a:t>
            </a:r>
            <a:r>
              <a:rPr lang="en-US" altLang="zh-CN" sz="1400">
                <a:solidFill>
                  <a:srgbClr val="24374C"/>
                </a:solidFill>
                <a:latin typeface="Microsoft YaHei" panose="020B0503020204020204" pitchFamily="34" charset="-122"/>
              </a:rPr>
              <a:t>5</a:t>
            </a:r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名邻居。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关系有方向，排除自己，不允许重复；同一批</a:t>
            </a:r>
            <a:r>
              <a:rPr lang="en-US" altLang="zh-CN" sz="1400">
                <a:solidFill>
                  <a:srgbClr val="24374C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重复运行时保持相同网络。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9B899A-0A1F-DAAF-DDC6-2515290CB5FA}"/>
              </a:ext>
            </a:extLst>
          </p:cNvPr>
          <p:cNvSpPr/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51F1399-C036-6FE6-88D9-EE082E8BA9B6}"/>
              </a:ext>
            </a:extLst>
          </p:cNvPr>
          <p:cNvSpPr/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014FB3-98B8-D268-C937-23CF32E25B60}"/>
              </a:ext>
            </a:extLst>
          </p:cNvPr>
          <p:cNvSpPr txBox="1"/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E76F22"/>
                </a:solidFill>
                <a:latin typeface="Microsoft YaHei" panose="020B0503020204020204" pitchFamily="34" charset="-122"/>
              </a:rPr>
              <a:t>为什么这样设计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EA83A14-88F7-D026-F359-ED13BBC495BD}"/>
              </a:ext>
            </a:extLst>
          </p:cNvPr>
          <p:cNvSpPr txBox="1"/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80">
                <a:solidFill>
                  <a:srgbClr val="132D47"/>
                </a:solidFill>
                <a:latin typeface="Microsoft YaHei" panose="020B0503020204020204" pitchFamily="34" charset="-122"/>
              </a:rPr>
              <a:t>现实中，人通常只关注少数账号。影响力较大的账号更容易被看到，但不等于一定被相信。固定关注关系和权重既能保留这种差异，也能避免网络随机变化干扰实验比较。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A59CF7C-0DAF-36BF-2EE8-CF40FB9D98DD}"/>
              </a:ext>
            </a:extLst>
          </p:cNvPr>
          <p:cNvSpPr txBox="1"/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机制边界：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A→B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表示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A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能够读取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B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的表达；影响力权重不代表内容一定可信，也不会强制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A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接受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B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的观点。</a:t>
            </a:r>
          </a:p>
        </p:txBody>
      </p:sp>
    </p:spTree>
    <p:extLst>
      <p:ext uri="{BB962C8B-B14F-4D97-AF65-F5344CB8AC3E}">
        <p14:creationId xmlns:p14="http://schemas.microsoft.com/office/powerpoint/2010/main" val="93962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169F9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第二阶段新增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：个人可见范围与局部舆论环境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78899A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9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5">
            <a:extLst>
              <a:ext uri="{FF2B5EF4-FFF2-40B4-BE49-F238E27FC236}">
                <a16:creationId xmlns:a16="http://schemas.microsoft.com/office/drawing/2014/main" id="{649AF5C1-91D0-AF49-2D46-D5CDE184D73F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系统通过不同的评论可见范围制造信息差，而不是让30名Agent看到完全相同的内容。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E2D95B0-7B85-9ED6-B7A8-7F1AF12AD62E}"/>
              </a:ext>
            </a:extLst>
          </p:cNvPr>
          <p:cNvSpPr>
            <a:spLocks noGrp="1"/>
          </p:cNvSpPr>
          <p:nvPr/>
        </p:nvSpPr>
        <p:spPr>
          <a:xfrm>
            <a:off x="2222500" y="1905000"/>
            <a:ext cx="558800" cy="558800"/>
          </a:xfrm>
          <a:prstGeom prst="ellipse">
            <a:avLst/>
          </a:prstGeom>
          <a:solidFill>
            <a:srgbClr val="109D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DECF86BD-C658-BF71-6B4D-C10E220649D9}"/>
              </a:ext>
            </a:extLst>
          </p:cNvPr>
          <p:cNvSpPr>
            <a:spLocks noGrp="1"/>
          </p:cNvSpPr>
          <p:nvPr/>
        </p:nvSpPr>
        <p:spPr>
          <a:xfrm>
            <a:off x="2844800" y="2184400"/>
            <a:ext cx="16256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文本框 10">
            <a:extLst>
              <a:ext uri="{FF2B5EF4-FFF2-40B4-BE49-F238E27FC236}">
                <a16:creationId xmlns:a16="http://schemas.microsoft.com/office/drawing/2014/main" id="{0850485B-1005-B8BE-FC18-B0CFE3CF74FA}"/>
              </a:ext>
            </a:extLst>
          </p:cNvPr>
          <p:cNvSpPr>
            <a:spLocks noGrp="1"/>
          </p:cNvSpPr>
          <p:nvPr/>
        </p:nvSpPr>
        <p:spPr>
          <a:xfrm>
            <a:off x="889000" y="2768600"/>
            <a:ext cx="32385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邻居上一轮实际表达</a:t>
            </a:r>
          </a:p>
        </p:txBody>
      </p:sp>
      <p:sp>
        <p:nvSpPr>
          <p:cNvPr id="23" name="文本框 19">
            <a:extLst>
              <a:ext uri="{FF2B5EF4-FFF2-40B4-BE49-F238E27FC236}">
                <a16:creationId xmlns:a16="http://schemas.microsoft.com/office/drawing/2014/main" id="{14F6AEEE-A5FA-60B0-640F-4FBF0DD7A7C5}"/>
              </a:ext>
            </a:extLst>
          </p:cNvPr>
          <p:cNvSpPr>
            <a:spLocks noGrp="1"/>
          </p:cNvSpPr>
          <p:nvPr/>
        </p:nvSpPr>
        <p:spPr>
          <a:xfrm>
            <a:off x="889000" y="3263900"/>
            <a:ext cx="3238500" cy="48320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只读取固定网络中所关注邻居真正发表的评论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0035A513-D751-60EE-40F6-8237B1B98271}"/>
              </a:ext>
            </a:extLst>
          </p:cNvPr>
          <p:cNvSpPr>
            <a:spLocks noGrp="1"/>
          </p:cNvSpPr>
          <p:nvPr/>
        </p:nvSpPr>
        <p:spPr>
          <a:xfrm>
            <a:off x="5969000" y="1905000"/>
            <a:ext cx="558800" cy="5588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199D9BBB-D356-66B4-ABFE-74ACC80A67B7}"/>
              </a:ext>
            </a:extLst>
          </p:cNvPr>
          <p:cNvSpPr>
            <a:spLocks noGrp="1"/>
          </p:cNvSpPr>
          <p:nvPr/>
        </p:nvSpPr>
        <p:spPr>
          <a:xfrm>
            <a:off x="6591300" y="2184400"/>
            <a:ext cx="16256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文本框 24">
            <a:extLst>
              <a:ext uri="{FF2B5EF4-FFF2-40B4-BE49-F238E27FC236}">
                <a16:creationId xmlns:a16="http://schemas.microsoft.com/office/drawing/2014/main" id="{AF3B0A30-B7DC-65D0-2C0B-1E5BDE1E2318}"/>
              </a:ext>
            </a:extLst>
          </p:cNvPr>
          <p:cNvSpPr>
            <a:spLocks noGrp="1"/>
          </p:cNvSpPr>
          <p:nvPr/>
        </p:nvSpPr>
        <p:spPr>
          <a:xfrm>
            <a:off x="4635500" y="2768600"/>
            <a:ext cx="3238500" cy="32766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公共评论基础视野</a:t>
            </a:r>
          </a:p>
        </p:txBody>
      </p:sp>
      <p:sp>
        <p:nvSpPr>
          <p:cNvPr id="42" name="文本框 25">
            <a:extLst>
              <a:ext uri="{FF2B5EF4-FFF2-40B4-BE49-F238E27FC236}">
                <a16:creationId xmlns:a16="http://schemas.microsoft.com/office/drawing/2014/main" id="{63700952-61F2-BAF1-B725-CA49BB4EE916}"/>
              </a:ext>
            </a:extLst>
          </p:cNvPr>
          <p:cNvSpPr>
            <a:spLocks noGrp="1"/>
          </p:cNvSpPr>
          <p:nvPr/>
        </p:nvSpPr>
        <p:spPr>
          <a:xfrm>
            <a:off x="4635500" y="3263900"/>
            <a:ext cx="3238500" cy="27736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始终抽取；邻居不足时再补齐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C4295FC2-DE4C-C2C8-CBAF-0E37BB8438FE}"/>
              </a:ext>
            </a:extLst>
          </p:cNvPr>
          <p:cNvSpPr>
            <a:spLocks noGrp="1"/>
          </p:cNvSpPr>
          <p:nvPr/>
        </p:nvSpPr>
        <p:spPr>
          <a:xfrm>
            <a:off x="9715500" y="1905000"/>
            <a:ext cx="558800" cy="558800"/>
          </a:xfrm>
          <a:prstGeom prst="ellipse">
            <a:avLst/>
          </a:prstGeom>
          <a:solidFill>
            <a:srgbClr val="EE7D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6" name="文本框 27">
            <a:extLst>
              <a:ext uri="{FF2B5EF4-FFF2-40B4-BE49-F238E27FC236}">
                <a16:creationId xmlns:a16="http://schemas.microsoft.com/office/drawing/2014/main" id="{B40D45D7-DF7E-4D63-F299-D0D302028AFA}"/>
              </a:ext>
            </a:extLst>
          </p:cNvPr>
          <p:cNvSpPr>
            <a:spLocks noGrp="1"/>
          </p:cNvSpPr>
          <p:nvPr/>
        </p:nvSpPr>
        <p:spPr>
          <a:xfrm>
            <a:off x="8382000" y="2768600"/>
            <a:ext cx="32385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个人独立判断</a:t>
            </a:r>
          </a:p>
        </p:txBody>
      </p:sp>
      <p:sp>
        <p:nvSpPr>
          <p:cNvPr id="48" name="文本框 28">
            <a:extLst>
              <a:ext uri="{FF2B5EF4-FFF2-40B4-BE49-F238E27FC236}">
                <a16:creationId xmlns:a16="http://schemas.microsoft.com/office/drawing/2014/main" id="{254F3B51-B885-40AD-659B-41D49421760A}"/>
              </a:ext>
            </a:extLst>
          </p:cNvPr>
          <p:cNvSpPr>
            <a:spLocks noGrp="1"/>
          </p:cNvSpPr>
          <p:nvPr/>
        </p:nvSpPr>
        <p:spPr>
          <a:xfrm>
            <a:off x="8382000" y="3263900"/>
            <a:ext cx="3238500" cy="48320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合并后的评论只作为证据，Agent仍结合Persona和记忆判断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F975C45-1A1E-F9CA-CBF2-FB19BE198F45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2060D6DB-AFF6-2F47-6897-C2ABF57D5779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文本框 31">
            <a:extLst>
              <a:ext uri="{FF2B5EF4-FFF2-40B4-BE49-F238E27FC236}">
                <a16:creationId xmlns:a16="http://schemas.microsoft.com/office/drawing/2014/main" id="{623CB62A-C3DD-64B2-84E4-8EFB4AC5D198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56" name="文本框 32">
            <a:extLst>
              <a:ext uri="{FF2B5EF4-FFF2-40B4-BE49-F238E27FC236}">
                <a16:creationId xmlns:a16="http://schemas.microsoft.com/office/drawing/2014/main" id="{4146E3A3-3890-BA22-A966-6AE9246C4B4C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现实舆情的差异，往往先来自每个人看到的内容不同。系统同时提供公共评论与邻居真实表达；邻居不足时再增加公共评论，可以形成不同的信息环境，同时保留个人独立判断。</a:t>
            </a:r>
          </a:p>
        </p:txBody>
      </p:sp>
      <p:sp>
        <p:nvSpPr>
          <p:cNvPr id="58" name="文本框 33">
            <a:extLst>
              <a:ext uri="{FF2B5EF4-FFF2-40B4-BE49-F238E27FC236}">
                <a16:creationId xmlns:a16="http://schemas.microsoft.com/office/drawing/2014/main" id="{12D6C5D8-46FC-5781-B083-3AA0B628745A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第1轮没有上一轮Agent表达，邻居传播部分为空；网络从第2轮开始呈现真实的逐轮传播作用。</a:t>
            </a:r>
          </a:p>
        </p:txBody>
      </p:sp>
    </p:spTree>
    <p:extLst>
      <p:ext uri="{BB962C8B-B14F-4D97-AF65-F5344CB8AC3E}">
        <p14:creationId xmlns:p14="http://schemas.microsoft.com/office/powerpoint/2010/main" val="189921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169F9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第二阶段新增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：跨层传播与权重衰减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78899A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9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C472B1-2D05-A841-BFE9-A8C0F4DFD7B0}"/>
              </a:ext>
            </a:extLst>
          </p:cNvPr>
          <p:cNvSpPr txBox="1"/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同一表达经过多层转述后，来源影响逐渐减弱，避免传播链无限放大。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4CA384-68C1-64AD-5EAC-9B38E933B55B}"/>
              </a:ext>
            </a:extLst>
          </p:cNvPr>
          <p:cNvSpPr/>
          <p:nvPr/>
        </p:nvSpPr>
        <p:spPr>
          <a:xfrm>
            <a:off x="698500" y="1778000"/>
            <a:ext cx="1079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1C5772-7A65-4311-F64C-AFA97EFD43DA}"/>
              </a:ext>
            </a:extLst>
          </p:cNvPr>
          <p:cNvSpPr txBox="1"/>
          <p:nvPr/>
        </p:nvSpPr>
        <p:spPr>
          <a:xfrm>
            <a:off x="1016000" y="1968499"/>
            <a:ext cx="3302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500" b="1">
                <a:solidFill>
                  <a:srgbClr val="EE7D27"/>
                </a:solidFill>
                <a:latin typeface="Microsoft YaHei" panose="020B0503020204020204" pitchFamily="34" charset="-122"/>
              </a:rPr>
              <a:t>保留公式：传播有效权重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4E3A7E-98EC-1E56-ABDB-115E48272DFF}"/>
              </a:ext>
            </a:extLst>
          </p:cNvPr>
          <p:cNvSpPr txBox="1"/>
          <p:nvPr/>
        </p:nvSpPr>
        <p:spPr>
          <a:xfrm>
            <a:off x="3111500" y="2501900"/>
            <a:ext cx="59690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pl-PL" altLang="zh-CN" sz="2400" b="1">
                <a:solidFill>
                  <a:srgbClr val="072341"/>
                </a:solidFill>
                <a:latin typeface="Cambria Math" panose="02040503050406030204" pitchFamily="18" charset="0"/>
              </a:rPr>
              <a:t>w_eff = W_source × 0.7^(d−1)</a:t>
            </a:r>
            <a:endParaRPr lang="zh-CN" altLang="en-US" sz="2400" b="1">
              <a:solidFill>
                <a:srgbClr val="072341"/>
              </a:solidFill>
              <a:latin typeface="Cambria Math" panose="020405030504060302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B9C8A-61AF-4439-2F14-B97A6F00E536}"/>
              </a:ext>
            </a:extLst>
          </p:cNvPr>
          <p:cNvSpPr txBox="1"/>
          <p:nvPr/>
        </p:nvSpPr>
        <p:spPr>
          <a:xfrm>
            <a:off x="8953500" y="2501899"/>
            <a:ext cx="2095500" cy="3937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CN" sz="1320">
                <a:solidFill>
                  <a:srgbClr val="607489"/>
                </a:solidFill>
                <a:latin typeface="Microsoft YaHei" panose="020B0503020204020204" pitchFamily="34" charset="-122"/>
              </a:rPr>
              <a:t>d</a:t>
            </a:r>
            <a:r>
              <a:rPr lang="zh-CN" altLang="en-US" sz="1320">
                <a:solidFill>
                  <a:srgbClr val="607489"/>
                </a:solidFill>
                <a:latin typeface="Microsoft YaHei" panose="020B0503020204020204" pitchFamily="34" charset="-122"/>
              </a:rPr>
              <a:t>为传播深度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EF7E53F-E07F-4EF2-3768-0273CFF73C78}"/>
              </a:ext>
            </a:extLst>
          </p:cNvPr>
          <p:cNvSpPr/>
          <p:nvPr/>
        </p:nvSpPr>
        <p:spPr>
          <a:xfrm>
            <a:off x="1270000" y="3810000"/>
            <a:ext cx="533400" cy="533400"/>
          </a:xfrm>
          <a:prstGeom prst="ellipse">
            <a:avLst/>
          </a:prstGeom>
          <a:solidFill>
            <a:srgbClr val="EE7D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0C288EF-089B-7C4C-664E-06464F4AD847}"/>
              </a:ext>
            </a:extLst>
          </p:cNvPr>
          <p:cNvCxnSpPr/>
          <p:nvPr/>
        </p:nvCxnSpPr>
        <p:spPr>
          <a:xfrm>
            <a:off x="1866900" y="4076700"/>
            <a:ext cx="1511300" cy="0"/>
          </a:xfrm>
          <a:prstGeom prst="line">
            <a:avLst/>
          </a:prstGeom>
          <a:ln w="19050">
            <a:solidFill>
              <a:srgbClr val="78899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5CFAE1B-B057-44CE-522D-7CF9DD66AE14}"/>
              </a:ext>
            </a:extLst>
          </p:cNvPr>
          <p:cNvSpPr txBox="1"/>
          <p:nvPr/>
        </p:nvSpPr>
        <p:spPr>
          <a:xfrm>
            <a:off x="889000" y="4470399"/>
            <a:ext cx="1651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首跳：</a:t>
            </a:r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W</a:t>
            </a:r>
            <a:endParaRPr lang="zh-CN" altLang="en-US" sz="1500" b="1">
              <a:solidFill>
                <a:srgbClr val="0D31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6182C1F-3B83-1546-F831-1122B0687713}"/>
              </a:ext>
            </a:extLst>
          </p:cNvPr>
          <p:cNvSpPr/>
          <p:nvPr/>
        </p:nvSpPr>
        <p:spPr>
          <a:xfrm>
            <a:off x="4064000" y="3810000"/>
            <a:ext cx="533400" cy="5334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704A0BE-A5A0-351F-DAAD-C2CB16227DED}"/>
              </a:ext>
            </a:extLst>
          </p:cNvPr>
          <p:cNvCxnSpPr/>
          <p:nvPr/>
        </p:nvCxnSpPr>
        <p:spPr>
          <a:xfrm>
            <a:off x="4660900" y="4076700"/>
            <a:ext cx="1511300" cy="0"/>
          </a:xfrm>
          <a:prstGeom prst="line">
            <a:avLst/>
          </a:prstGeom>
          <a:ln w="19050">
            <a:solidFill>
              <a:srgbClr val="78899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D93C7B8-C672-654D-778C-BD9AA6D9B000}"/>
              </a:ext>
            </a:extLst>
          </p:cNvPr>
          <p:cNvSpPr txBox="1"/>
          <p:nvPr/>
        </p:nvSpPr>
        <p:spPr>
          <a:xfrm>
            <a:off x="3683000" y="4470399"/>
            <a:ext cx="1651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第</a:t>
            </a:r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层：</a:t>
            </a:r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0.7W</a:t>
            </a:r>
            <a:endParaRPr lang="zh-CN" altLang="en-US" sz="1500" b="1">
              <a:solidFill>
                <a:srgbClr val="0D31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EC34015-747D-BC17-90C9-2E9BB7896FC4}"/>
              </a:ext>
            </a:extLst>
          </p:cNvPr>
          <p:cNvSpPr/>
          <p:nvPr/>
        </p:nvSpPr>
        <p:spPr>
          <a:xfrm>
            <a:off x="6858000" y="3810000"/>
            <a:ext cx="533400" cy="5334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8A5EA1B-CD6D-8ED5-3401-C23DD106A7FE}"/>
              </a:ext>
            </a:extLst>
          </p:cNvPr>
          <p:cNvCxnSpPr/>
          <p:nvPr/>
        </p:nvCxnSpPr>
        <p:spPr>
          <a:xfrm>
            <a:off x="7454900" y="4076700"/>
            <a:ext cx="1511300" cy="0"/>
          </a:xfrm>
          <a:prstGeom prst="line">
            <a:avLst/>
          </a:prstGeom>
          <a:ln w="19050">
            <a:solidFill>
              <a:srgbClr val="78899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611BFB3-D57E-52ED-87E8-61622350C906}"/>
              </a:ext>
            </a:extLst>
          </p:cNvPr>
          <p:cNvSpPr txBox="1"/>
          <p:nvPr/>
        </p:nvSpPr>
        <p:spPr>
          <a:xfrm>
            <a:off x="6477000" y="4470399"/>
            <a:ext cx="1651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第</a:t>
            </a:r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层：</a:t>
            </a:r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0.49W</a:t>
            </a:r>
            <a:endParaRPr lang="zh-CN" altLang="en-US" sz="1500" b="1">
              <a:solidFill>
                <a:srgbClr val="0D31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B54647F-1C37-1D64-0186-4681FA5D8AA7}"/>
              </a:ext>
            </a:extLst>
          </p:cNvPr>
          <p:cNvSpPr/>
          <p:nvPr/>
        </p:nvSpPr>
        <p:spPr>
          <a:xfrm>
            <a:off x="9652000" y="3810000"/>
            <a:ext cx="533400" cy="5334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5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71595C-3BBC-7930-DB3A-DA754834446A}"/>
              </a:ext>
            </a:extLst>
          </p:cNvPr>
          <p:cNvSpPr txBox="1"/>
          <p:nvPr/>
        </p:nvSpPr>
        <p:spPr>
          <a:xfrm>
            <a:off x="9271000" y="4470399"/>
            <a:ext cx="1651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第</a:t>
            </a:r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4</a:t>
            </a:r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层：</a:t>
            </a:r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0.343W</a:t>
            </a:r>
            <a:endParaRPr lang="zh-CN" altLang="en-US" sz="1500" b="1">
              <a:solidFill>
                <a:srgbClr val="0D31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186C68D-2812-6724-E3BA-76740D657D2B}"/>
              </a:ext>
            </a:extLst>
          </p:cNvPr>
          <p:cNvSpPr/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6DC29D5-7653-6811-727C-4A112897162F}"/>
              </a:ext>
            </a:extLst>
          </p:cNvPr>
          <p:cNvSpPr/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B9A7935-800D-C41A-44C3-40AAED90FAB9}"/>
              </a:ext>
            </a:extLst>
          </p:cNvPr>
          <p:cNvSpPr txBox="1"/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E76F22"/>
                </a:solidFill>
                <a:latin typeface="Microsoft YaHei" panose="020B0503020204020204" pitchFamily="34" charset="-122"/>
              </a:rPr>
              <a:t>为什么这样设计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D1820B8-F0C4-43F2-2582-3B04C66EC1D3}"/>
              </a:ext>
            </a:extLst>
          </p:cNvPr>
          <p:cNvSpPr txBox="1"/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80">
                <a:solidFill>
                  <a:srgbClr val="132D47"/>
                </a:solidFill>
                <a:latin typeface="Microsoft YaHei" panose="020B0503020204020204" pitchFamily="34" charset="-122"/>
              </a:rPr>
              <a:t>一条消息经过多次转述后，来源会越来越模糊，影响通常也会减弱。逐层衰减既保留有影响力账号的传播优势，也防止同一条评论在网络深处被无限放大。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077B5DE-BB31-F5F7-D42C-794D3AE09D2A}"/>
              </a:ext>
            </a:extLst>
          </p:cNvPr>
          <p:cNvSpPr txBox="1"/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机制边界：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0.7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作用于评论进入下一名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视野的有效权重，不直接把目标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的情绪乘以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0.7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1463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169F9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第二阶段新增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：传播过程留痕与路径解释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78899A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9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C4CA1C-3EB0-454D-A854-7279A5F4533D}"/>
              </a:ext>
            </a:extLst>
          </p:cNvPr>
          <p:cNvSpPr txBox="1"/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静态关注关系只表示可能看见，系统另行记录每次实际发生的曝光和继续表达。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9FFEEAA-068C-3C22-A050-D00D385E333B}"/>
              </a:ext>
            </a:extLst>
          </p:cNvPr>
          <p:cNvSpPr/>
          <p:nvPr/>
        </p:nvSpPr>
        <p:spPr>
          <a:xfrm>
            <a:off x="698500" y="1968500"/>
            <a:ext cx="2286000" cy="1270000"/>
          </a:xfrm>
          <a:prstGeom prst="roundRect">
            <a:avLst/>
          </a:prstGeom>
          <a:solidFill>
            <a:srgbClr val="E8F2FB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559D9D-B578-2A97-4427-C56AE47F711E}"/>
              </a:ext>
            </a:extLst>
          </p:cNvPr>
          <p:cNvSpPr txBox="1"/>
          <p:nvPr/>
        </p:nvSpPr>
        <p:spPr>
          <a:xfrm>
            <a:off x="825500" y="2222499"/>
            <a:ext cx="2032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Agent A</a:t>
            </a:r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表达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4414E5-E548-C42C-CAA2-B6434329279D}"/>
              </a:ext>
            </a:extLst>
          </p:cNvPr>
          <p:cNvSpPr txBox="1"/>
          <p:nvPr/>
        </p:nvSpPr>
        <p:spPr>
          <a:xfrm>
            <a:off x="889000" y="2692400"/>
            <a:ext cx="1905000" cy="3937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形成评论和表达编号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EACBFA4-F5A6-8699-5E04-221A0192BC6D}"/>
              </a:ext>
            </a:extLst>
          </p:cNvPr>
          <p:cNvCxnSpPr/>
          <p:nvPr/>
        </p:nvCxnSpPr>
        <p:spPr>
          <a:xfrm>
            <a:off x="3035300" y="2603500"/>
            <a:ext cx="406400" cy="0"/>
          </a:xfrm>
          <a:prstGeom prst="line">
            <a:avLst/>
          </a:prstGeom>
          <a:ln w="25400">
            <a:solidFill>
              <a:srgbClr val="109D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3B971B5-E42E-E7CD-AC79-5DB26FCF2B4C}"/>
              </a:ext>
            </a:extLst>
          </p:cNvPr>
          <p:cNvSpPr/>
          <p:nvPr/>
        </p:nvSpPr>
        <p:spPr>
          <a:xfrm>
            <a:off x="3492500" y="1968500"/>
            <a:ext cx="2286000" cy="1270000"/>
          </a:xfrm>
          <a:prstGeom prst="roundRect">
            <a:avLst/>
          </a:prstGeom>
          <a:solidFill>
            <a:srgbClr val="E8F2FB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31BB25-70C9-FE7A-44B8-9FF10FD3B900}"/>
              </a:ext>
            </a:extLst>
          </p:cNvPr>
          <p:cNvSpPr txBox="1"/>
          <p:nvPr/>
        </p:nvSpPr>
        <p:spPr>
          <a:xfrm>
            <a:off x="3619500" y="2222499"/>
            <a:ext cx="2032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Agent B</a:t>
            </a:r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看到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D2040C9-7E1A-5BCF-3432-67055C21ACA4}"/>
              </a:ext>
            </a:extLst>
          </p:cNvPr>
          <p:cNvSpPr txBox="1"/>
          <p:nvPr/>
        </p:nvSpPr>
        <p:spPr>
          <a:xfrm>
            <a:off x="3683000" y="2692400"/>
            <a:ext cx="1905000" cy="46166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记录来源、目标和传播深度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306DCF6-C5F0-CB06-E126-7C6A3289D83B}"/>
              </a:ext>
            </a:extLst>
          </p:cNvPr>
          <p:cNvCxnSpPr/>
          <p:nvPr/>
        </p:nvCxnSpPr>
        <p:spPr>
          <a:xfrm>
            <a:off x="5829300" y="2603500"/>
            <a:ext cx="406400" cy="0"/>
          </a:xfrm>
          <a:prstGeom prst="line">
            <a:avLst/>
          </a:prstGeom>
          <a:ln w="25400">
            <a:solidFill>
              <a:srgbClr val="109D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CD93C20-2EA8-9905-F305-DB8BA519217F}"/>
              </a:ext>
            </a:extLst>
          </p:cNvPr>
          <p:cNvSpPr/>
          <p:nvPr/>
        </p:nvSpPr>
        <p:spPr>
          <a:xfrm>
            <a:off x="6286500" y="1968500"/>
            <a:ext cx="2286000" cy="1270000"/>
          </a:xfrm>
          <a:prstGeom prst="roundRect">
            <a:avLst/>
          </a:prstGeom>
          <a:solidFill>
            <a:srgbClr val="E8F2FB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D4E12D4-30ED-1FA8-592E-020F42FBA3EA}"/>
              </a:ext>
            </a:extLst>
          </p:cNvPr>
          <p:cNvSpPr txBox="1"/>
          <p:nvPr/>
        </p:nvSpPr>
        <p:spPr>
          <a:xfrm>
            <a:off x="6413500" y="2222499"/>
            <a:ext cx="2032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Agent B</a:t>
            </a:r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继续表达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3C6C8F7-8BDC-8CDE-9CDC-99A3D8B1C324}"/>
              </a:ext>
            </a:extLst>
          </p:cNvPr>
          <p:cNvSpPr txBox="1"/>
          <p:nvPr/>
        </p:nvSpPr>
        <p:spPr>
          <a:xfrm>
            <a:off x="6477000" y="2692400"/>
            <a:ext cx="1905000" cy="46166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标记</a:t>
            </a:r>
            <a:r>
              <a:rPr lang="en-US" altLang="zh-CN" sz="1250">
                <a:solidFill>
                  <a:srgbClr val="24374C"/>
                </a:solidFill>
                <a:latin typeface="Microsoft YaHei" panose="020B0503020204020204" pitchFamily="34" charset="-122"/>
              </a:rPr>
              <a:t>was_selected</a:t>
            </a:r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并生成下一表达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71A96AA-0293-580E-867F-EEAF6F436A1C}"/>
              </a:ext>
            </a:extLst>
          </p:cNvPr>
          <p:cNvCxnSpPr/>
          <p:nvPr/>
        </p:nvCxnSpPr>
        <p:spPr>
          <a:xfrm>
            <a:off x="8623300" y="2603500"/>
            <a:ext cx="406400" cy="0"/>
          </a:xfrm>
          <a:prstGeom prst="line">
            <a:avLst/>
          </a:prstGeom>
          <a:ln w="25400">
            <a:solidFill>
              <a:srgbClr val="109D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354C741-1BC8-B3BC-5A55-711610D3A5CF}"/>
              </a:ext>
            </a:extLst>
          </p:cNvPr>
          <p:cNvSpPr/>
          <p:nvPr/>
        </p:nvSpPr>
        <p:spPr>
          <a:xfrm>
            <a:off x="9080500" y="1968500"/>
            <a:ext cx="2286000" cy="1270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739B020-1AD9-3A98-0FC5-64A79341059E}"/>
              </a:ext>
            </a:extLst>
          </p:cNvPr>
          <p:cNvSpPr txBox="1"/>
          <p:nvPr/>
        </p:nvSpPr>
        <p:spPr>
          <a:xfrm>
            <a:off x="9207500" y="2222499"/>
            <a:ext cx="2032000" cy="342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Agent C</a:t>
            </a:r>
            <a:r>
              <a:rPr lang="zh-CN" altLang="en-US" sz="1500" b="1">
                <a:solidFill>
                  <a:srgbClr val="0D3158"/>
                </a:solidFill>
                <a:latin typeface="Microsoft YaHei" panose="020B0503020204020204" pitchFamily="34" charset="-122"/>
              </a:rPr>
              <a:t>未继续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1F0C5A4-A98A-A9D4-B169-85FF682B85A9}"/>
              </a:ext>
            </a:extLst>
          </p:cNvPr>
          <p:cNvSpPr txBox="1"/>
          <p:nvPr/>
        </p:nvSpPr>
        <p:spPr>
          <a:xfrm>
            <a:off x="9271000" y="2692400"/>
            <a:ext cx="1905000" cy="3937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24374C"/>
                </a:solidFill>
                <a:latin typeface="Microsoft YaHei" panose="020B0503020204020204" pitchFamily="34" charset="-122"/>
              </a:rPr>
              <a:t>路径在该节点停止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2FADD1E-AFF1-3757-71DA-A37127421877}"/>
              </a:ext>
            </a:extLst>
          </p:cNvPr>
          <p:cNvSpPr/>
          <p:nvPr/>
        </p:nvSpPr>
        <p:spPr>
          <a:xfrm>
            <a:off x="1143000" y="3683000"/>
            <a:ext cx="76200" cy="1422400"/>
          </a:xfrm>
          <a:prstGeom prst="roundRect">
            <a:avLst/>
          </a:prstGeom>
          <a:solidFill>
            <a:srgbClr val="109D94"/>
          </a:solidFill>
          <a:ln w="12700">
            <a:solidFill>
              <a:srgbClr val="109D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06965B3-3331-7E9F-9E16-55ED1CE19718}"/>
              </a:ext>
            </a:extLst>
          </p:cNvPr>
          <p:cNvSpPr txBox="1"/>
          <p:nvPr/>
        </p:nvSpPr>
        <p:spPr>
          <a:xfrm>
            <a:off x="1422400" y="3683000"/>
            <a:ext cx="42926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能够回答什么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A1B7D05-6801-5DD6-D3FC-A7386C4EE48B}"/>
              </a:ext>
            </a:extLst>
          </p:cNvPr>
          <p:cNvSpPr txBox="1"/>
          <p:nvPr/>
        </p:nvSpPr>
        <p:spPr>
          <a:xfrm>
            <a:off x="1422400" y="4114800"/>
            <a:ext cx="4292600" cy="72327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哪条评论进入过谁的视野；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谁看见后继续表达；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传播链走了几层、在哪个节点停止。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E6E78E4-26AC-BAD9-A7F7-ED16E4A9A3BF}"/>
              </a:ext>
            </a:extLst>
          </p:cNvPr>
          <p:cNvSpPr/>
          <p:nvPr/>
        </p:nvSpPr>
        <p:spPr>
          <a:xfrm>
            <a:off x="6604000" y="3683000"/>
            <a:ext cx="76200" cy="14224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B1F3B59-6048-BC64-1392-0E355F6C40AD}"/>
              </a:ext>
            </a:extLst>
          </p:cNvPr>
          <p:cNvSpPr txBox="1"/>
          <p:nvPr/>
        </p:nvSpPr>
        <p:spPr>
          <a:xfrm>
            <a:off x="6883400" y="3683000"/>
            <a:ext cx="41656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不能据此推断什么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21F7136-BEC0-9978-5BAD-8821062ACF00}"/>
              </a:ext>
            </a:extLst>
          </p:cNvPr>
          <p:cNvSpPr txBox="1"/>
          <p:nvPr/>
        </p:nvSpPr>
        <p:spPr>
          <a:xfrm>
            <a:off x="6883400" y="4114799"/>
            <a:ext cx="4165600" cy="635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网络中存在连线不代表本轮一定发生传播。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没有实际曝光记录的关系，不绘制为本轮传播路径。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0A528BB-374E-1062-13C5-7B54C7C33C7F}"/>
              </a:ext>
            </a:extLst>
          </p:cNvPr>
          <p:cNvSpPr txBox="1"/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机制边界：留痕记录说明系统中发生了哪些曝光和继续表达，不等于现实世界中的真实因果关系。</a:t>
            </a:r>
          </a:p>
        </p:txBody>
      </p:sp>
      <p:sp>
        <p:nvSpPr>
          <p:cNvPr id="12" name="Rationale Panel">
            <a:extLst>
              <a:ext uri="{FF2B5EF4-FFF2-40B4-BE49-F238E27FC236}">
                <a16:creationId xmlns:a16="http://schemas.microsoft.com/office/drawing/2014/main" id="{AC19FDA7-02CF-748F-8639-CBAFC43103ED}"/>
              </a:ext>
            </a:extLst>
          </p:cNvPr>
          <p:cNvSpPr/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7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ationale Accent">
            <a:extLst>
              <a:ext uri="{FF2B5EF4-FFF2-40B4-BE49-F238E27FC236}">
                <a16:creationId xmlns:a16="http://schemas.microsoft.com/office/drawing/2014/main" id="{01A18FD7-046C-2C21-AA90-7C2F25F21FDB}"/>
              </a:ext>
            </a:extLst>
          </p:cNvPr>
          <p:cNvSpPr/>
          <p:nvPr/>
        </p:nvSpPr>
        <p:spPr>
          <a:xfrm>
            <a:off x="698500" y="4953000"/>
            <a:ext cx="76200" cy="1016000"/>
          </a:xfrm>
          <a:prstGeom prst="rect">
            <a:avLst/>
          </a:prstGeom>
          <a:solidFill>
            <a:srgbClr val="E76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ationale Label">
            <a:extLst>
              <a:ext uri="{FF2B5EF4-FFF2-40B4-BE49-F238E27FC236}">
                <a16:creationId xmlns:a16="http://schemas.microsoft.com/office/drawing/2014/main" id="{072E9B26-CE8B-E12F-A5B0-FE436C6A6243}"/>
              </a:ext>
            </a:extLst>
          </p:cNvPr>
          <p:cNvSpPr txBox="1"/>
          <p:nvPr/>
        </p:nvSpPr>
        <p:spPr>
          <a:xfrm>
            <a:off x="1054100" y="5143500"/>
            <a:ext cx="1905000" cy="3462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E76F22"/>
                </a:solidFill>
                <a:latin typeface="Microsoft YaHei" panose="020B0503020204020204" pitchFamily="34" charset="-122"/>
              </a:rPr>
              <a:t>为什么这样设计</a:t>
            </a:r>
          </a:p>
        </p:txBody>
      </p:sp>
      <p:sp>
        <p:nvSpPr>
          <p:cNvPr id="15" name="Rationale Body">
            <a:extLst>
              <a:ext uri="{FF2B5EF4-FFF2-40B4-BE49-F238E27FC236}">
                <a16:creationId xmlns:a16="http://schemas.microsoft.com/office/drawing/2014/main" id="{11556CFD-E86D-4444-1BFD-8220F2F7D601}"/>
              </a:ext>
            </a:extLst>
          </p:cNvPr>
          <p:cNvSpPr txBox="1"/>
          <p:nvPr/>
        </p:nvSpPr>
        <p:spPr>
          <a:xfrm>
            <a:off x="2794000" y="5041900"/>
            <a:ext cx="8445500" cy="54784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80">
                <a:solidFill>
                  <a:srgbClr val="132D47"/>
                </a:solidFill>
                <a:latin typeface="Microsoft YaHei" panose="020B0503020204020204" pitchFamily="34" charset="-122"/>
              </a:rPr>
              <a:t>社交网络中的连线只能说明可能看见，不能证明某条评论真的影响了谁。记录每次曝光和后续表达，才能还原传播链，解释为什么有些意见继续扩散，有些在中途停止。</a:t>
            </a:r>
          </a:p>
        </p:txBody>
      </p:sp>
    </p:spTree>
    <p:extLst>
      <p:ext uri="{BB962C8B-B14F-4D97-AF65-F5344CB8AC3E}">
        <p14:creationId xmlns:p14="http://schemas.microsoft.com/office/powerpoint/2010/main" val="213498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F27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第二阶段机制完善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：事件情绪与官方态度分离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78899A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9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5">
            <a:extLst>
              <a:ext uri="{FF2B5EF4-FFF2-40B4-BE49-F238E27FC236}">
                <a16:creationId xmlns:a16="http://schemas.microsoft.com/office/drawing/2014/main" id="{0CDF4319-779A-42D2-C533-DA136AC80F44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系统把“对事件的感受”和“对官方信息的判断”作为两个独立问题。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F0525A6-A950-B4AA-613E-4B19D0FB328C}"/>
              </a:ext>
            </a:extLst>
          </p:cNvPr>
          <p:cNvSpPr>
            <a:spLocks noGrp="1"/>
          </p:cNvSpPr>
          <p:nvPr/>
        </p:nvSpPr>
        <p:spPr>
          <a:xfrm>
            <a:off x="889000" y="1841500"/>
            <a:ext cx="4445000" cy="2413000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8">
            <a:extLst>
              <a:ext uri="{FF2B5EF4-FFF2-40B4-BE49-F238E27FC236}">
                <a16:creationId xmlns:a16="http://schemas.microsoft.com/office/drawing/2014/main" id="{DBF3D05B-C31A-127D-7456-3347FF8D8C5B}"/>
              </a:ext>
            </a:extLst>
          </p:cNvPr>
          <p:cNvSpPr>
            <a:spLocks noGrp="1"/>
          </p:cNvSpPr>
          <p:nvPr/>
        </p:nvSpPr>
        <p:spPr>
          <a:xfrm>
            <a:off x="1270000" y="2095499"/>
            <a:ext cx="3683000" cy="3810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D84A55"/>
                </a:solidFill>
                <a:latin typeface="Microsoft YaHei"/>
                <a:ea typeface="Microsoft YaHei"/>
                <a:cs typeface="Microsoft YaHei"/>
              </a:rPr>
              <a:t>事件情绪</a:t>
            </a:r>
          </a:p>
        </p:txBody>
      </p:sp>
      <p:sp>
        <p:nvSpPr>
          <p:cNvPr id="19" name="文本框 10">
            <a:extLst>
              <a:ext uri="{FF2B5EF4-FFF2-40B4-BE49-F238E27FC236}">
                <a16:creationId xmlns:a16="http://schemas.microsoft.com/office/drawing/2014/main" id="{970B34A4-356F-7B2A-1CBB-05F1A4BE4AD5}"/>
              </a:ext>
            </a:extLst>
          </p:cNvPr>
          <p:cNvSpPr>
            <a:spLocks noGrp="1"/>
          </p:cNvSpPr>
          <p:nvPr/>
        </p:nvSpPr>
        <p:spPr>
          <a:xfrm>
            <a:off x="1333500" y="2730500"/>
            <a:ext cx="3556000" cy="74635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4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正面 / 中性 / 负面</a:t>
            </a:r>
          </a:p>
          <a:p>
            <a:pPr algn="ctr">
              <a:buNone/>
            </a:pPr>
            <a:r>
              <a:rPr sz="14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回答：如何看待事件后果、处置过程和公共讨论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6865B5B-9D27-9E05-A794-C4F3365958FD}"/>
              </a:ext>
            </a:extLst>
          </p:cNvPr>
          <p:cNvSpPr>
            <a:spLocks noGrp="1"/>
          </p:cNvSpPr>
          <p:nvPr/>
        </p:nvSpPr>
        <p:spPr>
          <a:xfrm>
            <a:off x="6858000" y="1841500"/>
            <a:ext cx="4445000" cy="2413000"/>
          </a:xfrm>
          <a:prstGeom prst="roundRect">
            <a:avLst/>
          </a:prstGeom>
          <a:solidFill>
            <a:srgbClr val="E6F7F4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文本框 21">
            <a:extLst>
              <a:ext uri="{FF2B5EF4-FFF2-40B4-BE49-F238E27FC236}">
                <a16:creationId xmlns:a16="http://schemas.microsoft.com/office/drawing/2014/main" id="{11A073E5-886D-2826-CC78-8DE07E197287}"/>
              </a:ext>
            </a:extLst>
          </p:cNvPr>
          <p:cNvSpPr>
            <a:spLocks noGrp="1"/>
          </p:cNvSpPr>
          <p:nvPr/>
        </p:nvSpPr>
        <p:spPr>
          <a:xfrm>
            <a:off x="7239000" y="2095499"/>
            <a:ext cx="3683000" cy="3810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官方态度</a:t>
            </a:r>
          </a:p>
        </p:txBody>
      </p:sp>
      <p:sp>
        <p:nvSpPr>
          <p:cNvPr id="34" name="文本框 23">
            <a:extLst>
              <a:ext uri="{FF2B5EF4-FFF2-40B4-BE49-F238E27FC236}">
                <a16:creationId xmlns:a16="http://schemas.microsoft.com/office/drawing/2014/main" id="{D7434EF3-A60A-B318-C94E-5D03A6DC43D6}"/>
              </a:ext>
            </a:extLst>
          </p:cNvPr>
          <p:cNvSpPr>
            <a:spLocks noGrp="1"/>
          </p:cNvSpPr>
          <p:nvPr/>
        </p:nvSpPr>
        <p:spPr>
          <a:xfrm>
            <a:off x="7302500" y="2730500"/>
            <a:ext cx="3556000" cy="74635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4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接受 / 观望 / 质疑</a:t>
            </a:r>
          </a:p>
          <a:p>
            <a:pPr algn="ctr">
              <a:buNone/>
            </a:pPr>
            <a:r>
              <a:rPr sz="14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回答：当前通告是否可信、完整并具有回应价值</a:t>
            </a:r>
          </a:p>
        </p:txBody>
      </p:sp>
      <p:sp>
        <p:nvSpPr>
          <p:cNvPr id="36" name="文本框 24">
            <a:extLst>
              <a:ext uri="{FF2B5EF4-FFF2-40B4-BE49-F238E27FC236}">
                <a16:creationId xmlns:a16="http://schemas.microsoft.com/office/drawing/2014/main" id="{A1E4D043-C0B8-9E0C-560E-66D2BCCC14C7}"/>
              </a:ext>
            </a:extLst>
          </p:cNvPr>
          <p:cNvSpPr>
            <a:spLocks noGrp="1"/>
          </p:cNvSpPr>
          <p:nvPr/>
        </p:nvSpPr>
        <p:spPr>
          <a:xfrm>
            <a:off x="5334000" y="2666999"/>
            <a:ext cx="1524000" cy="300082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4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可以同时存在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0C9D4D2-83C7-8606-429E-E744B1538AFF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ED17657-24FD-BDB0-5B6B-56479E4F0CE3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文本框 27">
            <a:extLst>
              <a:ext uri="{FF2B5EF4-FFF2-40B4-BE49-F238E27FC236}">
                <a16:creationId xmlns:a16="http://schemas.microsoft.com/office/drawing/2014/main" id="{23504342-6300-5972-27AF-C99AC87FC322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44" name="文本框 28">
            <a:extLst>
              <a:ext uri="{FF2B5EF4-FFF2-40B4-BE49-F238E27FC236}">
                <a16:creationId xmlns:a16="http://schemas.microsoft.com/office/drawing/2014/main" id="{393245BB-507F-0743-AC6F-3A4DC69898F9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人们可能认可通告中的部分事实，却仍对事件后果感到不满。也可能情绪平静，但对通告是否完整保持怀疑。把两个问题分开，可以避免在逻辑上把接受通告直接等同于情绪改善，并为差异化判断提供基础。</a:t>
            </a:r>
          </a:p>
        </p:txBody>
      </p:sp>
      <p:sp>
        <p:nvSpPr>
          <p:cNvPr id="46" name="文本框 29">
            <a:extLst>
              <a:ext uri="{FF2B5EF4-FFF2-40B4-BE49-F238E27FC236}">
                <a16:creationId xmlns:a16="http://schemas.microsoft.com/office/drawing/2014/main" id="{9193F754-B964-3262-72B1-0CB767F6402D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212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机制边界：接受通告不等于情绪改善；质疑通告也不必然等于负面情绪；字段分离不保证群体一定分化。</a:t>
            </a:r>
          </a:p>
        </p:txBody>
      </p:sp>
    </p:spTree>
    <p:extLst>
      <p:ext uri="{BB962C8B-B14F-4D97-AF65-F5344CB8AC3E}">
        <p14:creationId xmlns:p14="http://schemas.microsoft.com/office/powerpoint/2010/main" val="372236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F27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第二阶段机制完善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：官方通告的进场时机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78899A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9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C9A99C-1680-478A-B57D-0CDB331FC58D}"/>
              </a:ext>
            </a:extLst>
          </p:cNvPr>
          <p:cNvSpPr txBox="1"/>
          <p:nvPr/>
        </p:nvSpPr>
        <p:spPr>
          <a:xfrm>
            <a:off x="698500" y="1244599"/>
            <a:ext cx="10795000" cy="315471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在历史趋势复现中，通告按照真实发布时间对应的轮次进入。五策略实验则根据动态进场条件，在触发后的下一轮投入回应。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5D92940-2632-8FF9-F698-9314CA2E0684}"/>
              </a:ext>
            </a:extLst>
          </p:cNvPr>
          <p:cNvCxnSpPr/>
          <p:nvPr/>
        </p:nvCxnSpPr>
        <p:spPr>
          <a:xfrm>
            <a:off x="1587500" y="2794000"/>
            <a:ext cx="9017000" cy="0"/>
          </a:xfrm>
          <a:prstGeom prst="line">
            <a:avLst/>
          </a:prstGeom>
          <a:ln w="25400">
            <a:solidFill>
              <a:srgbClr val="7889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38479474-7EC1-B5C6-C4DF-944A9389CF2B}"/>
              </a:ext>
            </a:extLst>
          </p:cNvPr>
          <p:cNvSpPr/>
          <p:nvPr/>
        </p:nvSpPr>
        <p:spPr>
          <a:xfrm>
            <a:off x="1778000" y="2438400"/>
            <a:ext cx="711200" cy="7112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65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6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DFC88E-8C88-2E78-946D-9A122ED4C5E0}"/>
              </a:ext>
            </a:extLst>
          </p:cNvPr>
          <p:cNvSpPr txBox="1"/>
          <p:nvPr/>
        </p:nvSpPr>
        <p:spPr>
          <a:xfrm>
            <a:off x="1143000" y="3454400"/>
            <a:ext cx="20320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发布前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DF36B2-24D4-7265-905C-E890ADBEFD6D}"/>
              </a:ext>
            </a:extLst>
          </p:cNvPr>
          <p:cNvSpPr txBox="1"/>
          <p:nvPr/>
        </p:nvSpPr>
        <p:spPr>
          <a:xfrm>
            <a:off x="825500" y="3962400"/>
            <a:ext cx="2667000" cy="483209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en-US" altLang="zh-CN" sz="1320">
                <a:solidFill>
                  <a:srgbClr val="24374C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320">
                <a:solidFill>
                  <a:srgbClr val="24374C"/>
                </a:solidFill>
                <a:latin typeface="Microsoft YaHei" panose="020B0503020204020204" pitchFamily="34" charset="-122"/>
              </a:rPr>
              <a:t>看不到通告，官方态度为不适用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99DBADE-D1DA-9774-8B6D-2B4057514764}"/>
              </a:ext>
            </a:extLst>
          </p:cNvPr>
          <p:cNvSpPr/>
          <p:nvPr/>
        </p:nvSpPr>
        <p:spPr>
          <a:xfrm>
            <a:off x="5842000" y="2438400"/>
            <a:ext cx="711200" cy="711200"/>
          </a:xfrm>
          <a:prstGeom prst="ellipse">
            <a:avLst/>
          </a:prstGeom>
          <a:solidFill>
            <a:srgbClr val="EE7D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65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6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B6CC22-91D2-9C63-8FC1-5309C834E712}"/>
              </a:ext>
            </a:extLst>
          </p:cNvPr>
          <p:cNvSpPr txBox="1"/>
          <p:nvPr/>
        </p:nvSpPr>
        <p:spPr>
          <a:xfrm>
            <a:off x="5207000" y="3454400"/>
            <a:ext cx="20320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发布当轮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AD075DE-9590-D479-7292-31C1F8A6D334}"/>
              </a:ext>
            </a:extLst>
          </p:cNvPr>
          <p:cNvSpPr txBox="1"/>
          <p:nvPr/>
        </p:nvSpPr>
        <p:spPr>
          <a:xfrm>
            <a:off x="4889500" y="3962399"/>
            <a:ext cx="2667000" cy="3937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320">
                <a:solidFill>
                  <a:srgbClr val="24374C"/>
                </a:solidFill>
                <a:latin typeface="Microsoft YaHei" panose="020B0503020204020204" pitchFamily="34" charset="-122"/>
              </a:rPr>
              <a:t>写入通告原文并标记本轮新发布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663D950-01D9-EE41-8C76-EA7926DDF807}"/>
              </a:ext>
            </a:extLst>
          </p:cNvPr>
          <p:cNvSpPr/>
          <p:nvPr/>
        </p:nvSpPr>
        <p:spPr>
          <a:xfrm>
            <a:off x="9906000" y="2438400"/>
            <a:ext cx="711200" cy="7112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CN" sz="165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6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5036E0D-024B-26A3-8B9E-E53D33F8C904}"/>
              </a:ext>
            </a:extLst>
          </p:cNvPr>
          <p:cNvSpPr txBox="1"/>
          <p:nvPr/>
        </p:nvSpPr>
        <p:spPr>
          <a:xfrm>
            <a:off x="9271000" y="3454400"/>
            <a:ext cx="20320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后续轮次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8566D31-5E02-194E-9773-AC644990AE8C}"/>
              </a:ext>
            </a:extLst>
          </p:cNvPr>
          <p:cNvSpPr txBox="1"/>
          <p:nvPr/>
        </p:nvSpPr>
        <p:spPr>
          <a:xfrm>
            <a:off x="8953500" y="3962400"/>
            <a:ext cx="2667000" cy="483209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CN" altLang="en-US" sz="1320">
                <a:solidFill>
                  <a:srgbClr val="24374C"/>
                </a:solidFill>
                <a:latin typeface="Microsoft YaHei" panose="020B0503020204020204" pitchFamily="34" charset="-122"/>
              </a:rPr>
              <a:t>通告继续有效，但不重复视为新刺激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EF180E9-9E4F-EF00-1F2A-235941F5C489}"/>
              </a:ext>
            </a:extLst>
          </p:cNvPr>
          <p:cNvSpPr/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0CEC092-4DAF-EC18-9C53-2DF7D4D1AD44}"/>
              </a:ext>
            </a:extLst>
          </p:cNvPr>
          <p:cNvSpPr/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37F0156-6E00-F5B0-1262-856E11A8939A}"/>
              </a:ext>
            </a:extLst>
          </p:cNvPr>
          <p:cNvSpPr txBox="1"/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E76F22"/>
                </a:solidFill>
                <a:latin typeface="Microsoft YaHei" panose="020B0503020204020204" pitchFamily="34" charset="-122"/>
              </a:rPr>
              <a:t>为什么这样设计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8178EDA-BEA2-6ECB-70C2-885D834C707A}"/>
              </a:ext>
            </a:extLst>
          </p:cNvPr>
          <p:cNvSpPr txBox="1"/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80">
                <a:solidFill>
                  <a:srgbClr val="132D47"/>
                </a:solidFill>
                <a:latin typeface="Microsoft YaHei" panose="020B0503020204020204" pitchFamily="34" charset="-122"/>
              </a:rPr>
              <a:t>通告首次发布时会带来新信息，之后只是持续存在。如果系统每轮都把同一份通告当作新消息，它的作用会被反复放大。区分发布当轮和后续轮次，更接近公众真实的接收过程。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49A11CA-FCAF-93BB-A360-A99213687221}"/>
              </a:ext>
            </a:extLst>
          </p:cNvPr>
          <p:cNvSpPr txBox="1"/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通告内容进入证据环境后，</a:t>
            </a:r>
            <a:r>
              <a:rPr lang="en-US" altLang="zh-CN" sz="1220">
                <a:solidFill>
                  <a:srgbClr val="607489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220">
                <a:solidFill>
                  <a:srgbClr val="607489"/>
                </a:solidFill>
                <a:latin typeface="Microsoft YaHei" panose="020B0503020204020204" pitchFamily="34" charset="-122"/>
              </a:rPr>
              <a:t>仍可接受、观望或质疑；系统不预设任何通告必然带来情绪改善。</a:t>
            </a:r>
          </a:p>
        </p:txBody>
      </p:sp>
    </p:spTree>
    <p:extLst>
      <p:ext uri="{BB962C8B-B14F-4D97-AF65-F5344CB8AC3E}">
        <p14:creationId xmlns:p14="http://schemas.microsoft.com/office/powerpoint/2010/main" val="239555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 txBox="1"/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50" b="1">
                <a:solidFill>
                  <a:srgbClr val="F27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第二阶段机制完善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 txBox="1"/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r>
              <a:rPr lang="en-US" altLang="zh-CN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CN" altLang="en-US" sz="2400" b="1">
                <a:solidFill>
                  <a:srgbClr val="0D31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：历史回放的信息边界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59F2B32-782E-9786-5BC1-40B6BD57FC81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8516A34-0DE7-3BE8-92AB-33B9BCF5FBB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F6A95B-6A9E-D92C-878F-81F67F1474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78899A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9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D37FD0-FA40-41E5-0541-04F5A69B302D}"/>
              </a:ext>
            </a:extLst>
          </p:cNvPr>
          <p:cNvSpPr txBox="1"/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历史材料用于还原当时能够获得的信息，不用于向</a:t>
            </a:r>
            <a:r>
              <a:rPr lang="en-US" altLang="zh-CN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550" b="1">
                <a:solidFill>
                  <a:srgbClr val="109D94"/>
                </a:solidFill>
                <a:latin typeface="Microsoft YaHei" panose="020B0503020204020204" pitchFamily="34" charset="-122"/>
              </a:rPr>
              <a:t>泄露未来结果。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E8E5DA0-7461-5AC2-846F-15061095D840}"/>
              </a:ext>
            </a:extLst>
          </p:cNvPr>
          <p:cNvSpPr/>
          <p:nvPr/>
        </p:nvSpPr>
        <p:spPr>
          <a:xfrm>
            <a:off x="698500" y="1841500"/>
            <a:ext cx="76200" cy="1422400"/>
          </a:xfrm>
          <a:prstGeom prst="roundRect">
            <a:avLst/>
          </a:prstGeom>
          <a:solidFill>
            <a:srgbClr val="109D94"/>
          </a:solidFill>
          <a:ln w="12700">
            <a:solidFill>
              <a:srgbClr val="109D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EC91EB-0763-2B15-4ABD-3E362B6D08BA}"/>
              </a:ext>
            </a:extLst>
          </p:cNvPr>
          <p:cNvSpPr txBox="1"/>
          <p:nvPr/>
        </p:nvSpPr>
        <p:spPr>
          <a:xfrm>
            <a:off x="9779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本轮允许进入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15AF78-A83B-2740-56F2-F587677BB175}"/>
              </a:ext>
            </a:extLst>
          </p:cNvPr>
          <p:cNvSpPr txBox="1"/>
          <p:nvPr/>
        </p:nvSpPr>
        <p:spPr>
          <a:xfrm>
            <a:off x="9779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事件初始资料；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当轮已经发生的客观事实；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已经到达发布时间的官方通告；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系统此前产生的评论与状态。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459162E-1D30-3401-B238-9BF03A3446CE}"/>
              </a:ext>
            </a:extLst>
          </p:cNvPr>
          <p:cNvSpPr/>
          <p:nvPr/>
        </p:nvSpPr>
        <p:spPr>
          <a:xfrm>
            <a:off x="4445000" y="1841500"/>
            <a:ext cx="76200" cy="1422400"/>
          </a:xfrm>
          <a:prstGeom prst="roundRect">
            <a:avLst/>
          </a:prstGeom>
          <a:solidFill>
            <a:srgbClr val="2F70D0"/>
          </a:solidFill>
          <a:ln w="12700">
            <a:solidFill>
              <a:srgbClr val="2F70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FEAB2D-F7BE-DADE-6FC9-2CB0E9B0018B}"/>
              </a:ext>
            </a:extLst>
          </p:cNvPr>
          <p:cNvSpPr txBox="1"/>
          <p:nvPr/>
        </p:nvSpPr>
        <p:spPr>
          <a:xfrm>
            <a:off x="47244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只用于事后对照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4A452AD-279B-3407-8BC1-1132B837279D}"/>
              </a:ext>
            </a:extLst>
          </p:cNvPr>
          <p:cNvSpPr txBox="1"/>
          <p:nvPr/>
        </p:nvSpPr>
        <p:spPr>
          <a:xfrm>
            <a:off x="4724400" y="2273300"/>
            <a:ext cx="3022600" cy="72327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第</a:t>
            </a:r>
            <a:r>
              <a:rPr lang="en-US" altLang="zh-CN" sz="1400">
                <a:solidFill>
                  <a:srgbClr val="24374C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轮以后的人工情绪比例；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人工收集的真实趋势曲线；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模拟与真实材料之间的差异。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8C36F53-0C69-B3F4-412E-BD118EF98F2C}"/>
              </a:ext>
            </a:extLst>
          </p:cNvPr>
          <p:cNvSpPr/>
          <p:nvPr/>
        </p:nvSpPr>
        <p:spPr>
          <a:xfrm>
            <a:off x="8191500" y="1841500"/>
            <a:ext cx="76200" cy="1422400"/>
          </a:xfrm>
          <a:prstGeom prst="roundRect">
            <a:avLst/>
          </a:prstGeom>
          <a:solidFill>
            <a:srgbClr val="D84A55"/>
          </a:solidFill>
          <a:ln w="12700">
            <a:solidFill>
              <a:srgbClr val="D84A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3AEE41D-29D9-FA94-800D-B9ABBB4BC704}"/>
              </a:ext>
            </a:extLst>
          </p:cNvPr>
          <p:cNvSpPr txBox="1"/>
          <p:nvPr/>
        </p:nvSpPr>
        <p:spPr>
          <a:xfrm>
            <a:off x="84709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650" b="1">
                <a:solidFill>
                  <a:srgbClr val="0D3158"/>
                </a:solidFill>
                <a:latin typeface="Microsoft YaHei" panose="020B0503020204020204" pitchFamily="34" charset="-122"/>
              </a:rPr>
              <a:t>当前轮禁止进入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432529-7E82-560A-6E78-7E2CB8F0A799}"/>
              </a:ext>
            </a:extLst>
          </p:cNvPr>
          <p:cNvSpPr txBox="1"/>
          <p:nvPr/>
        </p:nvSpPr>
        <p:spPr>
          <a:xfrm>
            <a:off x="84709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未来阶段才发生的事实；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未来真实评论；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为了贴合曲线设置的群体配额；</a:t>
            </a:r>
          </a:p>
          <a:p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根据结果强制修改</a:t>
            </a:r>
            <a:r>
              <a:rPr lang="en-US" altLang="zh-CN" sz="1400">
                <a:solidFill>
                  <a:srgbClr val="24374C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400">
                <a:solidFill>
                  <a:srgbClr val="24374C"/>
                </a:solidFill>
                <a:latin typeface="Microsoft YaHei" panose="020B0503020204020204" pitchFamily="34" charset="-122"/>
              </a:rPr>
              <a:t>状态。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CB3134D-3296-7D7A-234C-08A2340CB75A}"/>
              </a:ext>
            </a:extLst>
          </p:cNvPr>
          <p:cNvSpPr/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6393C27-20F2-F5F3-37F6-35347D465189}"/>
              </a:ext>
            </a:extLst>
          </p:cNvPr>
          <p:cNvSpPr/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A69A48-265A-C5ED-48E6-6E97BF70233B}"/>
              </a:ext>
            </a:extLst>
          </p:cNvPr>
          <p:cNvSpPr txBox="1"/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E76F22"/>
                </a:solidFill>
                <a:latin typeface="Microsoft YaHei" panose="020B0503020204020204" pitchFamily="34" charset="-122"/>
              </a:rPr>
              <a:t>为什么这样设计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644CBDA-3458-5E1B-3BAA-998A407F3370}"/>
              </a:ext>
            </a:extLst>
          </p:cNvPr>
          <p:cNvSpPr txBox="1"/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80">
                <a:solidFill>
                  <a:srgbClr val="132D47"/>
                </a:solidFill>
                <a:latin typeface="Microsoft YaHei" panose="020B0503020204020204" pitchFamily="34" charset="-122"/>
              </a:rPr>
              <a:t>历史复现要还原当时的人能够知道什么，不能把后来出现的事实和真实趋势提前交给</a:t>
            </a:r>
            <a:r>
              <a:rPr lang="en-US" altLang="zh-CN" sz="1480">
                <a:solidFill>
                  <a:srgbClr val="132D47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1480">
                <a:solidFill>
                  <a:srgbClr val="132D47"/>
                </a:solidFill>
                <a:latin typeface="Microsoft YaHei" panose="020B0503020204020204" pitchFamily="34" charset="-122"/>
              </a:rPr>
              <a:t>。严格限制信息进入时间，才能观察系统在相同历史条件下如何自然演化，而不是照着答案复制曲线。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903B0B-28EF-269D-30FC-0EC3C04D2465}"/>
              </a:ext>
            </a:extLst>
          </p:cNvPr>
          <p:cNvSpPr txBox="1"/>
          <p:nvPr/>
        </p:nvSpPr>
        <p:spPr>
          <a:xfrm>
            <a:off x="762000" y="6045200"/>
            <a:ext cx="10668000" cy="507831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CN" altLang="zh-CN" sz="1400"/>
              <a:t>第一轮人工舆情比例只用于初始化评论环境。第2轮以后不再注入人工情绪比例，但仍会输入当轮历史语境和客观证据；舆情走势由增量公共评论、Agent决策和社交网络传播共同形成。</a:t>
            </a:r>
            <a:endParaRPr lang="zh-CN" altLang="en-US" sz="1220">
              <a:solidFill>
                <a:srgbClr val="60748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691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D32E99-5F8A-B55C-8654-EB5993CB1F7E}"/>
              </a:ext>
            </a:extLst>
          </p:cNvPr>
          <p:cNvSpPr txBox="1"/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工程实现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AC0D95-B648-5007-ED8C-332C5DE1EAF0}"/>
              </a:ext>
            </a:extLst>
          </p:cNvPr>
          <p:cNvSpPr txBox="1"/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一次实验由多个相互依赖的模块共同完成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5565223-2231-D6EE-7E2E-8DCBAAA0E2B7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A6A968C0-362E-9582-6A78-3FA33C925A1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ECD76F-4222-4B19-1272-27DEEDAC6F5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FCC778D-0B5D-2390-B03A-9FF5CBDF5DA4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EB21C30-30B5-963E-A472-D00D5B4B5551}"/>
              </a:ext>
            </a:extLst>
          </p:cNvPr>
          <p:cNvSpPr>
            <a:spLocks noGrp="1"/>
          </p:cNvSpPr>
          <p:nvPr/>
        </p:nvSpPr>
        <p:spPr>
          <a:xfrm>
            <a:off x="1016000" y="1333500"/>
            <a:ext cx="1905000" cy="635000"/>
          </a:xfrm>
          <a:prstGeom prst="roundRect">
            <a:avLst/>
          </a:prstGeom>
          <a:solidFill>
            <a:srgbClr val="1659B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F780B53-772E-3154-CB7B-E97999C74F2B}"/>
              </a:ext>
            </a:extLst>
          </p:cNvPr>
          <p:cNvSpPr>
            <a:spLocks noGrp="1"/>
          </p:cNvSpPr>
          <p:nvPr/>
        </p:nvSpPr>
        <p:spPr>
          <a:xfrm>
            <a:off x="3111500" y="1333500"/>
            <a:ext cx="8064500" cy="635000"/>
          </a:xfrm>
          <a:prstGeom prst="roundRect">
            <a:avLst/>
          </a:prstGeom>
          <a:solidFill>
            <a:srgbClr val="EAF3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MongoDB原始数据、Persona与事件JSON；Excel用于离线整理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FD8C7D2-F805-5FD3-49F8-A0F4D2355F95}"/>
              </a:ext>
            </a:extLst>
          </p:cNvPr>
          <p:cNvSpPr>
            <a:spLocks noGrp="1"/>
          </p:cNvSpPr>
          <p:nvPr/>
        </p:nvSpPr>
        <p:spPr>
          <a:xfrm>
            <a:off x="1016000" y="2197100"/>
            <a:ext cx="1905000" cy="635000"/>
          </a:xfrm>
          <a:prstGeom prst="roundRect">
            <a:avLst/>
          </a:prstGeom>
          <a:solidFill>
            <a:srgbClr val="12A59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E539DF3-82A6-0BC4-6403-F97BFD128FE8}"/>
              </a:ext>
            </a:extLst>
          </p:cNvPr>
          <p:cNvSpPr>
            <a:spLocks noGrp="1"/>
          </p:cNvSpPr>
          <p:nvPr/>
        </p:nvSpPr>
        <p:spPr>
          <a:xfrm>
            <a:off x="3111500" y="2197100"/>
            <a:ext cx="8064500" cy="6350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评论生成、Agent决策、状态记忆和社交传播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763B724-6043-053D-4558-8400ECBD1175}"/>
              </a:ext>
            </a:extLst>
          </p:cNvPr>
          <p:cNvSpPr>
            <a:spLocks noGrp="1"/>
          </p:cNvSpPr>
          <p:nvPr/>
        </p:nvSpPr>
        <p:spPr>
          <a:xfrm>
            <a:off x="1016000" y="3060700"/>
            <a:ext cx="1905000" cy="635000"/>
          </a:xfrm>
          <a:prstGeom prst="roundRect">
            <a:avLst/>
          </a:prstGeom>
          <a:solidFill>
            <a:srgbClr val="F28C2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09BF881-5DC5-725E-097E-210270DA6935}"/>
              </a:ext>
            </a:extLst>
          </p:cNvPr>
          <p:cNvSpPr>
            <a:spLocks noGrp="1"/>
          </p:cNvSpPr>
          <p:nvPr/>
        </p:nvSpPr>
        <p:spPr>
          <a:xfrm>
            <a:off x="3111500" y="3060700"/>
            <a:ext cx="8064500" cy="6350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五策略分叉与条件化历史回放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A2CE1B9-F7F7-521E-0EDA-0C219F0D5F00}"/>
              </a:ext>
            </a:extLst>
          </p:cNvPr>
          <p:cNvSpPr>
            <a:spLocks noGrp="1"/>
          </p:cNvSpPr>
          <p:nvPr/>
        </p:nvSpPr>
        <p:spPr>
          <a:xfrm>
            <a:off x="1016000" y="3924300"/>
            <a:ext cx="1905000" cy="635000"/>
          </a:xfrm>
          <a:prstGeom prst="roundRect">
            <a:avLst/>
          </a:prstGeom>
          <a:solidFill>
            <a:srgbClr val="D94B5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18C8278-2978-26BD-E469-57313E57239F}"/>
              </a:ext>
            </a:extLst>
          </p:cNvPr>
          <p:cNvSpPr>
            <a:spLocks noGrp="1"/>
          </p:cNvSpPr>
          <p:nvPr/>
        </p:nvSpPr>
        <p:spPr>
          <a:xfrm>
            <a:off x="3111500" y="3924300"/>
            <a:ext cx="8064500" cy="635000"/>
          </a:xfrm>
          <a:prstGeom prst="roundRect">
            <a:avLst/>
          </a:prstGeom>
          <a:solidFill>
            <a:srgbClr val="FDECE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输入快照、JSON/JSONL过程记录和指标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E30A56E-78DB-89B7-B6E7-2F45A5261854}"/>
              </a:ext>
            </a:extLst>
          </p:cNvPr>
          <p:cNvSpPr>
            <a:spLocks noGrp="1"/>
          </p:cNvSpPr>
          <p:nvPr/>
        </p:nvSpPr>
        <p:spPr>
          <a:xfrm>
            <a:off x="1016000" y="4787900"/>
            <a:ext cx="1905000" cy="635000"/>
          </a:xfrm>
          <a:prstGeom prst="roundRect">
            <a:avLst/>
          </a:prstGeom>
          <a:solidFill>
            <a:srgbClr val="7157A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7600B28-65B2-04BE-C13A-FFDE3B798908}"/>
              </a:ext>
            </a:extLst>
          </p:cNvPr>
          <p:cNvSpPr>
            <a:spLocks noGrp="1"/>
          </p:cNvSpPr>
          <p:nvPr/>
        </p:nvSpPr>
        <p:spPr>
          <a:xfrm>
            <a:off x="3111500" y="4787900"/>
            <a:ext cx="8064500" cy="635000"/>
          </a:xfrm>
          <a:prstGeom prst="roundRect">
            <a:avLst/>
          </a:prstGeom>
          <a:solidFill>
            <a:srgbClr val="F0ECF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历史页面、五策略页面和共享网络</a:t>
            </a:r>
          </a:p>
        </p:txBody>
      </p:sp>
    </p:spTree>
    <p:extLst>
      <p:ext uri="{BB962C8B-B14F-4D97-AF65-F5344CB8AC3E}">
        <p14:creationId xmlns:p14="http://schemas.microsoft.com/office/powerpoint/2010/main" val="243033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043A546-A484-BC9C-143E-A66CD42B23E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244581-F0C5-6197-58FA-3A87887E09B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0CFC111-F671-BDB4-6FEB-DF4B891CA30D}"/>
              </a:ext>
            </a:extLst>
          </p:cNvPr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90E5179-23AA-4266-9E57-02A264E01F36}"/>
              </a:ext>
            </a:extLst>
          </p:cNvPr>
          <p:cNvSpPr txBox="1"/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54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5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52E994A-0D66-3FAB-457C-7B3FACEE9746}"/>
              </a:ext>
            </a:extLst>
          </p:cNvPr>
          <p:cNvSpPr txBox="1"/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97CDDC"/>
                </a:solidFill>
                <a:latin typeface="Microsoft YaHei" panose="020B0503020204020204" pitchFamily="34" charset="-122"/>
              </a:rPr>
              <a:t>SECTION</a:t>
            </a:r>
            <a:endParaRPr lang="zh-CN" altLang="en-US" sz="1100" b="1">
              <a:solidFill>
                <a:srgbClr val="97CDD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89B451F-A07A-4BF9-383F-4240CFBFBB88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26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E16693-AF9E-6C28-DC8F-6134E36912E1}"/>
              </a:ext>
            </a:extLst>
          </p:cNvPr>
          <p:cNvSpPr txBox="1"/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600" b="1">
                <a:solidFill>
                  <a:srgbClr val="0C2B4C"/>
                </a:solidFill>
                <a:latin typeface="Microsoft YaHei" panose="020B0503020204020204" pitchFamily="34" charset="-122"/>
              </a:rPr>
              <a:t>实验与演示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BF2CBC-C65C-8109-41F2-0FADEE699424}"/>
              </a:ext>
            </a:extLst>
          </p:cNvPr>
          <p:cNvSpPr txBox="1"/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536578"/>
                </a:solidFill>
                <a:latin typeface="Microsoft YaHei" panose="020B0503020204020204" pitchFamily="34" charset="-122"/>
              </a:rPr>
              <a:t>当前实验状态、现场系统与问题暴露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6A3DB44-D9C3-B02F-351B-C6C0D777CF0A}"/>
              </a:ext>
            </a:extLst>
          </p:cNvPr>
          <p:cNvCxnSpPr/>
          <p:nvPr/>
        </p:nvCxn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E04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5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327585-1A92-DB6F-81F6-DC0482CEBB32}"/>
              </a:ext>
            </a:extLst>
          </p:cNvPr>
          <p:cNvSpPr txBox="1"/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8D1AB0-2E8A-EDBB-0DE6-4C73D0839554}"/>
              </a:ext>
            </a:extLst>
          </p:cNvPr>
          <p:cNvSpPr txBox="1"/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现场系统演示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F9F32CD-C0B9-C111-ADCE-B1B714852749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AEBB171F-C89B-3A43-61D2-5F9B92BB6D8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E9A982-A918-240B-111F-04EF6C49CFB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DA3A5D4-8798-9E01-6AFC-2E68356C780D}"/>
              </a:ext>
            </a:extLst>
          </p:cNvPr>
          <p:cNvSpPr txBox="1"/>
          <p:nvPr/>
        </p:nvSpPr>
        <p:spPr>
          <a:xfrm>
            <a:off x="1397000" y="1460500"/>
            <a:ext cx="9398000" cy="4257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21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汇报时在本机打开已经完成的实验批次，不在现场调用大模型。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F8DB13C-2103-2783-1231-5C7D3816A415}"/>
              </a:ext>
            </a:extLst>
          </p:cNvPr>
          <p:cNvSpPr/>
          <p:nvPr/>
        </p:nvSpPr>
        <p:spPr>
          <a:xfrm>
            <a:off x="1333500" y="2667000"/>
            <a:ext cx="889000" cy="889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D5D693-560C-E4AD-E4B7-080C751FF3E9}"/>
              </a:ext>
            </a:extLst>
          </p:cNvPr>
          <p:cNvSpPr txBox="1"/>
          <p:nvPr/>
        </p:nvSpPr>
        <p:spPr>
          <a:xfrm>
            <a:off x="7620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选择实验模式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36545FA-CB0B-ABAB-C4BB-FD9D0A2EB6A8}"/>
              </a:ext>
            </a:extLst>
          </p:cNvPr>
          <p:cNvCxnSpPr/>
          <p:nvPr/>
        </p:nvCxnSpPr>
        <p:spPr>
          <a:xfrm>
            <a:off x="2260600" y="3111500"/>
            <a:ext cx="660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0D1E3284-81CC-88A1-BA8C-9919CB8F7C62}"/>
              </a:ext>
            </a:extLst>
          </p:cNvPr>
          <p:cNvSpPr/>
          <p:nvPr/>
        </p:nvSpPr>
        <p:spPr>
          <a:xfrm>
            <a:off x="3556000" y="2667000"/>
            <a:ext cx="889000" cy="889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BC599F-E747-221F-4E8B-B80F2738CB71}"/>
              </a:ext>
            </a:extLst>
          </p:cNvPr>
          <p:cNvSpPr txBox="1"/>
          <p:nvPr/>
        </p:nvSpPr>
        <p:spPr>
          <a:xfrm>
            <a:off x="29845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查看事件时间线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6356BD1-8D34-9B4E-B4A6-CE707D53CC6E}"/>
              </a:ext>
            </a:extLst>
          </p:cNvPr>
          <p:cNvCxnSpPr/>
          <p:nvPr/>
        </p:nvCxnSpPr>
        <p:spPr>
          <a:xfrm>
            <a:off x="4483100" y="3111500"/>
            <a:ext cx="660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0AE658DF-B2E5-FBAF-F63A-45FF250F809F}"/>
              </a:ext>
            </a:extLst>
          </p:cNvPr>
          <p:cNvSpPr/>
          <p:nvPr/>
        </p:nvSpPr>
        <p:spPr>
          <a:xfrm>
            <a:off x="5778500" y="2667000"/>
            <a:ext cx="889000" cy="889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556854-4F47-9025-89C7-D93000A2642F}"/>
              </a:ext>
            </a:extLst>
          </p:cNvPr>
          <p:cNvSpPr txBox="1"/>
          <p:nvPr/>
        </p:nvSpPr>
        <p:spPr>
          <a:xfrm>
            <a:off x="52070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观察情绪与官方态度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1A5CFD0-59AC-5CBE-2C91-4EBBFF1D2276}"/>
              </a:ext>
            </a:extLst>
          </p:cNvPr>
          <p:cNvCxnSpPr/>
          <p:nvPr/>
        </p:nvCxnSpPr>
        <p:spPr>
          <a:xfrm>
            <a:off x="6705600" y="3111500"/>
            <a:ext cx="660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9EFECDCD-C3A2-1619-D6E7-B374F3679747}"/>
              </a:ext>
            </a:extLst>
          </p:cNvPr>
          <p:cNvSpPr/>
          <p:nvPr/>
        </p:nvSpPr>
        <p:spPr>
          <a:xfrm>
            <a:off x="8001000" y="2667000"/>
            <a:ext cx="889000" cy="889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B3B2C9-C07B-4467-D442-E9B77E7EEA57}"/>
              </a:ext>
            </a:extLst>
          </p:cNvPr>
          <p:cNvSpPr txBox="1"/>
          <p:nvPr/>
        </p:nvSpPr>
        <p:spPr>
          <a:xfrm>
            <a:off x="74295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播放社交网络演化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1C9CBC1-34CB-8E69-A569-C5BAB3D43FE2}"/>
              </a:ext>
            </a:extLst>
          </p:cNvPr>
          <p:cNvCxnSpPr/>
          <p:nvPr/>
        </p:nvCxnSpPr>
        <p:spPr>
          <a:xfrm>
            <a:off x="8928100" y="3111500"/>
            <a:ext cx="660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B1C6A799-51E7-A6FF-92ED-538FC1543F7B}"/>
              </a:ext>
            </a:extLst>
          </p:cNvPr>
          <p:cNvSpPr/>
          <p:nvPr/>
        </p:nvSpPr>
        <p:spPr>
          <a:xfrm>
            <a:off x="10223500" y="2667000"/>
            <a:ext cx="889000" cy="889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E8663F-E245-9F87-B1E3-8BC88E56EFF7}"/>
              </a:ext>
            </a:extLst>
          </p:cNvPr>
          <p:cNvSpPr txBox="1"/>
          <p:nvPr/>
        </p:nvSpPr>
        <p:spPr>
          <a:xfrm>
            <a:off x="96520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追踪单条评论传播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92E21E9-4DF2-2007-7213-202F4C6F42A5}"/>
              </a:ext>
            </a:extLst>
          </p:cNvPr>
          <p:cNvSpPr/>
          <p:nvPr/>
        </p:nvSpPr>
        <p:spPr>
          <a:xfrm>
            <a:off x="2159000" y="4953000"/>
            <a:ext cx="7874000" cy="7874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zh-CN" altLang="en-US" sz="1600" b="1">
                <a:solidFill>
                  <a:srgbClr val="1832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演示重点：展示一处合理变化，也展示一处偏差，说明系统如何暴露机制问题。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85D48F-9950-7F28-DCF9-96304437D107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27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126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6AA4CF6-BED3-0F9B-66C7-EB55DA15E813}"/>
              </a:ext>
            </a:extLst>
          </p:cNvPr>
          <p:cNvSpPr txBox="1"/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实验与演示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8C6AE2-DFD7-958D-C8B6-7E3D3E70DB14}"/>
              </a:ext>
            </a:extLst>
          </p:cNvPr>
          <p:cNvSpPr txBox="1"/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三组</a:t>
            </a:r>
            <a:r>
              <a:rPr lang="en-US" altLang="zh-CN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</a:t>
            </a:r>
            <a:r>
              <a:rPr lang="en-US" altLang="zh-CN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历史批次已经运行完成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3FDE30C-9F84-639C-22FD-1BDBF0983238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6AC8BDA0-109E-5E63-1790-C355FDC8CE1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0E11495-450F-4AC6-67F8-A48C5E98AE0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FE2CE80-7A74-F1CD-EB74-3FF22997DDB2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28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C0A461F-3893-EB05-29F9-896542A07596}"/>
              </a:ext>
            </a:extLst>
          </p:cNvPr>
          <p:cNvGraphicFramePr/>
          <p:nvPr/>
        </p:nvGraphicFramePr>
        <p:xfrm>
          <a:off x="825500" y="1714500"/>
          <a:ext cx="10541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官方信息投入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Agent数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胡某宇事件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3次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流程完成，官方态度仍趋同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保定驾校撞车事件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1次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流程完成，趋势仍需分析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北国先天下撞车事件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1次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流程完成，三阶段版本待分析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A1AAF49-F956-E41D-D7FC-10B95CB06BED}"/>
              </a:ext>
            </a:extLst>
          </p:cNvPr>
          <p:cNvSpPr>
            <a:spLocks noGrp="1"/>
          </p:cNvSpPr>
          <p:nvPr/>
        </p:nvSpPr>
        <p:spPr>
          <a:xfrm>
            <a:off x="1206500" y="4851400"/>
            <a:ext cx="9779000" cy="8255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这里的“完成”表示程序和数据链路完整，不表示已经准确拟合真实公众。30名Agent完整五策略实验仍未全面验收。</a:t>
            </a:r>
          </a:p>
        </p:txBody>
      </p:sp>
    </p:spTree>
    <p:extLst>
      <p:ext uri="{BB962C8B-B14F-4D97-AF65-F5344CB8AC3E}">
        <p14:creationId xmlns:p14="http://schemas.microsoft.com/office/powerpoint/2010/main" val="168823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B36F00-F0BE-3155-0A91-D4FAC2268FCD}"/>
              </a:ext>
            </a:extLst>
          </p:cNvPr>
          <p:cNvSpPr txBox="1"/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100" b="1">
                <a:solidFill>
                  <a:srgbClr val="12A5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当前困难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F55705-5023-2323-30AE-AA1DD496C1EC}"/>
              </a:ext>
            </a:extLst>
          </p:cNvPr>
          <p:cNvSpPr txBox="1"/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23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流程已经闭环，稳定性和代表性仍是主要挑战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C181979-D8BD-2C40-94B0-942B5E5005E6}"/>
              </a:ext>
            </a:extLst>
          </p:cNvPr>
          <p:cNvCxnSpPr/>
          <p:nvPr/>
        </p:nvCxn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2C857A41-255D-F80C-E533-0AB070ACCE0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050F08C-0277-5FB6-27F6-D56950896E5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47CDCFC-0198-D836-176C-4763FA07845F}"/>
              </a:ext>
            </a:extLst>
          </p:cNvPr>
          <p:cNvSpPr/>
          <p:nvPr/>
        </p:nvSpPr>
        <p:spPr>
          <a:xfrm>
            <a:off x="571500" y="1524000"/>
            <a:ext cx="2603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762E249-A7CE-DF4E-6D77-AD460F9AA483}"/>
              </a:ext>
            </a:extLst>
          </p:cNvPr>
          <p:cNvSpPr/>
          <p:nvPr/>
        </p:nvSpPr>
        <p:spPr>
          <a:xfrm>
            <a:off x="800100" y="1752600"/>
            <a:ext cx="457200" cy="4572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83E0E0-0439-D928-12C5-A2090C804463}"/>
              </a:ext>
            </a:extLst>
          </p:cNvPr>
          <p:cNvSpPr txBox="1"/>
          <p:nvPr/>
        </p:nvSpPr>
        <p:spPr>
          <a:xfrm>
            <a:off x="1397000" y="1727200"/>
            <a:ext cx="15621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7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EC9761-4DEA-BAB6-D249-284D39D27D91}"/>
              </a:ext>
            </a:extLst>
          </p:cNvPr>
          <p:cNvSpPr txBox="1"/>
          <p:nvPr/>
        </p:nvSpPr>
        <p:spPr>
          <a:xfrm>
            <a:off x="825500" y="2286000"/>
            <a:ext cx="2095500" cy="110286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平台样本存在偏差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部分阶段评论过少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不同来源口径不一致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DB2E434-DEB7-B658-66D5-0E1914BD4FC0}"/>
              </a:ext>
            </a:extLst>
          </p:cNvPr>
          <p:cNvSpPr/>
          <p:nvPr/>
        </p:nvSpPr>
        <p:spPr>
          <a:xfrm>
            <a:off x="3429000" y="1524000"/>
            <a:ext cx="2603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9BBC691-F170-21E0-95C0-C9436F267281}"/>
              </a:ext>
            </a:extLst>
          </p:cNvPr>
          <p:cNvSpPr/>
          <p:nvPr/>
        </p:nvSpPr>
        <p:spPr>
          <a:xfrm>
            <a:off x="3657600" y="1752600"/>
            <a:ext cx="457200" cy="4572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F3E95D-E813-7814-5076-A44BF3951C10}"/>
              </a:ext>
            </a:extLst>
          </p:cNvPr>
          <p:cNvSpPr txBox="1"/>
          <p:nvPr/>
        </p:nvSpPr>
        <p:spPr>
          <a:xfrm>
            <a:off x="4254500" y="1727200"/>
            <a:ext cx="15621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7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群体机制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BFCDE6-0173-EEF8-128F-76D232B4594C}"/>
              </a:ext>
            </a:extLst>
          </p:cNvPr>
          <p:cNvSpPr txBox="1"/>
          <p:nvPr/>
        </p:nvSpPr>
        <p:spPr>
          <a:xfrm>
            <a:off x="3683000" y="2286000"/>
            <a:ext cx="2095500" cy="130292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en-US" altLang="zh-CN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可能过度趋同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</a:t>
            </a:r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可能被共同信息覆盖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网络强度仍需校准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D25DD7A-E466-7922-BFB5-D27D1236E13E}"/>
              </a:ext>
            </a:extLst>
          </p:cNvPr>
          <p:cNvSpPr/>
          <p:nvPr/>
        </p:nvSpPr>
        <p:spPr>
          <a:xfrm>
            <a:off x="6286500" y="1524000"/>
            <a:ext cx="2603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90B776E-6783-51DD-9ACD-0906EECBDD99}"/>
              </a:ext>
            </a:extLst>
          </p:cNvPr>
          <p:cNvSpPr/>
          <p:nvPr/>
        </p:nvSpPr>
        <p:spPr>
          <a:xfrm>
            <a:off x="6515100" y="17526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E67708-B880-1C96-BA2C-8A9EB1030AB3}"/>
              </a:ext>
            </a:extLst>
          </p:cNvPr>
          <p:cNvSpPr txBox="1"/>
          <p:nvPr/>
        </p:nvSpPr>
        <p:spPr>
          <a:xfrm>
            <a:off x="7112000" y="1727200"/>
            <a:ext cx="15621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7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运行工程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1615D9-0CCD-1AC1-A00C-DC1BA16CA031}"/>
              </a:ext>
            </a:extLst>
          </p:cNvPr>
          <p:cNvSpPr txBox="1"/>
          <p:nvPr/>
        </p:nvSpPr>
        <p:spPr>
          <a:xfrm>
            <a:off x="6540500" y="2286000"/>
            <a:ext cx="2095500" cy="110286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大模型调用成本较高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长流程受网络和</a:t>
            </a:r>
            <a:r>
              <a:rPr lang="en-US" altLang="zh-CN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影响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五策略仍串行执行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73E6E71-C359-3318-4E7F-6658CCB64BCB}"/>
              </a:ext>
            </a:extLst>
          </p:cNvPr>
          <p:cNvSpPr/>
          <p:nvPr/>
        </p:nvSpPr>
        <p:spPr>
          <a:xfrm>
            <a:off x="9144000" y="1524000"/>
            <a:ext cx="2476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endParaRPr lang="zh-CN" altLang="en-US" sz="1700">
              <a:solidFill>
                <a:srgbClr val="1832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09836D0-82F0-8075-0FE8-1D49F60CFDAE}"/>
              </a:ext>
            </a:extLst>
          </p:cNvPr>
          <p:cNvSpPr/>
          <p:nvPr/>
        </p:nvSpPr>
        <p:spPr>
          <a:xfrm>
            <a:off x="9372600" y="1752600"/>
            <a:ext cx="457200" cy="457200"/>
          </a:xfrm>
          <a:prstGeom prst="ellipse">
            <a:avLst/>
          </a:prstGeom>
          <a:solidFill>
            <a:srgbClr val="D94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6CB9CF-2CC3-2165-79A5-8B46556A27BF}"/>
              </a:ext>
            </a:extLst>
          </p:cNvPr>
          <p:cNvSpPr txBox="1"/>
          <p:nvPr/>
        </p:nvSpPr>
        <p:spPr>
          <a:xfrm>
            <a:off x="9969500" y="1727200"/>
            <a:ext cx="1435100" cy="364202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700" b="1">
                <a:solidFill>
                  <a:srgbClr val="0B31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结果评价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4B3014C-D374-DC94-D0EB-18D9374808AD}"/>
              </a:ext>
            </a:extLst>
          </p:cNvPr>
          <p:cNvSpPr txBox="1"/>
          <p:nvPr/>
        </p:nvSpPr>
        <p:spPr>
          <a:xfrm>
            <a:off x="9398000" y="2286000"/>
            <a:ext cx="1968500" cy="130292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曲线接近不等于机制正确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需要多批次报告波动</a:t>
            </a:r>
          </a:p>
          <a:p>
            <a:endParaRPr lang="zh-CN" altLang="en-US" sz="1300">
              <a:solidFill>
                <a:srgbClr val="60758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300">
                <a:solidFill>
                  <a:srgbClr val="6075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缺少跨事件统一标准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D11FD-1D65-48DC-D9E0-9A05511847C9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29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167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043A546-A484-BC9C-143E-A66CD42B23E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244581-F0C5-6197-58FA-3A87887E09B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2E2D8B2-ECD2-84B0-C52C-29D6579884F2}"/>
              </a:ext>
            </a:extLst>
          </p:cNvPr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44A87C5-BBAF-4A14-A26E-5A3FD1FD45A1}"/>
              </a:ext>
            </a:extLst>
          </p:cNvPr>
          <p:cNvSpPr txBox="1"/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5400" b="1">
                <a:solidFill>
                  <a:srgbClr val="FFFF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5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EAE98A0-6516-265A-0D7A-E18D446F2DED}"/>
              </a:ext>
            </a:extLst>
          </p:cNvPr>
          <p:cNvSpPr txBox="1"/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b="1">
                <a:solidFill>
                  <a:srgbClr val="97CDDC"/>
                </a:solidFill>
                <a:latin typeface="Microsoft YaHei" panose="020B0503020204020204" pitchFamily="34" charset="-122"/>
              </a:rPr>
              <a:t>SECTION</a:t>
            </a:r>
            <a:endParaRPr lang="zh-CN" altLang="en-US" sz="1100" b="1">
              <a:solidFill>
                <a:srgbClr val="97CDD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F8330D-FDC1-D9ED-61B0-532511D7C0B1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rtlCol="0" anchor="ctr">
            <a:noAutofit/>
          </a:bodyPr>
          <a:lstStyle/>
          <a:p>
            <a:pPr algn="ctr"/>
            <a:r>
              <a:rPr lang="en-US" altLang="zh-CN" sz="800">
                <a:solidFill>
                  <a:srgbClr val="78899A"/>
                </a:solidFill>
                <a:latin typeface="Microsoft YaHei" panose="020B0503020204020204" pitchFamily="34" charset="-122"/>
              </a:rPr>
              <a:t>30</a:t>
            </a:r>
            <a:endParaRPr lang="zh-CN" altLang="en-US" sz="800">
              <a:solidFill>
                <a:srgbClr val="7889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8CC884-7EDE-4F85-FD5F-57B8A19D3D0B}"/>
              </a:ext>
            </a:extLst>
          </p:cNvPr>
          <p:cNvSpPr txBox="1"/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600" b="1">
                <a:solidFill>
                  <a:srgbClr val="0C2B4C"/>
                </a:solidFill>
                <a:latin typeface="Microsoft YaHei" panose="020B0503020204020204" pitchFamily="34" charset="-122"/>
              </a:rPr>
              <a:t>后续工作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C906CA-30A0-F954-1E2F-03AD98B533B9}"/>
              </a:ext>
            </a:extLst>
          </p:cNvPr>
          <p:cNvSpPr txBox="1"/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536578"/>
                </a:solidFill>
                <a:latin typeface="Microsoft YaHei" panose="020B0503020204020204" pitchFamily="34" charset="-122"/>
              </a:rPr>
              <a:t>稳定性验证、案例扩展与平台工程化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6ABC66B-5C85-36DE-8D87-D0D4F8BFF848}"/>
              </a:ext>
            </a:extLst>
          </p:cNvPr>
          <p:cNvCxnSpPr/>
          <p:nvPr/>
        </p:nvCxn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6F58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2C926EB-E279-9DAC-7B1C-915F1764BB4A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C13FC0-0EBE-CCB0-E6A9-62A14CC5A22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3886ED3-9D41-72EF-14F6-05233551A445}"/>
              </a:ext>
            </a:extLst>
          </p:cNvPr>
          <p:cNvSpPr txBox="1"/>
          <p:nvPr/>
        </p:nvSpPr>
        <p:spPr>
          <a:xfrm>
            <a:off x="482600" y="292099"/>
            <a:ext cx="406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D7B5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后续工作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361D46-D062-115D-05E8-2639A2501F79}"/>
              </a:ext>
            </a:extLst>
          </p:cNvPr>
          <p:cNvSpPr txBox="1"/>
          <p:nvPr/>
        </p:nvSpPr>
        <p:spPr>
          <a:xfrm>
            <a:off x="482600" y="546099"/>
            <a:ext cx="88900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后续工作：五条主线同步推进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038621A-A789-BEFB-D31E-9CAC4195F299}"/>
              </a:ext>
            </a:extLst>
          </p:cNvPr>
          <p:cNvCxnSpPr/>
          <p:nvPr/>
        </p:nvCxnSpPr>
        <p:spPr>
          <a:xfrm>
            <a:off x="406400" y="1066800"/>
            <a:ext cx="11379200" cy="0"/>
          </a:xfrm>
          <a:prstGeom prst="line">
            <a:avLst/>
          </a:prstGeom>
          <a:ln w="12700" cap="flat" cmpd="sng" algn="ctr">
            <a:solidFill>
              <a:srgbClr val="5B7C99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068E098F-03B1-6CF4-C6F8-C1F560B4F991}"/>
              </a:ext>
            </a:extLst>
          </p:cNvPr>
          <p:cNvSpPr txBox="1"/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</a:t>
            </a:r>
            <a:endParaRPr lang="zh-CN" altLang="en-US" sz="1000">
              <a:solidFill>
                <a:srgbClr val="CADAE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B46E69A-061A-FF57-6736-39889DDEE7F5}"/>
              </a:ext>
            </a:extLst>
          </p:cNvPr>
          <p:cNvSpPr/>
          <p:nvPr/>
        </p:nvSpPr>
        <p:spPr>
          <a:xfrm>
            <a:off x="698500" y="1498600"/>
            <a:ext cx="2984500" cy="4445000"/>
          </a:xfrm>
          <a:prstGeom prst="roundRect">
            <a:avLst/>
          </a:prstGeom>
          <a:solidFill>
            <a:srgbClr val="12375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6F3D96-D622-7C96-E78D-74DB40087172}"/>
              </a:ext>
            </a:extLst>
          </p:cNvPr>
          <p:cNvSpPr txBox="1"/>
          <p:nvPr/>
        </p:nvSpPr>
        <p:spPr>
          <a:xfrm>
            <a:off x="990600" y="1854199"/>
            <a:ext cx="2349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D7B5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下一阶段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F9655B8-5571-D654-06DF-8210B89CDD9A}"/>
              </a:ext>
            </a:extLst>
          </p:cNvPr>
          <p:cNvSpPr txBox="1"/>
          <p:nvPr/>
        </p:nvSpPr>
        <p:spPr>
          <a:xfrm>
            <a:off x="927100" y="2349500"/>
            <a:ext cx="2540000" cy="184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从“功能可用”</a:t>
            </a:r>
          </a:p>
          <a:p>
            <a:r>
              <a:rPr lang="zh-CN" altLang="en-US" sz="24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走向“稳定、</a:t>
            </a:r>
          </a:p>
          <a:p>
            <a:r>
              <a:rPr lang="zh-CN" altLang="en-US" sz="24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可评估、可扩展”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B4E2741-A613-74BA-18ED-E631F447FD31}"/>
              </a:ext>
            </a:extLst>
          </p:cNvPr>
          <p:cNvSpPr txBox="1"/>
          <p:nvPr/>
        </p:nvSpPr>
        <p:spPr>
          <a:xfrm>
            <a:off x="990600" y="4216400"/>
            <a:ext cx="22860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五条主线彼此牵制。数据变化会影响</a:t>
            </a:r>
            <a:r>
              <a:rPr lang="en-US" altLang="zh-CN" sz="140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</a:t>
            </a:r>
            <a:r>
              <a:rPr lang="zh-CN" altLang="en-US" sz="140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，机制调整会改变评价结果，规模扩大又会增加运行成本。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DFF296-39CA-6974-30FB-BE1D0303A328}"/>
              </a:ext>
            </a:extLst>
          </p:cNvPr>
          <p:cNvSpPr txBox="1"/>
          <p:nvPr/>
        </p:nvSpPr>
        <p:spPr>
          <a:xfrm>
            <a:off x="990600" y="5486399"/>
            <a:ext cx="2286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D7B5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重点：持续验证整体行为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323446-A729-AE4A-D001-F9142170F53E}"/>
              </a:ext>
            </a:extLst>
          </p:cNvPr>
          <p:cNvSpPr txBox="1"/>
          <p:nvPr/>
        </p:nvSpPr>
        <p:spPr>
          <a:xfrm>
            <a:off x="4191000" y="16256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D7B5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800" b="1">
              <a:solidFill>
                <a:srgbClr val="D7B56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748AD5-EAFF-6453-46F9-643F6B3C4299}"/>
              </a:ext>
            </a:extLst>
          </p:cNvPr>
          <p:cNvSpPr/>
          <p:nvPr/>
        </p:nvSpPr>
        <p:spPr>
          <a:xfrm>
            <a:off x="4737100" y="1689100"/>
            <a:ext cx="2755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EA5A0E9-37C6-EA17-AEAD-A61F7C69E375}"/>
              </a:ext>
            </a:extLst>
          </p:cNvPr>
          <p:cNvSpPr txBox="1"/>
          <p:nvPr/>
        </p:nvSpPr>
        <p:spPr>
          <a:xfrm>
            <a:off x="4737100" y="1854199"/>
            <a:ext cx="2755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数据与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BB0518B-5EFB-56F0-0F54-4D03B99F5E3B}"/>
              </a:ext>
            </a:extLst>
          </p:cNvPr>
          <p:cNvSpPr txBox="1"/>
          <p:nvPr/>
        </p:nvSpPr>
        <p:spPr>
          <a:xfrm>
            <a:off x="4737100" y="2260600"/>
            <a:ext cx="27559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2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提高有效样本质量，继续校准</a:t>
            </a:r>
            <a:r>
              <a:rPr lang="en-US" altLang="zh-CN" sz="132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</a:t>
            </a:r>
            <a:r>
              <a:rPr lang="zh-CN" altLang="en-US" sz="132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的代表性。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E29885-417E-9908-C6A4-7B4124E040BA}"/>
              </a:ext>
            </a:extLst>
          </p:cNvPr>
          <p:cNvSpPr txBox="1"/>
          <p:nvPr/>
        </p:nvSpPr>
        <p:spPr>
          <a:xfrm>
            <a:off x="7874000" y="16256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D7B5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800" b="1">
              <a:solidFill>
                <a:srgbClr val="D7B56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4C6A6DA-F18E-E9B1-B23A-5A78985C9FF8}"/>
              </a:ext>
            </a:extLst>
          </p:cNvPr>
          <p:cNvSpPr/>
          <p:nvPr/>
        </p:nvSpPr>
        <p:spPr>
          <a:xfrm>
            <a:off x="8420100" y="1689100"/>
            <a:ext cx="2755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FD5FAFF-CBC7-E25B-9E91-AC5077C2E947}"/>
              </a:ext>
            </a:extLst>
          </p:cNvPr>
          <p:cNvSpPr txBox="1"/>
          <p:nvPr/>
        </p:nvSpPr>
        <p:spPr>
          <a:xfrm>
            <a:off x="8420100" y="1854199"/>
            <a:ext cx="2755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行为与传播机制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AD549D-8450-3626-6E28-2EC33CDCADC9}"/>
              </a:ext>
            </a:extLst>
          </p:cNvPr>
          <p:cNvSpPr txBox="1"/>
          <p:nvPr/>
        </p:nvSpPr>
        <p:spPr>
          <a:xfrm>
            <a:off x="8420100" y="2260600"/>
            <a:ext cx="27559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2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平衡个体差异、群体影响和社交网络强度。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F3A150A-58D2-4A49-2ABF-BAB356A7EFEB}"/>
              </a:ext>
            </a:extLst>
          </p:cNvPr>
          <p:cNvSpPr txBox="1"/>
          <p:nvPr/>
        </p:nvSpPr>
        <p:spPr>
          <a:xfrm>
            <a:off x="4191000" y="33909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D7B5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800" b="1">
              <a:solidFill>
                <a:srgbClr val="D7B56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D6BB728-371F-CBF9-AB02-11D8B44FC5FB}"/>
              </a:ext>
            </a:extLst>
          </p:cNvPr>
          <p:cNvSpPr/>
          <p:nvPr/>
        </p:nvSpPr>
        <p:spPr>
          <a:xfrm>
            <a:off x="4737100" y="3454400"/>
            <a:ext cx="2755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F8FD9A9-F866-84A4-3D42-349EA10A0CF0}"/>
              </a:ext>
            </a:extLst>
          </p:cNvPr>
          <p:cNvSpPr txBox="1"/>
          <p:nvPr/>
        </p:nvSpPr>
        <p:spPr>
          <a:xfrm>
            <a:off x="4737100" y="3619499"/>
            <a:ext cx="2755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事件与评价体系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CD6B9B5-0CA6-D797-9E49-8D7F1C4AE934}"/>
              </a:ext>
            </a:extLst>
          </p:cNvPr>
          <p:cNvSpPr txBox="1"/>
          <p:nvPr/>
        </p:nvSpPr>
        <p:spPr>
          <a:xfrm>
            <a:off x="4737100" y="4025900"/>
            <a:ext cx="27559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2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扩展典型案例，形成可跨事件比较的评价口径。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9E8DCCB-724E-D00A-D35B-A2D14A7E8799}"/>
              </a:ext>
            </a:extLst>
          </p:cNvPr>
          <p:cNvSpPr txBox="1"/>
          <p:nvPr/>
        </p:nvSpPr>
        <p:spPr>
          <a:xfrm>
            <a:off x="7874000" y="33909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D7B5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2800" b="1">
              <a:solidFill>
                <a:srgbClr val="D7B56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D77216B-02D3-FDAC-405F-CC0A0E6558BF}"/>
              </a:ext>
            </a:extLst>
          </p:cNvPr>
          <p:cNvSpPr/>
          <p:nvPr/>
        </p:nvSpPr>
        <p:spPr>
          <a:xfrm>
            <a:off x="8420100" y="3454400"/>
            <a:ext cx="2755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15C1064-7C78-0F3A-7027-27962693ED7C}"/>
              </a:ext>
            </a:extLst>
          </p:cNvPr>
          <p:cNvSpPr txBox="1"/>
          <p:nvPr/>
        </p:nvSpPr>
        <p:spPr>
          <a:xfrm>
            <a:off x="8420100" y="3619499"/>
            <a:ext cx="2755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稳定性与成本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4FE2EC0-4FF6-9463-F603-0628D750DE17}"/>
              </a:ext>
            </a:extLst>
          </p:cNvPr>
          <p:cNvSpPr txBox="1"/>
          <p:nvPr/>
        </p:nvSpPr>
        <p:spPr>
          <a:xfrm>
            <a:off x="8420100" y="4025900"/>
            <a:ext cx="27559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2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支持长流程和更大规模运行，控制模型调用成本。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77D5F1B-ED49-C912-5123-40FEF2D386E3}"/>
              </a:ext>
            </a:extLst>
          </p:cNvPr>
          <p:cNvSpPr txBox="1"/>
          <p:nvPr/>
        </p:nvSpPr>
        <p:spPr>
          <a:xfrm>
            <a:off x="4191000" y="51562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D7B5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2800" b="1">
              <a:solidFill>
                <a:srgbClr val="D7B56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D606BE0-86C1-EBD5-F393-EFF906088A62}"/>
              </a:ext>
            </a:extLst>
          </p:cNvPr>
          <p:cNvSpPr/>
          <p:nvPr/>
        </p:nvSpPr>
        <p:spPr>
          <a:xfrm>
            <a:off x="4737100" y="5219700"/>
            <a:ext cx="6819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13A042D-FB61-DE25-60B5-E9B276F60D60}"/>
              </a:ext>
            </a:extLst>
          </p:cNvPr>
          <p:cNvSpPr txBox="1"/>
          <p:nvPr/>
        </p:nvSpPr>
        <p:spPr>
          <a:xfrm>
            <a:off x="4737100" y="5384799"/>
            <a:ext cx="6819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平台与安全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FBD01C5-D836-D538-C260-78A77690D2D0}"/>
              </a:ext>
            </a:extLst>
          </p:cNvPr>
          <p:cNvSpPr txBox="1"/>
          <p:nvPr/>
        </p:nvSpPr>
        <p:spPr>
          <a:xfrm>
            <a:off x="4737100" y="5791200"/>
            <a:ext cx="68199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20">
                <a:solidFill>
                  <a:srgbClr val="CADA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完善服务化、运行监控、权限控制和密钥管理。</a:t>
            </a:r>
          </a:p>
        </p:txBody>
      </p:sp>
    </p:spTree>
    <p:extLst>
      <p:ext uri="{BB962C8B-B14F-4D97-AF65-F5344CB8AC3E}">
        <p14:creationId xmlns:p14="http://schemas.microsoft.com/office/powerpoint/2010/main" val="250444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A-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7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66" name="PA-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67" name="PA-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B4489">
                  <a:alpha val="78000"/>
                </a:srgbClr>
              </a:gs>
              <a:gs pos="100000">
                <a:srgbClr val="1B4489">
                  <a:alpha val="66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1" name="任意多边形: 形状 101"/>
          <p:cNvSpPr/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2" name="任意多边形: 形状 83"/>
          <p:cNvSpPr/>
          <p:nvPr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ea"/>
            </a:endParaRPr>
          </a:p>
        </p:txBody>
      </p:sp>
      <p:sp>
        <p:nvSpPr>
          <p:cNvPr id="73" name="任意多边形: 形状 62"/>
          <p:cNvSpPr/>
          <p:nvPr/>
        </p:nvSpPr>
        <p:spPr>
          <a:xfrm>
            <a:off x="0" y="2989267"/>
            <a:ext cx="12191999" cy="741497"/>
          </a:xfrm>
          <a:custGeom>
            <a:avLst/>
            <a:gdLst>
              <a:gd name="connsiteX0" fmla="*/ 6096002 w 12191999"/>
              <a:gd name="connsiteY0" fmla="*/ 0 h 3805208"/>
              <a:gd name="connsiteX1" fmla="*/ 11517301 w 12191999"/>
              <a:gd name="connsiteY1" fmla="*/ 568339 h 3805208"/>
              <a:gd name="connsiteX2" fmla="*/ 12191999 w 12191999"/>
              <a:gd name="connsiteY2" fmla="*/ 741496 h 3805208"/>
              <a:gd name="connsiteX3" fmla="*/ 12191999 w 12191999"/>
              <a:gd name="connsiteY3" fmla="*/ 3805208 h 3805208"/>
              <a:gd name="connsiteX4" fmla="*/ 0 w 12191999"/>
              <a:gd name="connsiteY4" fmla="*/ 3805208 h 3805208"/>
              <a:gd name="connsiteX5" fmla="*/ 0 w 12191999"/>
              <a:gd name="connsiteY5" fmla="*/ 741497 h 3805208"/>
              <a:gd name="connsiteX6" fmla="*/ 674702 w 12191999"/>
              <a:gd name="connsiteY6" fmla="*/ 568339 h 3805208"/>
              <a:gd name="connsiteX7" fmla="*/ 6096002 w 12191999"/>
              <a:gd name="connsiteY7" fmla="*/ 0 h 3805208"/>
              <a:gd name="connsiteX0-1" fmla="*/ 12191999 w 12283439"/>
              <a:gd name="connsiteY0-2" fmla="*/ 3805208 h 3896648"/>
              <a:gd name="connsiteX1-3" fmla="*/ 0 w 12283439"/>
              <a:gd name="connsiteY1-4" fmla="*/ 3805208 h 3896648"/>
              <a:gd name="connsiteX2-5" fmla="*/ 0 w 12283439"/>
              <a:gd name="connsiteY2-6" fmla="*/ 741497 h 3896648"/>
              <a:gd name="connsiteX3-7" fmla="*/ 674702 w 12283439"/>
              <a:gd name="connsiteY3-8" fmla="*/ 568339 h 3896648"/>
              <a:gd name="connsiteX4-9" fmla="*/ 6096002 w 12283439"/>
              <a:gd name="connsiteY4-10" fmla="*/ 0 h 3896648"/>
              <a:gd name="connsiteX5-11" fmla="*/ 11517301 w 12283439"/>
              <a:gd name="connsiteY5-12" fmla="*/ 568339 h 3896648"/>
              <a:gd name="connsiteX6-13" fmla="*/ 12191999 w 12283439"/>
              <a:gd name="connsiteY6-14" fmla="*/ 741496 h 3896648"/>
              <a:gd name="connsiteX7-15" fmla="*/ 12283439 w 12283439"/>
              <a:gd name="connsiteY7-16" fmla="*/ 3896648 h 3896648"/>
              <a:gd name="connsiteX0-17" fmla="*/ 12191999 w 12191999"/>
              <a:gd name="connsiteY0-18" fmla="*/ 3805208 h 3805208"/>
              <a:gd name="connsiteX1-19" fmla="*/ 0 w 12191999"/>
              <a:gd name="connsiteY1-20" fmla="*/ 3805208 h 3805208"/>
              <a:gd name="connsiteX2-21" fmla="*/ 0 w 12191999"/>
              <a:gd name="connsiteY2-22" fmla="*/ 741497 h 3805208"/>
              <a:gd name="connsiteX3-23" fmla="*/ 674702 w 12191999"/>
              <a:gd name="connsiteY3-24" fmla="*/ 568339 h 3805208"/>
              <a:gd name="connsiteX4-25" fmla="*/ 6096002 w 12191999"/>
              <a:gd name="connsiteY4-26" fmla="*/ 0 h 3805208"/>
              <a:gd name="connsiteX5-27" fmla="*/ 11517301 w 12191999"/>
              <a:gd name="connsiteY5-28" fmla="*/ 568339 h 3805208"/>
              <a:gd name="connsiteX6-29" fmla="*/ 12191999 w 12191999"/>
              <a:gd name="connsiteY6-30" fmla="*/ 741496 h 3805208"/>
              <a:gd name="connsiteX0-31" fmla="*/ 0 w 12191999"/>
              <a:gd name="connsiteY0-32" fmla="*/ 3805208 h 3805208"/>
              <a:gd name="connsiteX1-33" fmla="*/ 0 w 12191999"/>
              <a:gd name="connsiteY1-34" fmla="*/ 741497 h 3805208"/>
              <a:gd name="connsiteX2-35" fmla="*/ 674702 w 12191999"/>
              <a:gd name="connsiteY2-36" fmla="*/ 568339 h 3805208"/>
              <a:gd name="connsiteX3-37" fmla="*/ 6096002 w 12191999"/>
              <a:gd name="connsiteY3-38" fmla="*/ 0 h 3805208"/>
              <a:gd name="connsiteX4-39" fmla="*/ 11517301 w 12191999"/>
              <a:gd name="connsiteY4-40" fmla="*/ 568339 h 3805208"/>
              <a:gd name="connsiteX5-41" fmla="*/ 12191999 w 12191999"/>
              <a:gd name="connsiteY5-42" fmla="*/ 741496 h 3805208"/>
              <a:gd name="connsiteX0-43" fmla="*/ 0 w 12191999"/>
              <a:gd name="connsiteY0-44" fmla="*/ 741497 h 741497"/>
              <a:gd name="connsiteX1-45" fmla="*/ 674702 w 12191999"/>
              <a:gd name="connsiteY1-46" fmla="*/ 568339 h 741497"/>
              <a:gd name="connsiteX2-47" fmla="*/ 6096002 w 12191999"/>
              <a:gd name="connsiteY2-48" fmla="*/ 0 h 741497"/>
              <a:gd name="connsiteX3-49" fmla="*/ 11517301 w 12191999"/>
              <a:gd name="connsiteY3-50" fmla="*/ 568339 h 741497"/>
              <a:gd name="connsiteX4-51" fmla="*/ 12191999 w 12191999"/>
              <a:gd name="connsiteY4-52" fmla="*/ 741496 h 741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1999" h="741497">
                <a:moveTo>
                  <a:pt x="0" y="741497"/>
                </a:move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</a:path>
            </a:pathLst>
          </a:cu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94" name="标题 47"/>
          <p:cNvSpPr txBox="1"/>
          <p:nvPr/>
        </p:nvSpPr>
        <p:spPr>
          <a:xfrm>
            <a:off x="2520877" y="4102988"/>
            <a:ext cx="7214483" cy="82994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400" kern="1200" spc="100" dirty="0">
                <a:solidFill>
                  <a:schemeClr val="accent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>
                <a:solidFill>
                  <a:srgbClr val="2257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敬请指导</a:t>
            </a:r>
            <a:endParaRPr kumimoji="0" lang="zh-CN" altLang="en-US" sz="4800" b="0" i="0" u="none" strike="noStrike" kern="1200" cap="none" spc="100" normalizeH="0" baseline="0" noProof="0" dirty="0">
              <a:ln>
                <a:noFill/>
              </a:ln>
              <a:solidFill>
                <a:srgbClr val="2257A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2108522" y="5360072"/>
            <a:ext cx="7974957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</p:cxnSp>
      <p:sp>
        <p:nvSpPr>
          <p:cNvPr id="54" name="businessman_57134"/>
          <p:cNvSpPr>
            <a:spLocks noChangeAspect="1"/>
          </p:cNvSpPr>
          <p:nvPr/>
        </p:nvSpPr>
        <p:spPr bwMode="auto">
          <a:xfrm>
            <a:off x="6360026" y="5728467"/>
            <a:ext cx="220032" cy="240154"/>
          </a:xfrm>
          <a:custGeom>
            <a:avLst/>
            <a:gdLst>
              <a:gd name="connsiteX0" fmla="*/ 243589 w 557114"/>
              <a:gd name="connsiteY0" fmla="*/ 355438 h 608062"/>
              <a:gd name="connsiteX1" fmla="*/ 277656 w 557114"/>
              <a:gd name="connsiteY1" fmla="*/ 355438 h 608062"/>
              <a:gd name="connsiteX2" fmla="*/ 277940 w 557114"/>
              <a:gd name="connsiteY2" fmla="*/ 355438 h 608062"/>
              <a:gd name="connsiteX3" fmla="*/ 278604 w 557114"/>
              <a:gd name="connsiteY3" fmla="*/ 355438 h 608062"/>
              <a:gd name="connsiteX4" fmla="*/ 279174 w 557114"/>
              <a:gd name="connsiteY4" fmla="*/ 355438 h 608062"/>
              <a:gd name="connsiteX5" fmla="*/ 279458 w 557114"/>
              <a:gd name="connsiteY5" fmla="*/ 355438 h 608062"/>
              <a:gd name="connsiteX6" fmla="*/ 279553 w 557114"/>
              <a:gd name="connsiteY6" fmla="*/ 355438 h 608062"/>
              <a:gd name="connsiteX7" fmla="*/ 313620 w 557114"/>
              <a:gd name="connsiteY7" fmla="*/ 355438 h 608062"/>
              <a:gd name="connsiteX8" fmla="*/ 324438 w 557114"/>
              <a:gd name="connsiteY8" fmla="*/ 375432 h 608062"/>
              <a:gd name="connsiteX9" fmla="*/ 298152 w 557114"/>
              <a:gd name="connsiteY9" fmla="*/ 430202 h 608062"/>
              <a:gd name="connsiteX10" fmla="*/ 301948 w 557114"/>
              <a:gd name="connsiteY10" fmla="*/ 510272 h 608062"/>
              <a:gd name="connsiteX11" fmla="*/ 356891 w 557114"/>
              <a:gd name="connsiteY11" fmla="*/ 389172 h 608062"/>
              <a:gd name="connsiteX12" fmla="*/ 356986 w 557114"/>
              <a:gd name="connsiteY12" fmla="*/ 389172 h 608062"/>
              <a:gd name="connsiteX13" fmla="*/ 376628 w 557114"/>
              <a:gd name="connsiteY13" fmla="*/ 375337 h 608062"/>
              <a:gd name="connsiteX14" fmla="*/ 383556 w 557114"/>
              <a:gd name="connsiteY14" fmla="*/ 376474 h 608062"/>
              <a:gd name="connsiteX15" fmla="*/ 383745 w 557114"/>
              <a:gd name="connsiteY15" fmla="*/ 376569 h 608062"/>
              <a:gd name="connsiteX16" fmla="*/ 518588 w 557114"/>
              <a:gd name="connsiteY16" fmla="*/ 438920 h 608062"/>
              <a:gd name="connsiteX17" fmla="*/ 557114 w 557114"/>
              <a:gd name="connsiteY17" fmla="*/ 482224 h 608062"/>
              <a:gd name="connsiteX18" fmla="*/ 557114 w 557114"/>
              <a:gd name="connsiteY18" fmla="*/ 608062 h 608062"/>
              <a:gd name="connsiteX19" fmla="*/ 279743 w 557114"/>
              <a:gd name="connsiteY19" fmla="*/ 608062 h 608062"/>
              <a:gd name="connsiteX20" fmla="*/ 279458 w 557114"/>
              <a:gd name="connsiteY20" fmla="*/ 608062 h 608062"/>
              <a:gd name="connsiteX21" fmla="*/ 279364 w 557114"/>
              <a:gd name="connsiteY21" fmla="*/ 608062 h 608062"/>
              <a:gd name="connsiteX22" fmla="*/ 279174 w 557114"/>
              <a:gd name="connsiteY22" fmla="*/ 608062 h 608062"/>
              <a:gd name="connsiteX23" fmla="*/ 278984 w 557114"/>
              <a:gd name="connsiteY23" fmla="*/ 608062 h 608062"/>
              <a:gd name="connsiteX24" fmla="*/ 278604 w 557114"/>
              <a:gd name="connsiteY24" fmla="*/ 608062 h 608062"/>
              <a:gd name="connsiteX25" fmla="*/ 278130 w 557114"/>
              <a:gd name="connsiteY25" fmla="*/ 608062 h 608062"/>
              <a:gd name="connsiteX26" fmla="*/ 277940 w 557114"/>
              <a:gd name="connsiteY26" fmla="*/ 608062 h 608062"/>
              <a:gd name="connsiteX27" fmla="*/ 277845 w 557114"/>
              <a:gd name="connsiteY27" fmla="*/ 608062 h 608062"/>
              <a:gd name="connsiteX28" fmla="*/ 277750 w 557114"/>
              <a:gd name="connsiteY28" fmla="*/ 608062 h 608062"/>
              <a:gd name="connsiteX29" fmla="*/ 277656 w 557114"/>
              <a:gd name="connsiteY29" fmla="*/ 608062 h 608062"/>
              <a:gd name="connsiteX30" fmla="*/ 277371 w 557114"/>
              <a:gd name="connsiteY30" fmla="*/ 608062 h 608062"/>
              <a:gd name="connsiteX31" fmla="*/ 0 w 557114"/>
              <a:gd name="connsiteY31" fmla="*/ 608062 h 608062"/>
              <a:gd name="connsiteX32" fmla="*/ 0 w 557114"/>
              <a:gd name="connsiteY32" fmla="*/ 482224 h 608062"/>
              <a:gd name="connsiteX33" fmla="*/ 38621 w 557114"/>
              <a:gd name="connsiteY33" fmla="*/ 438920 h 608062"/>
              <a:gd name="connsiteX34" fmla="*/ 173464 w 557114"/>
              <a:gd name="connsiteY34" fmla="*/ 376569 h 608062"/>
              <a:gd name="connsiteX35" fmla="*/ 173558 w 557114"/>
              <a:gd name="connsiteY35" fmla="*/ 376474 h 608062"/>
              <a:gd name="connsiteX36" fmla="*/ 180486 w 557114"/>
              <a:gd name="connsiteY36" fmla="*/ 375337 h 608062"/>
              <a:gd name="connsiteX37" fmla="*/ 200223 w 557114"/>
              <a:gd name="connsiteY37" fmla="*/ 389172 h 608062"/>
              <a:gd name="connsiteX38" fmla="*/ 255166 w 557114"/>
              <a:gd name="connsiteY38" fmla="*/ 510272 h 608062"/>
              <a:gd name="connsiteX39" fmla="*/ 258962 w 557114"/>
              <a:gd name="connsiteY39" fmla="*/ 430202 h 608062"/>
              <a:gd name="connsiteX40" fmla="*/ 232676 w 557114"/>
              <a:gd name="connsiteY40" fmla="*/ 375432 h 608062"/>
              <a:gd name="connsiteX41" fmla="*/ 243589 w 557114"/>
              <a:gd name="connsiteY41" fmla="*/ 355438 h 608062"/>
              <a:gd name="connsiteX42" fmla="*/ 276250 w 557114"/>
              <a:gd name="connsiteY42" fmla="*/ 0 h 608062"/>
              <a:gd name="connsiteX43" fmla="*/ 277674 w 557114"/>
              <a:gd name="connsiteY43" fmla="*/ 0 h 608062"/>
              <a:gd name="connsiteX44" fmla="*/ 277863 w 557114"/>
              <a:gd name="connsiteY44" fmla="*/ 0 h 608062"/>
              <a:gd name="connsiteX45" fmla="*/ 277958 w 557114"/>
              <a:gd name="connsiteY45" fmla="*/ 0 h 608062"/>
              <a:gd name="connsiteX46" fmla="*/ 279382 w 557114"/>
              <a:gd name="connsiteY46" fmla="*/ 0 h 608062"/>
              <a:gd name="connsiteX47" fmla="*/ 402570 w 557114"/>
              <a:gd name="connsiteY47" fmla="*/ 104895 h 608062"/>
              <a:gd name="connsiteX48" fmla="*/ 394693 w 557114"/>
              <a:gd name="connsiteY48" fmla="*/ 159001 h 608062"/>
              <a:gd name="connsiteX49" fmla="*/ 405892 w 557114"/>
              <a:gd name="connsiteY49" fmla="*/ 184774 h 608062"/>
              <a:gd name="connsiteX50" fmla="*/ 377040 w 557114"/>
              <a:gd name="connsiteY50" fmla="*/ 236890 h 608062"/>
              <a:gd name="connsiteX51" fmla="*/ 315731 w 557114"/>
              <a:gd name="connsiteY51" fmla="*/ 311274 h 608062"/>
              <a:gd name="connsiteX52" fmla="*/ 277958 w 557114"/>
              <a:gd name="connsiteY52" fmla="*/ 319707 h 608062"/>
              <a:gd name="connsiteX53" fmla="*/ 277958 w 557114"/>
              <a:gd name="connsiteY53" fmla="*/ 319802 h 608062"/>
              <a:gd name="connsiteX54" fmla="*/ 277863 w 557114"/>
              <a:gd name="connsiteY54" fmla="*/ 319802 h 608062"/>
              <a:gd name="connsiteX55" fmla="*/ 277674 w 557114"/>
              <a:gd name="connsiteY55" fmla="*/ 319802 h 608062"/>
              <a:gd name="connsiteX56" fmla="*/ 277674 w 557114"/>
              <a:gd name="connsiteY56" fmla="*/ 319707 h 608062"/>
              <a:gd name="connsiteX57" fmla="*/ 239901 w 557114"/>
              <a:gd name="connsiteY57" fmla="*/ 311274 h 608062"/>
              <a:gd name="connsiteX58" fmla="*/ 178592 w 557114"/>
              <a:gd name="connsiteY58" fmla="*/ 236890 h 608062"/>
              <a:gd name="connsiteX59" fmla="*/ 149740 w 557114"/>
              <a:gd name="connsiteY59" fmla="*/ 184774 h 608062"/>
              <a:gd name="connsiteX60" fmla="*/ 161034 w 557114"/>
              <a:gd name="connsiteY60" fmla="*/ 159001 h 608062"/>
              <a:gd name="connsiteX61" fmla="*/ 153062 w 557114"/>
              <a:gd name="connsiteY61" fmla="*/ 104895 h 608062"/>
              <a:gd name="connsiteX62" fmla="*/ 276250 w 557114"/>
              <a:gd name="connsiteY62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57114" h="608062">
                <a:moveTo>
                  <a:pt x="243589" y="355438"/>
                </a:moveTo>
                <a:lnTo>
                  <a:pt x="277656" y="355438"/>
                </a:lnTo>
                <a:lnTo>
                  <a:pt x="277940" y="355438"/>
                </a:lnTo>
                <a:lnTo>
                  <a:pt x="278604" y="355438"/>
                </a:lnTo>
                <a:lnTo>
                  <a:pt x="279174" y="355438"/>
                </a:lnTo>
                <a:lnTo>
                  <a:pt x="279458" y="355438"/>
                </a:lnTo>
                <a:lnTo>
                  <a:pt x="279553" y="355438"/>
                </a:lnTo>
                <a:lnTo>
                  <a:pt x="313620" y="355438"/>
                </a:lnTo>
                <a:cubicBezTo>
                  <a:pt x="325007" y="355438"/>
                  <a:pt x="330511" y="364630"/>
                  <a:pt x="324438" y="375432"/>
                </a:cubicBezTo>
                <a:cubicBezTo>
                  <a:pt x="321781" y="379980"/>
                  <a:pt x="298152" y="430202"/>
                  <a:pt x="298152" y="430202"/>
                </a:cubicBezTo>
                <a:lnTo>
                  <a:pt x="301948" y="510272"/>
                </a:lnTo>
                <a:cubicBezTo>
                  <a:pt x="317700" y="481655"/>
                  <a:pt x="343131" y="422432"/>
                  <a:pt x="356891" y="389172"/>
                </a:cubicBezTo>
                <a:cubicBezTo>
                  <a:pt x="356891" y="389172"/>
                  <a:pt x="356891" y="389172"/>
                  <a:pt x="356986" y="389172"/>
                </a:cubicBezTo>
                <a:cubicBezTo>
                  <a:pt x="359832" y="381117"/>
                  <a:pt x="367519" y="375337"/>
                  <a:pt x="376628" y="375337"/>
                </a:cubicBezTo>
                <a:cubicBezTo>
                  <a:pt x="379096" y="375337"/>
                  <a:pt x="381373" y="375716"/>
                  <a:pt x="383556" y="376474"/>
                </a:cubicBezTo>
                <a:cubicBezTo>
                  <a:pt x="383650" y="376474"/>
                  <a:pt x="383650" y="376474"/>
                  <a:pt x="383745" y="376569"/>
                </a:cubicBezTo>
                <a:cubicBezTo>
                  <a:pt x="387446" y="377706"/>
                  <a:pt x="464973" y="411724"/>
                  <a:pt x="518588" y="438920"/>
                </a:cubicBezTo>
                <a:cubicBezTo>
                  <a:pt x="542595" y="451049"/>
                  <a:pt x="557114" y="466305"/>
                  <a:pt x="557114" y="482224"/>
                </a:cubicBezTo>
                <a:lnTo>
                  <a:pt x="557114" y="608062"/>
                </a:lnTo>
                <a:lnTo>
                  <a:pt x="279743" y="608062"/>
                </a:lnTo>
                <a:lnTo>
                  <a:pt x="279458" y="608062"/>
                </a:lnTo>
                <a:lnTo>
                  <a:pt x="279364" y="608062"/>
                </a:lnTo>
                <a:lnTo>
                  <a:pt x="279174" y="608062"/>
                </a:lnTo>
                <a:lnTo>
                  <a:pt x="278984" y="608062"/>
                </a:lnTo>
                <a:lnTo>
                  <a:pt x="278604" y="608062"/>
                </a:lnTo>
                <a:lnTo>
                  <a:pt x="278130" y="608062"/>
                </a:lnTo>
                <a:lnTo>
                  <a:pt x="277940" y="608062"/>
                </a:lnTo>
                <a:lnTo>
                  <a:pt x="277845" y="608062"/>
                </a:lnTo>
                <a:lnTo>
                  <a:pt x="277750" y="608062"/>
                </a:lnTo>
                <a:lnTo>
                  <a:pt x="277656" y="608062"/>
                </a:lnTo>
                <a:lnTo>
                  <a:pt x="277371" y="608062"/>
                </a:lnTo>
                <a:lnTo>
                  <a:pt x="0" y="608062"/>
                </a:lnTo>
                <a:lnTo>
                  <a:pt x="0" y="482224"/>
                </a:lnTo>
                <a:cubicBezTo>
                  <a:pt x="0" y="466305"/>
                  <a:pt x="14519" y="451049"/>
                  <a:pt x="38621" y="438920"/>
                </a:cubicBezTo>
                <a:cubicBezTo>
                  <a:pt x="92141" y="411724"/>
                  <a:pt x="169668" y="377706"/>
                  <a:pt x="173464" y="376569"/>
                </a:cubicBezTo>
                <a:cubicBezTo>
                  <a:pt x="173464" y="376474"/>
                  <a:pt x="173464" y="376474"/>
                  <a:pt x="173558" y="376474"/>
                </a:cubicBezTo>
                <a:cubicBezTo>
                  <a:pt x="175741" y="375716"/>
                  <a:pt x="178018" y="375337"/>
                  <a:pt x="180486" y="375337"/>
                </a:cubicBezTo>
                <a:cubicBezTo>
                  <a:pt x="189595" y="375337"/>
                  <a:pt x="197282" y="381117"/>
                  <a:pt x="200223" y="389172"/>
                </a:cubicBezTo>
                <a:cubicBezTo>
                  <a:pt x="214078" y="422432"/>
                  <a:pt x="239414" y="481655"/>
                  <a:pt x="255166" y="510272"/>
                </a:cubicBezTo>
                <a:lnTo>
                  <a:pt x="258962" y="430202"/>
                </a:lnTo>
                <a:cubicBezTo>
                  <a:pt x="258962" y="430202"/>
                  <a:pt x="235333" y="379980"/>
                  <a:pt x="232676" y="375432"/>
                </a:cubicBezTo>
                <a:cubicBezTo>
                  <a:pt x="226603" y="364630"/>
                  <a:pt x="232107" y="355438"/>
                  <a:pt x="243589" y="355438"/>
                </a:cubicBezTo>
                <a:close/>
                <a:moveTo>
                  <a:pt x="276250" y="0"/>
                </a:moveTo>
                <a:cubicBezTo>
                  <a:pt x="276725" y="0"/>
                  <a:pt x="277199" y="0"/>
                  <a:pt x="277674" y="0"/>
                </a:cubicBezTo>
                <a:cubicBezTo>
                  <a:pt x="277769" y="0"/>
                  <a:pt x="277769" y="0"/>
                  <a:pt x="277863" y="0"/>
                </a:cubicBezTo>
                <a:cubicBezTo>
                  <a:pt x="277863" y="0"/>
                  <a:pt x="277863" y="0"/>
                  <a:pt x="277958" y="0"/>
                </a:cubicBezTo>
                <a:cubicBezTo>
                  <a:pt x="278433" y="0"/>
                  <a:pt x="278907" y="0"/>
                  <a:pt x="279382" y="0"/>
                </a:cubicBezTo>
                <a:cubicBezTo>
                  <a:pt x="385487" y="0"/>
                  <a:pt x="405417" y="75615"/>
                  <a:pt x="402570" y="104895"/>
                </a:cubicBezTo>
                <a:cubicBezTo>
                  <a:pt x="400387" y="128395"/>
                  <a:pt x="394693" y="159001"/>
                  <a:pt x="394693" y="159001"/>
                </a:cubicBezTo>
                <a:cubicBezTo>
                  <a:pt x="394693" y="159001"/>
                  <a:pt x="405892" y="164118"/>
                  <a:pt x="405892" y="184774"/>
                </a:cubicBezTo>
                <a:cubicBezTo>
                  <a:pt x="402001" y="236511"/>
                  <a:pt x="381311" y="214149"/>
                  <a:pt x="377040" y="236890"/>
                </a:cubicBezTo>
                <a:cubicBezTo>
                  <a:pt x="370017" y="274603"/>
                  <a:pt x="336610" y="301893"/>
                  <a:pt x="315731" y="311274"/>
                </a:cubicBezTo>
                <a:cubicBezTo>
                  <a:pt x="303583" y="316770"/>
                  <a:pt x="291055" y="319518"/>
                  <a:pt x="277958" y="319707"/>
                </a:cubicBezTo>
                <a:lnTo>
                  <a:pt x="277958" y="319802"/>
                </a:lnTo>
                <a:cubicBezTo>
                  <a:pt x="277863" y="319802"/>
                  <a:pt x="277863" y="319802"/>
                  <a:pt x="277863" y="319802"/>
                </a:cubicBezTo>
                <a:cubicBezTo>
                  <a:pt x="277769" y="319802"/>
                  <a:pt x="277769" y="319802"/>
                  <a:pt x="277674" y="319802"/>
                </a:cubicBezTo>
                <a:lnTo>
                  <a:pt x="277674" y="319707"/>
                </a:lnTo>
                <a:cubicBezTo>
                  <a:pt x="264577" y="319518"/>
                  <a:pt x="252049" y="316770"/>
                  <a:pt x="239901" y="311274"/>
                </a:cubicBezTo>
                <a:cubicBezTo>
                  <a:pt x="219022" y="301893"/>
                  <a:pt x="185615" y="274603"/>
                  <a:pt x="178592" y="236890"/>
                </a:cubicBezTo>
                <a:cubicBezTo>
                  <a:pt x="174321" y="214149"/>
                  <a:pt x="153631" y="236511"/>
                  <a:pt x="149740" y="184774"/>
                </a:cubicBezTo>
                <a:cubicBezTo>
                  <a:pt x="149740" y="164118"/>
                  <a:pt x="161034" y="159001"/>
                  <a:pt x="161034" y="159001"/>
                </a:cubicBezTo>
                <a:cubicBezTo>
                  <a:pt x="161034" y="159001"/>
                  <a:pt x="155245" y="128395"/>
                  <a:pt x="153062" y="104895"/>
                </a:cubicBezTo>
                <a:cubicBezTo>
                  <a:pt x="150215" y="75615"/>
                  <a:pt x="170145" y="0"/>
                  <a:pt x="2762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3" name="图片 2" descr="bai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19450" y="1130935"/>
            <a:ext cx="1169670" cy="1172210"/>
          </a:xfrm>
          <a:prstGeom prst="rect">
            <a:avLst/>
          </a:prstGeom>
        </p:spPr>
      </p:pic>
      <p:pic>
        <p:nvPicPr>
          <p:cNvPr id="4" name="图片 3" descr="未标题-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734560" y="1085215"/>
            <a:ext cx="384365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NCwiaGRpZCI6IjI5NTYyM2ZjNjc2MjA1YjZhYmRlMjRhNTQwNTVhNzA3IiwidXNlckNvdW50Ijoy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1792</TotalTime>
  <Words>5229</Words>
  <Application>Microsoft Office PowerPoint</Application>
  <PresentationFormat>宽屏</PresentationFormat>
  <Paragraphs>529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等线</vt:lpstr>
      <vt:lpstr>等线 Light</vt:lpstr>
      <vt:lpstr>Microsoft YaHei</vt:lpstr>
      <vt:lpstr>Microsoft YaHei</vt:lpstr>
      <vt:lpstr>微软雅黑 Light</vt:lpstr>
      <vt:lpstr>Arial</vt:lpstr>
      <vt:lpstr>Bahnschrift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jiu BAby</cp:lastModifiedBy>
  <cp:revision>86</cp:revision>
  <dcterms:created xsi:type="dcterms:W3CDTF">2019-04-19T08:53:00Z</dcterms:created>
  <dcterms:modified xsi:type="dcterms:W3CDTF">2026-10-13T08:16:50Z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KSOTemplateUUID">
    <vt:lpwstr>v1.0_mb_kZIsEY68EbFydeqQZ9Zz9g==</vt:lpwstr>
  </property>
  <property fmtid="{D5CDD505-2E9C-101B-9397-08002B2CF9AE}" pid="4" name="ICV">
    <vt:lpwstr>863471B37FA443B9A777DA1EF38C0100_12</vt:lpwstr>
  </property>
</Properties>
</file>