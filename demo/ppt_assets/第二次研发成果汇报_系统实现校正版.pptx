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97A27-C5AF-4CBA-9B4F-A9175ECFF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81F040-E5C1-4F34-9984-BE82E8FDF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55F7E-AAF9-494C-A28F-F176A81768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778BF6-B274-44A1-81D5-78C608EF5C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6067D-6453-4995-99A9-944795D181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3B345-839B-41F6-A213-E094B7E1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39F3C4-3E29-4B0B-B6DC-560B79A430A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FB3BA9-32E3-4C0F-AFFA-719592A62C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ADBA71-9CD7-4AE5-829F-AE2DD7B07C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1C8FC8-A900-4FDF-B875-4F5EE29CF8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5B6F2-E4D0-4123-B9FF-D34BA905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A2519A-AABB-43CC-8197-8A77BEB860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0C083F-1FAF-4A6D-9C5E-CC6DDE254E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47E476-E925-48F3-BED7-ED76850840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B7EFF-B63F-46D7-BF74-0531121B56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8565C-7458-477F-83C6-C372DC13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861F7A-97C4-41FF-8D06-C0367B1DBBD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3A935D-374D-4D9B-A164-C6F61BD39143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55D47D-5EC6-46A3-A17C-C86B9EBB57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DEAF19-A215-4A7E-B18E-41104092FF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E416FC-BE74-44B0-85A5-9BBD5C983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51BC0-9142-4B7D-9D19-3A8FE1C6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BF49EF-2064-4D23-A3E9-0420D66E36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02A1B9-C79B-4B6E-AC72-16788BC3FB21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0ECB4E-8BFC-471F-B049-C7232AF87BE1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028DA1-A119-44CD-977E-EA596D3D9F53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CCABA4-5B28-48E7-BC2B-4539E78DB0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71EC3A-E9D6-4630-8A07-0C01BCC5BD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496DAC-FA6F-4020-BE00-9E04908136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5B3FC-7769-4DA1-90CC-22D1D1EF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FB3DEB-06CF-48DB-8C96-03EC022CFD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661BC5-2B69-449C-8180-3CBF263725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2B0176-59E3-4D31-9D07-9D2B256ACC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105961-E28F-475B-AF9A-4AB62E8398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796742-D5A9-4EAB-8B4C-1E71B5316A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8FA60A-7405-4854-914C-11D3F01895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BB1B-BF10-4C78-AB96-F2477CB8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A3CF9-961F-4040-84C3-0E327AA334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86ABB2-831B-4617-B4FF-EB6841F57B7B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72951E-973B-4A12-933C-68624A144A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FD6E36-BCFC-4BAF-832D-5F604ADDD3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DBDD3D-5B0D-4F22-A197-B77AA23B2C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44640-B14B-4754-BCFA-6EDFDCE5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FEABA0-5C2A-43DC-BF16-810788ED6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EDCE0-BE04-4F6F-9CD2-41C075BFCD2E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0D731-2EA9-406F-92AD-A1530D4B70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DB58E-E67B-4963-99AE-A792941173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BF404E-EFCB-44A1-A287-0CE644BD7E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1F34B-FFC8-46F3-98BB-E5D5DD84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1882B1-EA33-4CED-847F-7A59F1CBD25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D47350-190D-4CCA-93AF-30264F682C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9D8AB-3FDB-4FF9-AD61-FEC738EBFC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84B581-153B-4006-AA9D-FA70F1C4A5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26BCA4-6F20-4F1F-9883-96C698DD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42390B-8A42-4583-B476-59B5CA3D60F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77220-9794-47DA-9639-7FC931D750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0BB95-ED3D-4578-A1DF-20D3235596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D0D4E-6AF8-4D27-9D09-F753DED18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EB0F55-389C-4D4A-BCCC-CA69A7403A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8E4EAE-9BA3-4870-887B-7852711F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B002A5-2ED0-4D5F-813E-44E4D96DB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098CA-168D-4251-AF89-7A93FBDBD64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1350-D6BC-4829-BF7F-A44D608302B5}" type="datetimeFigureOut">
              <a:t>2026/10/13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5E0C14-566C-4EBD-978B-0DA322789EF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35261C-8D0C-431E-AC49-425D66D562D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B0F55-389C-4D4A-BCCC-CA69A7403A5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>
            <a:extLst>
              <a:ext uri="{FF2B5EF4-FFF2-40B4-BE49-F238E27FC236}">
                <a16:creationId xmlns:a16="http://schemas.microsoft.com/office/drawing/2014/main" id="{6785183F-45E9-4C75-A081-4D306FFB8E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003D7E18-4484-445D-804E-6CE799EA8B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>
            <a:extLst>
              <a:ext uri="{FF2B5EF4-FFF2-40B4-BE49-F238E27FC236}">
                <a16:creationId xmlns:a16="http://schemas.microsoft.com/office/drawing/2014/main" id="{4D88DEE4-FD45-4190-B329-CB5BBA096C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PA-矩形 7">
            <a:extLst>
              <a:ext uri="{FF2B5EF4-FFF2-40B4-BE49-F238E27FC236}">
                <a16:creationId xmlns:a16="http://schemas.microsoft.com/office/drawing/2014/main" id="{471F5C13-5F23-433E-A47C-FEBDA27204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任意多边形: 形状 101">
            <a:extLst>
              <a:ext uri="{FF2B5EF4-FFF2-40B4-BE49-F238E27FC236}">
                <a16:creationId xmlns:a16="http://schemas.microsoft.com/office/drawing/2014/main" id="{0A933573-D471-4164-8192-32AA5DF58F81}"/>
              </a:ext>
            </a:extLst>
          </p:cNvPr>
          <p:cNvSpPr>
            <a:spLocks noGrp="1"/>
          </p:cNvSpPr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/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任意多边形: 形状 83">
            <a:extLst>
              <a:ext uri="{FF2B5EF4-FFF2-40B4-BE49-F238E27FC236}">
                <a16:creationId xmlns:a16="http://schemas.microsoft.com/office/drawing/2014/main" id="{8349565B-F275-44A7-A78C-3396464F4B33}"/>
              </a:ext>
            </a:extLst>
          </p:cNvPr>
          <p:cNvSpPr>
            <a:spLocks noGrp="1"/>
          </p:cNvSpPr>
          <p:nvPr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/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任意多边形: 形状 62">
            <a:extLst>
              <a:ext uri="{FF2B5EF4-FFF2-40B4-BE49-F238E27FC236}">
                <a16:creationId xmlns:a16="http://schemas.microsoft.com/office/drawing/2014/main" id="{04EA9635-C032-4F8C-AD13-B8F3D3889E96}"/>
              </a:ext>
            </a:extLst>
          </p:cNvPr>
          <p:cNvSpPr>
            <a:spLocks noGrp="1"/>
          </p:cNvSpPr>
          <p:nvPr/>
        </p:nvSpPr>
        <p:spPr>
          <a:xfrm>
            <a:off x="0" y="2989267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/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>
            <a:solidFill>
              <a:srgbClr val="FFFFFF"/>
            </a:solidFill>
            <a:prstDash val="solid"/>
            <a:miter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标题 47">
            <a:extLst>
              <a:ext uri="{FF2B5EF4-FFF2-40B4-BE49-F238E27FC236}">
                <a16:creationId xmlns:a16="http://schemas.microsoft.com/office/drawing/2014/main" id="{4260206D-8FA5-433C-BE6E-81EF0D375FEA}"/>
              </a:ext>
            </a:extLst>
          </p:cNvPr>
          <p:cNvSpPr>
            <a:spLocks noGrp="1"/>
          </p:cNvSpPr>
          <p:nvPr/>
        </p:nvSpPr>
        <p:spPr>
          <a:xfrm>
            <a:off x="2537316" y="3693224"/>
            <a:ext cx="7214483" cy="83099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4400" kern="1200" spc="100">
                <a:solidFill>
                  <a:schemeClr val="accent1"/>
                </a:solidFill>
                <a:latin typeface="方正大标宋简体"/>
                <a:ea typeface="方正大标宋简体"/>
                <a:cs typeface="方正大标宋简体"/>
              </a:defRPr>
            </a:lvl1pPr>
          </a:lstStyle>
          <a:p>
            <a:r>
              <a:rPr sz="24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突发事件网络舆情多Agent仿真系统</a:t>
            </a:r>
          </a:p>
          <a:p>
            <a:r>
              <a:rPr sz="24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第二阶段研发成果汇报</a:t>
            </a:r>
            <a:endParaRPr sz="2400" b="1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B97734F4-AE6D-429D-BE54-034DC0F139EC}"/>
              </a:ext>
            </a:extLst>
          </p:cNvPr>
          <p:cNvSpPr>
            <a:spLocks noGrp="1"/>
          </p:cNvSpPr>
          <p:nvPr/>
        </p:nvSpPr>
        <p:spPr>
          <a:xfrm>
            <a:off x="2108520" y="4952976"/>
            <a:ext cx="7974957" cy="0"/>
          </a:xfrm>
          <a:prstGeom prst="line">
            <a:avLst/>
          </a:prstGeom>
          <a:noFill/>
          <a:ln w="6350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D40D96B-72C3-4B9B-9993-B8D13037D80F}"/>
              </a:ext>
            </a:extLst>
          </p:cNvPr>
          <p:cNvSpPr>
            <a:spLocks noGrp="1"/>
          </p:cNvSpPr>
          <p:nvPr/>
        </p:nvSpPr>
        <p:spPr>
          <a:xfrm>
            <a:off x="2028286" y="5069181"/>
            <a:ext cx="416011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研发单位：河北大学数学与信息科学学院</a:t>
            </a:r>
          </a:p>
          <a:p>
            <a:r>
              <a:rPr sz="1400"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	河北省机器学习与计算智能重点实验室</a:t>
            </a:r>
          </a:p>
          <a:p>
            <a:r>
              <a:rPr sz="1400"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	河北大学新闻传播学院</a:t>
            </a:r>
          </a:p>
          <a:p>
            <a:r>
              <a:rPr sz="1400"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汇  报  人：万来</a:t>
            </a:r>
          </a:p>
          <a:p>
            <a:r>
              <a:rPr sz="1400" b="1">
                <a:solidFill>
                  <a:srgbClr val="00B0F0"/>
                </a:solidFill>
                <a:latin typeface="Microsoft YaHei"/>
                <a:ea typeface="Microsoft YaHei"/>
                <a:cs typeface="Microsoft YaHei"/>
              </a:rPr>
              <a:t>汇报日期：2026年10月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5C58951-ECF9-4F92-A126-A892BD500082}"/>
              </a:ext>
            </a:extLst>
          </p:cNvPr>
          <p:cNvSpPr>
            <a:spLocks noGrp="1"/>
          </p:cNvSpPr>
          <p:nvPr/>
        </p:nvSpPr>
        <p:spPr>
          <a:xfrm>
            <a:off x="6678007" y="571437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sz="1400">
              <a:solidFill>
                <a:srgbClr val="2257A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14C5F6-3B3E-4F76-BFF2-F453900FC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1130935"/>
            <a:ext cx="1169670" cy="117221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95B3CB4-A227-4D29-BD7D-13AFF08A5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60" y="1085215"/>
            <a:ext cx="3843655" cy="114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50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任意多边形: 形状 101">
            <a:extLst>
              <a:ext uri="{FF2B5EF4-FFF2-40B4-BE49-F238E27FC236}">
                <a16:creationId xmlns:a16="http://schemas.microsoft.com/office/drawing/2014/main" id="{C8756E1E-BA66-4F1D-88A8-C73309DC4EE1}"/>
              </a:ext>
            </a:extLst>
          </p:cNvPr>
          <p:cNvSpPr>
            <a:spLocks noGrp="1"/>
          </p:cNvSpPr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/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ïŝḻïďè">
            <a:extLst>
              <a:ext uri="{FF2B5EF4-FFF2-40B4-BE49-F238E27FC236}">
                <a16:creationId xmlns:a16="http://schemas.microsoft.com/office/drawing/2014/main" id="{94FBE602-B8BA-42ED-A390-5FCE92E65042}"/>
              </a:ext>
            </a:extLst>
          </p:cNvPr>
          <p:cNvSpPr>
            <a:spLocks noGrp="1"/>
          </p:cNvSpPr>
          <p:nvPr/>
        </p:nvSpPr>
        <p:spPr>
          <a:xfrm>
            <a:off x="2199107" y="3676945"/>
            <a:ext cx="25438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9340718C-FAA7-443A-92EA-8710245D0E13}"/>
              </a:ext>
            </a:extLst>
          </p:cNvPr>
          <p:cNvSpPr>
            <a:spLocks noGrp="1"/>
          </p:cNvSpPr>
          <p:nvPr/>
        </p:nvSpPr>
        <p:spPr>
          <a:xfrm>
            <a:off x="2149523" y="2305487"/>
            <a:ext cx="2606048" cy="0"/>
          </a:xfrm>
          <a:prstGeom prst="line">
            <a:avLst/>
          </a:prstGeom>
          <a:ln w="9525">
            <a:solidFill>
              <a:srgbClr val="2257AE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CE956B2A-8941-42D6-831C-6199AE6DAFEB}"/>
              </a:ext>
            </a:extLst>
          </p:cNvPr>
          <p:cNvSpPr>
            <a:spLocks noGrp="1"/>
          </p:cNvSpPr>
          <p:nvPr/>
        </p:nvSpPr>
        <p:spPr>
          <a:xfrm>
            <a:off x="2180003" y="4375719"/>
            <a:ext cx="2606048" cy="0"/>
          </a:xfrm>
          <a:prstGeom prst="line">
            <a:avLst/>
          </a:prstGeom>
          <a:ln w="38100">
            <a:solidFill>
              <a:srgbClr val="2257AE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iŝlídé">
            <a:extLst>
              <a:ext uri="{FF2B5EF4-FFF2-40B4-BE49-F238E27FC236}">
                <a16:creationId xmlns:a16="http://schemas.microsoft.com/office/drawing/2014/main" id="{0DE9EAF4-DE3A-422F-BD59-D00FA6AA7877}"/>
              </a:ext>
            </a:extLst>
          </p:cNvPr>
          <p:cNvSpPr>
            <a:spLocks noGrp="1"/>
          </p:cNvSpPr>
          <p:nvPr/>
        </p:nvSpPr>
        <p:spPr>
          <a:xfrm>
            <a:off x="6407090" y="948878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2257AE"/>
                </a:solidFill>
                <a:latin typeface="微软雅黑 Light"/>
                <a:ea typeface="微软雅黑 Light"/>
                <a:cs typeface="微软雅黑 Light"/>
              </a:rPr>
              <a:t>Part </a:t>
            </a:r>
            <a:r>
              <a:rPr sz="2400" b="1">
                <a:solidFill>
                  <a:srgbClr val="2257AE"/>
                </a:solidFill>
                <a:latin typeface="Bahnschrift Light"/>
                <a:ea typeface="Bahnschrift Light"/>
                <a:cs typeface="Bahnschrift Light"/>
              </a:rPr>
              <a:t>01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D871CA5-FD23-4984-86CA-1CAD8638DE54}"/>
              </a:ext>
            </a:extLst>
          </p:cNvPr>
          <p:cNvSpPr>
            <a:spLocks noGrp="1"/>
          </p:cNvSpPr>
          <p:nvPr/>
        </p:nvSpPr>
        <p:spPr>
          <a:xfrm>
            <a:off x="8082695" y="966513"/>
            <a:ext cx="1886088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6A35330-96F0-4C54-B847-F72A53D342C2}"/>
              </a:ext>
            </a:extLst>
          </p:cNvPr>
          <p:cNvSpPr>
            <a:spLocks noGrp="1"/>
          </p:cNvSpPr>
          <p:nvPr/>
        </p:nvSpPr>
        <p:spPr>
          <a:xfrm>
            <a:off x="6342584" y="905487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4" name="íṡļîḓè">
            <a:extLst>
              <a:ext uri="{FF2B5EF4-FFF2-40B4-BE49-F238E27FC236}">
                <a16:creationId xmlns:a16="http://schemas.microsoft.com/office/drawing/2014/main" id="{7D8F0BAE-C578-473C-A6DD-E1200E6FF130}"/>
              </a:ext>
            </a:extLst>
          </p:cNvPr>
          <p:cNvSpPr>
            <a:spLocks noGrp="1"/>
          </p:cNvSpPr>
          <p:nvPr/>
        </p:nvSpPr>
        <p:spPr>
          <a:xfrm>
            <a:off x="6407090" y="2040717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2257AE"/>
                </a:solidFill>
                <a:latin typeface="微软雅黑 Light"/>
                <a:ea typeface="微软雅黑 Light"/>
                <a:cs typeface="微软雅黑 Light"/>
              </a:rPr>
              <a:t>Part </a:t>
            </a:r>
            <a:r>
              <a:rPr sz="2400" b="1">
                <a:solidFill>
                  <a:srgbClr val="2257AE"/>
                </a:solidFill>
                <a:latin typeface="Bahnschrift Light"/>
                <a:ea typeface="Bahnschrift Light"/>
                <a:cs typeface="Bahnschrift Light"/>
              </a:rPr>
              <a:t>02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71B3E99-B615-4453-834E-AC0B338576A0}"/>
              </a:ext>
            </a:extLst>
          </p:cNvPr>
          <p:cNvSpPr>
            <a:spLocks noGrp="1"/>
          </p:cNvSpPr>
          <p:nvPr/>
        </p:nvSpPr>
        <p:spPr>
          <a:xfrm>
            <a:off x="6342585" y="1995719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7" name="îṣḻidé">
            <a:extLst>
              <a:ext uri="{FF2B5EF4-FFF2-40B4-BE49-F238E27FC236}">
                <a16:creationId xmlns:a16="http://schemas.microsoft.com/office/drawing/2014/main" id="{7186BE6B-5993-4781-AFA0-499C562B28D7}"/>
              </a:ext>
            </a:extLst>
          </p:cNvPr>
          <p:cNvSpPr>
            <a:spLocks noGrp="1"/>
          </p:cNvSpPr>
          <p:nvPr/>
        </p:nvSpPr>
        <p:spPr>
          <a:xfrm>
            <a:off x="6407090" y="3127905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2257AE"/>
                </a:solidFill>
                <a:latin typeface="微软雅黑 Light"/>
                <a:ea typeface="微软雅黑 Light"/>
                <a:cs typeface="微软雅黑 Light"/>
              </a:rPr>
              <a:t>Part </a:t>
            </a:r>
            <a:r>
              <a:rPr sz="2400" b="1">
                <a:solidFill>
                  <a:srgbClr val="2257AE"/>
                </a:solidFill>
                <a:latin typeface="Bahnschrift Light"/>
                <a:ea typeface="Bahnschrift Light"/>
                <a:cs typeface="Bahnschrift Light"/>
              </a:rPr>
              <a:t>03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1C20D08-45F9-4C93-AD63-33EAD7ABFAFB}"/>
              </a:ext>
            </a:extLst>
          </p:cNvPr>
          <p:cNvSpPr>
            <a:spLocks noGrp="1"/>
          </p:cNvSpPr>
          <p:nvPr/>
        </p:nvSpPr>
        <p:spPr>
          <a:xfrm>
            <a:off x="6342585" y="3085951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9" name="ïśḻîḋé">
            <a:extLst>
              <a:ext uri="{FF2B5EF4-FFF2-40B4-BE49-F238E27FC236}">
                <a16:creationId xmlns:a16="http://schemas.microsoft.com/office/drawing/2014/main" id="{2ABA0C4E-1FA6-48F2-9A3A-A1038D7E2E08}"/>
              </a:ext>
            </a:extLst>
          </p:cNvPr>
          <p:cNvSpPr>
            <a:spLocks noGrp="1"/>
          </p:cNvSpPr>
          <p:nvPr/>
        </p:nvSpPr>
        <p:spPr>
          <a:xfrm>
            <a:off x="6407090" y="4212542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2257AE"/>
                </a:solidFill>
                <a:latin typeface="微软雅黑 Light"/>
                <a:ea typeface="微软雅黑 Light"/>
                <a:cs typeface="微软雅黑 Light"/>
              </a:rPr>
              <a:t>Part </a:t>
            </a:r>
            <a:r>
              <a:rPr sz="2400" b="1">
                <a:solidFill>
                  <a:srgbClr val="2257AE"/>
                </a:solidFill>
                <a:latin typeface="Bahnschrift Light"/>
                <a:ea typeface="Bahnschrift Light"/>
                <a:cs typeface="Bahnschrift Light"/>
              </a:rPr>
              <a:t>04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E85BFA80-DF86-4B76-9A63-E73131E4AE9F}"/>
              </a:ext>
            </a:extLst>
          </p:cNvPr>
          <p:cNvSpPr>
            <a:spLocks noGrp="1"/>
          </p:cNvSpPr>
          <p:nvPr/>
        </p:nvSpPr>
        <p:spPr>
          <a:xfrm>
            <a:off x="8082695" y="4232656"/>
            <a:ext cx="2011855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实验与演示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D4E6DFD-3E2E-4B90-9942-5B7D0C8D3A75}"/>
              </a:ext>
            </a:extLst>
          </p:cNvPr>
          <p:cNvSpPr>
            <a:spLocks noGrp="1"/>
          </p:cNvSpPr>
          <p:nvPr/>
        </p:nvSpPr>
        <p:spPr>
          <a:xfrm>
            <a:off x="6342585" y="4176184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096C7EC-DD6E-4201-B58C-8959792C1CCD}"/>
              </a:ext>
            </a:extLst>
          </p:cNvPr>
          <p:cNvSpPr>
            <a:spLocks noGrp="1"/>
          </p:cNvSpPr>
          <p:nvPr/>
        </p:nvSpPr>
        <p:spPr>
          <a:xfrm>
            <a:off x="8082694" y="3141503"/>
            <a:ext cx="2011855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第二阶段进展</a:t>
            </a:r>
          </a:p>
        </p:txBody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511D23F3-CC77-4224-A972-BE732BB9FA86}"/>
              </a:ext>
            </a:extLst>
          </p:cNvPr>
          <p:cNvSpPr>
            <a:spLocks noGrp="1"/>
          </p:cNvSpPr>
          <p:nvPr/>
        </p:nvSpPr>
        <p:spPr>
          <a:xfrm>
            <a:off x="6342584" y="1577168"/>
            <a:ext cx="4077730" cy="0"/>
          </a:xfrm>
          <a:prstGeom prst="line">
            <a:avLst/>
          </a:prstGeom>
          <a:ln w="22225">
            <a:solidFill>
              <a:srgbClr val="2257AE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20469AC5-D48C-4F4E-9BC1-6A2FE7A1650B}"/>
              </a:ext>
            </a:extLst>
          </p:cNvPr>
          <p:cNvSpPr>
            <a:spLocks noGrp="1"/>
          </p:cNvSpPr>
          <p:nvPr/>
        </p:nvSpPr>
        <p:spPr>
          <a:xfrm>
            <a:off x="6342584" y="2677161"/>
            <a:ext cx="4077730" cy="0"/>
          </a:xfrm>
          <a:prstGeom prst="line">
            <a:avLst/>
          </a:prstGeom>
          <a:ln w="22225">
            <a:solidFill>
              <a:srgbClr val="2257AE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73C293FC-293C-4E7B-BFB9-52425033BFB0}"/>
              </a:ext>
            </a:extLst>
          </p:cNvPr>
          <p:cNvSpPr>
            <a:spLocks noGrp="1"/>
          </p:cNvSpPr>
          <p:nvPr/>
        </p:nvSpPr>
        <p:spPr>
          <a:xfrm>
            <a:off x="6342584" y="3757872"/>
            <a:ext cx="4077730" cy="0"/>
          </a:xfrm>
          <a:prstGeom prst="line">
            <a:avLst/>
          </a:prstGeom>
          <a:ln w="22225">
            <a:solidFill>
              <a:srgbClr val="2257AE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D86A55B8-B77F-4AED-A5D2-8FB8729098BE}"/>
              </a:ext>
            </a:extLst>
          </p:cNvPr>
          <p:cNvSpPr>
            <a:spLocks noGrp="1"/>
          </p:cNvSpPr>
          <p:nvPr/>
        </p:nvSpPr>
        <p:spPr>
          <a:xfrm>
            <a:off x="6342584" y="4857865"/>
            <a:ext cx="4077730" cy="0"/>
          </a:xfrm>
          <a:prstGeom prst="line">
            <a:avLst/>
          </a:prstGeom>
          <a:ln w="22225">
            <a:solidFill>
              <a:srgbClr val="2257AE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Freeform 5">
            <a:extLst>
              <a:ext uri="{FF2B5EF4-FFF2-40B4-BE49-F238E27FC236}">
                <a16:creationId xmlns:a16="http://schemas.microsoft.com/office/drawing/2014/main" id="{F82CBD8E-E1B5-4023-995F-2A52F6E2ABA7}"/>
              </a:ext>
            </a:extLst>
          </p:cNvPr>
          <p:cNvSpPr>
            <a:spLocks noGrp="1"/>
          </p:cNvSpPr>
          <p:nvPr/>
        </p:nvSpPr>
        <p:spPr>
          <a:xfrm>
            <a:off x="886594" y="-2479166"/>
            <a:ext cx="10418813" cy="11816333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1"/>
                </a:gs>
                <a:gs pos="100000">
                  <a:schemeClr val="accent1"/>
                </a:gs>
                <a:gs pos="50000">
                  <a:schemeClr val="bg1">
                    <a:lumMod val="95000"/>
                    <a:alpha val="10000"/>
                  </a:scheme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89" name="Freeform 5">
            <a:extLst>
              <a:ext uri="{FF2B5EF4-FFF2-40B4-BE49-F238E27FC236}">
                <a16:creationId xmlns:a16="http://schemas.microsoft.com/office/drawing/2014/main" id="{73593036-6E9C-4C01-B677-61131DA7EF26}"/>
              </a:ext>
            </a:extLst>
          </p:cNvPr>
          <p:cNvSpPr>
            <a:spLocks noGrp="1"/>
          </p:cNvSpPr>
          <p:nvPr/>
        </p:nvSpPr>
        <p:spPr>
          <a:xfrm>
            <a:off x="-763862" y="-4351006"/>
            <a:ext cx="13719726" cy="15560012"/>
          </a:xfrm>
          <a:prstGeom prst="ellipse">
            <a:avLst/>
          </a:prstGeom>
          <a:noFill/>
          <a:ln w="8890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90" name="ïśḻîḋé">
            <a:extLst>
              <a:ext uri="{FF2B5EF4-FFF2-40B4-BE49-F238E27FC236}">
                <a16:creationId xmlns:a16="http://schemas.microsoft.com/office/drawing/2014/main" id="{8A738364-0F09-4B6C-9BC9-B9DBD9B4E94E}"/>
              </a:ext>
            </a:extLst>
          </p:cNvPr>
          <p:cNvSpPr>
            <a:spLocks noGrp="1"/>
          </p:cNvSpPr>
          <p:nvPr/>
        </p:nvSpPr>
        <p:spPr>
          <a:xfrm>
            <a:off x="6407089" y="5315297"/>
            <a:ext cx="1575000" cy="48830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sz="2400">
                <a:solidFill>
                  <a:srgbClr val="2257AE"/>
                </a:solidFill>
                <a:latin typeface="微软雅黑 Light"/>
                <a:ea typeface="微软雅黑 Light"/>
                <a:cs typeface="微软雅黑 Light"/>
              </a:rPr>
              <a:t>Part </a:t>
            </a:r>
            <a:r>
              <a:rPr sz="2400" b="1">
                <a:solidFill>
                  <a:srgbClr val="2257AE"/>
                </a:solidFill>
                <a:latin typeface="Bahnschrift Light"/>
                <a:ea typeface="Bahnschrift Light"/>
                <a:cs typeface="Bahnschrift Light"/>
              </a:rPr>
              <a:t>05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CD52EC5-AF89-4F6A-A2E7-87B8D524130D}"/>
              </a:ext>
            </a:extLst>
          </p:cNvPr>
          <p:cNvSpPr>
            <a:spLocks noGrp="1"/>
          </p:cNvSpPr>
          <p:nvPr/>
        </p:nvSpPr>
        <p:spPr>
          <a:xfrm>
            <a:off x="8082694" y="5335411"/>
            <a:ext cx="2011855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后续工作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2C38001-7BF7-4227-AE20-8BDD3F3C7BDE}"/>
              </a:ext>
            </a:extLst>
          </p:cNvPr>
          <p:cNvSpPr>
            <a:spLocks noGrp="1"/>
          </p:cNvSpPr>
          <p:nvPr/>
        </p:nvSpPr>
        <p:spPr>
          <a:xfrm>
            <a:off x="6342584" y="5278939"/>
            <a:ext cx="4077730" cy="681442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7DA066D5-312F-496B-9129-469C157350FB}"/>
              </a:ext>
            </a:extLst>
          </p:cNvPr>
          <p:cNvSpPr>
            <a:spLocks noGrp="1"/>
          </p:cNvSpPr>
          <p:nvPr/>
        </p:nvSpPr>
        <p:spPr>
          <a:xfrm>
            <a:off x="6342583" y="5960620"/>
            <a:ext cx="4077730" cy="0"/>
          </a:xfrm>
          <a:prstGeom prst="line">
            <a:avLst/>
          </a:prstGeom>
          <a:ln w="22225">
            <a:solidFill>
              <a:srgbClr val="2257AE"/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9F9894-367B-4EBD-9650-27FB8BC344F2}"/>
              </a:ext>
            </a:extLst>
          </p:cNvPr>
          <p:cNvSpPr>
            <a:spLocks noGrp="1"/>
          </p:cNvSpPr>
          <p:nvPr/>
        </p:nvSpPr>
        <p:spPr>
          <a:xfrm>
            <a:off x="2099755" y="2236294"/>
            <a:ext cx="2676136" cy="1490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sz="8000">
                <a:solidFill>
                  <a:srgbClr val="2257AE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5DA8C0-109A-CECC-91BC-4159E2A2B18A}"/>
              </a:ext>
            </a:extLst>
          </p:cNvPr>
          <p:cNvSpPr>
            <a:spLocks noGrp="1"/>
          </p:cNvSpPr>
          <p:nvPr/>
        </p:nvSpPr>
        <p:spPr>
          <a:xfrm>
            <a:off x="8082694" y="2060792"/>
            <a:ext cx="2011855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第一阶段成果</a:t>
            </a:r>
          </a:p>
        </p:txBody>
      </p:sp>
    </p:spTree>
    <p:extLst>
      <p:ext uri="{BB962C8B-B14F-4D97-AF65-F5344CB8AC3E}">
        <p14:creationId xmlns:p14="http://schemas.microsoft.com/office/powerpoint/2010/main" val="205027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17970FB-8C0A-479D-BBA1-5E51F59DB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5D721C-534F-4C1D-94F9-13B5976CB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A7E151A-CDBE-1A9D-BE71-D991123FEE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AF79C7-7B34-16C6-B9A1-6A6A913C2B6B}"/>
              </a:ext>
            </a:extLst>
          </p:cNvPr>
          <p:cNvSpPr>
            <a:spLocks noGrp="1"/>
          </p:cNvSpPr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D96C7FD-7C7D-23D1-1BBE-694BC292AE65}"/>
              </a:ext>
            </a:extLst>
          </p:cNvPr>
          <p:cNvSpPr>
            <a:spLocks noGrp="1"/>
          </p:cNvSpPr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100" b="1">
                <a:solidFill>
                  <a:srgbClr val="97CDDC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14A425-8FE5-8277-631F-5A33405CCD5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B6B87C-FCDB-7475-C2F3-63D0514309AB}"/>
              </a:ext>
            </a:extLst>
          </p:cNvPr>
          <p:cNvSpPr>
            <a:spLocks noGrp="1"/>
          </p:cNvSpPr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3600" b="1">
                <a:solidFill>
                  <a:srgbClr val="0C2B4C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F19414-5938-D60A-8A9F-871ED93E8D2F}"/>
              </a:ext>
            </a:extLst>
          </p:cNvPr>
          <p:cNvSpPr>
            <a:spLocks noGrp="1"/>
          </p:cNvSpPr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>
                <a:solidFill>
                  <a:srgbClr val="536578"/>
                </a:solidFill>
                <a:latin typeface="Microsoft YaHei"/>
                <a:ea typeface="Microsoft YaHei"/>
                <a:cs typeface="Microsoft YaHei"/>
              </a:rPr>
              <a:t>现实舆情研判中的问题与系统定位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C86AC58-0FB4-4B70-A1AD-632CED25E947}"/>
              </a:ext>
            </a:extLst>
          </p:cNvPr>
          <p:cNvSpPr>
            <a:spLocks noGrp="1"/>
          </p:cNvSpPr>
          <p:nvPr/>
        </p:nv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2463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910673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157C0FD3-53CE-495B-804A-00E7E3E236D8}"/>
              </a:ext>
            </a:extLst>
          </p:cNvPr>
          <p:cNvSpPr>
            <a:spLocks noGrp="1"/>
          </p:cNvSpPr>
          <p:nvPr/>
        </p:nvSpPr>
        <p:spPr>
          <a:xfrm>
            <a:off x="528706" y="867990"/>
            <a:ext cx="1115879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D816519C-D661-4F33-8D2B-F9C48A223B93}"/>
              </a:ext>
            </a:extLst>
          </p:cNvPr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rgbClr val="2257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文本占位符 43">
            <a:extLst>
              <a:ext uri="{FF2B5EF4-FFF2-40B4-BE49-F238E27FC236}">
                <a16:creationId xmlns:a16="http://schemas.microsoft.com/office/drawing/2014/main" id="{0D6DDEA4-034B-4F35-9C1F-AB57A479B96D}"/>
              </a:ext>
            </a:extLst>
          </p:cNvPr>
          <p:cNvSpPr>
            <a:spLocks noGrp="1"/>
          </p:cNvSpPr>
          <p:nvPr/>
        </p:nvSpPr>
        <p:spPr>
          <a:xfrm>
            <a:off x="399891" y="349328"/>
            <a:ext cx="7466453" cy="4801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1" kern="1200">
                <a:solidFill>
                  <a:schemeClr val="accent2"/>
                </a:solidFill>
                <a:latin typeface="思源宋体 CN Heavy"/>
                <a:ea typeface="思源宋体 CN Heavy"/>
                <a:cs typeface="思源宋体 CN Heavy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项目背景/</a:t>
            </a:r>
            <a:r>
              <a:rPr b="0">
                <a:solidFill>
                  <a:srgbClr val="00B0F0"/>
                </a:solidFill>
                <a:latin typeface="微软雅黑"/>
                <a:ea typeface="微软雅黑"/>
                <a:cs typeface="微软雅黑"/>
              </a:rPr>
              <a:t>案例引入-一起车位如何演化为舆情事件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526020-2202-4DD0-A1C6-BCE898D2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4C4923-59C8-4E3B-9BBB-F3A42B2A4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AD29967-5447-D3FF-17D9-295592A67E2F}"/>
              </a:ext>
            </a:extLst>
          </p:cNvPr>
          <p:cNvSpPr>
            <a:spLocks noGrp="1"/>
          </p:cNvSpPr>
          <p:nvPr/>
        </p:nvSpPr>
        <p:spPr>
          <a:xfrm>
            <a:off x="8407576" y="1239519"/>
            <a:ext cx="2924824" cy="52609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6月30日车位纠纷发生</a:t>
            </a:r>
          </a:p>
          <a:p>
            <a:pPr algn="ctr">
              <a:buNone/>
            </a:pPr>
            <a:endParaRPr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52AE9B6-D9FC-442F-F0B7-3FFF8A48EEA1}"/>
              </a:ext>
            </a:extLst>
          </p:cNvPr>
          <p:cNvSpPr>
            <a:spLocks noGrp="1"/>
          </p:cNvSpPr>
          <p:nvPr/>
        </p:nvSpPr>
        <p:spPr>
          <a:xfrm>
            <a:off x="8407575" y="1990061"/>
            <a:ext cx="2924825" cy="52609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7月3日冲突升级</a:t>
            </a:r>
          </a:p>
          <a:p>
            <a:pPr algn="ctr">
              <a:buNone/>
            </a:pPr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68DAB5-54DF-6429-D5D0-EC19CC51E86A}"/>
              </a:ext>
            </a:extLst>
          </p:cNvPr>
          <p:cNvSpPr>
            <a:spLocks noGrp="1"/>
          </p:cNvSpPr>
          <p:nvPr/>
        </p:nvSpPr>
        <p:spPr>
          <a:xfrm>
            <a:off x="8407575" y="2754554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7月4日至9日纠纷调解</a:t>
            </a:r>
          </a:p>
          <a:p>
            <a:pPr algn="ctr">
              <a:buNone/>
            </a:pPr>
            <a:endParaRPr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D74AD3-8D97-2583-6D86-72A183A21631}"/>
              </a:ext>
            </a:extLst>
          </p:cNvPr>
          <p:cNvSpPr>
            <a:spLocks noGrp="1"/>
          </p:cNvSpPr>
          <p:nvPr/>
        </p:nvSpPr>
        <p:spPr>
          <a:xfrm>
            <a:off x="8407577" y="3553867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7月10日达成和解</a:t>
            </a:r>
          </a:p>
          <a:p>
            <a:pPr algn="ctr">
              <a:buNone/>
            </a:pPr>
            <a:endParaRPr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3B94AC-AC06-F852-505B-E9BF2560DBBB}"/>
              </a:ext>
            </a:extLst>
          </p:cNvPr>
          <p:cNvSpPr>
            <a:spLocks noGrp="1"/>
          </p:cNvSpPr>
          <p:nvPr/>
        </p:nvSpPr>
        <p:spPr>
          <a:xfrm>
            <a:off x="8407577" y="4382672"/>
            <a:ext cx="2924826" cy="564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7月11日官方发布声明</a:t>
            </a:r>
          </a:p>
          <a:p>
            <a:pPr algn="ctr">
              <a:buNone/>
            </a:pPr>
            <a:endParaRPr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7A4C455-23D0-4250-B357-CEF441F36268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9869988" y="1765613"/>
            <a:ext cx="0" cy="224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B53E80C-9E1F-404F-8474-2F1872554CF3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9869988" y="2516155"/>
            <a:ext cx="0" cy="238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BD971C6-B6F4-4472-B45A-0D76F5B12EA3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9869988" y="3318954"/>
            <a:ext cx="2" cy="23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F7BAF2E-4772-4810-8E27-B367895FC98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9869990" y="4118267"/>
            <a:ext cx="0" cy="264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FD31F494-AE05-430B-8A8E-84C8AC395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91" y="906522"/>
            <a:ext cx="5739072" cy="5826215"/>
          </a:xfrm>
          <a:prstGeom prst="rect">
            <a:avLst/>
          </a:prstGeom>
        </p:spPr>
      </p:pic>
      <p:sp>
        <p:nvSpPr>
          <p:cNvPr id="3" name="Page Number 4">
            <a:extLst>
              <a:ext uri="{FF2B5EF4-FFF2-40B4-BE49-F238E27FC236}">
                <a16:creationId xmlns:a16="http://schemas.microsoft.com/office/drawing/2014/main" id="{6AF63705-30F5-87EF-C6AF-90E751E44257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2835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>
            <a:extLst>
              <a:ext uri="{FF2B5EF4-FFF2-40B4-BE49-F238E27FC236}">
                <a16:creationId xmlns:a16="http://schemas.microsoft.com/office/drawing/2014/main" id="{D36F2147-C944-4F0D-A662-C19FFCACA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01" y="936883"/>
            <a:ext cx="3581747" cy="2548925"/>
          </a:xfrm>
          <a:prstGeom prst="rect">
            <a:avLst/>
          </a:prstGeom>
        </p:spPr>
      </p:pic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F4081271-03C5-461B-A41A-47A93A4A6463}"/>
              </a:ext>
            </a:extLst>
          </p:cNvPr>
          <p:cNvSpPr>
            <a:spLocks noGrp="1"/>
          </p:cNvSpPr>
          <p:nvPr/>
        </p:nvSpPr>
        <p:spPr>
          <a:xfrm>
            <a:off x="528706" y="867990"/>
            <a:ext cx="1115879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95A553CD-240D-45EA-A77E-28EB65434A71}"/>
              </a:ext>
            </a:extLst>
          </p:cNvPr>
          <p:cNvSpPr>
            <a:spLocks noGrp="1"/>
          </p:cNvSpPr>
          <p:nvPr/>
        </p:nvSpPr>
        <p:spPr>
          <a:xfrm>
            <a:off x="528706" y="867990"/>
            <a:ext cx="589713" cy="0"/>
          </a:xfrm>
          <a:prstGeom prst="line">
            <a:avLst/>
          </a:prstGeom>
          <a:ln w="38100">
            <a:solidFill>
              <a:srgbClr val="2257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文本占位符 43">
            <a:extLst>
              <a:ext uri="{FF2B5EF4-FFF2-40B4-BE49-F238E27FC236}">
                <a16:creationId xmlns:a16="http://schemas.microsoft.com/office/drawing/2014/main" id="{0A0427D2-0B70-80BA-6010-AB7F415F91B0}"/>
              </a:ext>
            </a:extLst>
          </p:cNvPr>
          <p:cNvSpPr>
            <a:spLocks noGrp="1"/>
          </p:cNvSpPr>
          <p:nvPr/>
        </p:nvSpPr>
        <p:spPr>
          <a:xfrm>
            <a:off x="399891" y="349328"/>
            <a:ext cx="6495687" cy="4801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1" kern="1200">
                <a:solidFill>
                  <a:schemeClr val="accent2"/>
                </a:solidFill>
                <a:latin typeface="思源宋体 CN Heavy"/>
                <a:ea typeface="思源宋体 CN Heavy"/>
                <a:cs typeface="思源宋体 CN Heavy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项目背景/</a:t>
            </a:r>
            <a:r>
              <a:rPr b="0">
                <a:solidFill>
                  <a:srgbClr val="00B0F0"/>
                </a:solidFill>
                <a:latin typeface="微软雅黑"/>
                <a:ea typeface="微软雅黑"/>
                <a:cs typeface="微软雅黑"/>
              </a:rPr>
              <a:t>舆情争议-官方回应后出现次生舆情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BF1531-EA63-43F4-B79F-D831D6E3C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165" y="295275"/>
            <a:ext cx="529590" cy="531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A7BAE6-7E81-4E65-8333-B728CA3C4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465" y="408305"/>
            <a:ext cx="1109345" cy="42100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43007E6A-87FE-4F16-9D0B-75CE27FE7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924" y="948320"/>
            <a:ext cx="3306358" cy="24658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F7A32E-38EC-43BB-B0D5-8DADA227D8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875" y="936883"/>
            <a:ext cx="3409824" cy="247726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885D608-54CD-4D95-B266-CFBDA03084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7738" y="906521"/>
            <a:ext cx="3808886" cy="26320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D8EA0E7-4416-4229-B56B-79F8FDCDA7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7973" y="898353"/>
            <a:ext cx="3918651" cy="2632080"/>
          </a:xfrm>
          <a:prstGeom prst="rect">
            <a:avLst/>
          </a:prstGeom>
        </p:spPr>
      </p:pic>
      <p:sp>
        <p:nvSpPr>
          <p:cNvPr id="24" name="星形: 六角 23">
            <a:extLst>
              <a:ext uri="{FF2B5EF4-FFF2-40B4-BE49-F238E27FC236}">
                <a16:creationId xmlns:a16="http://schemas.microsoft.com/office/drawing/2014/main" id="{1426C6C6-CC96-2829-0AC9-8B0FE843D0A5}"/>
              </a:ext>
            </a:extLst>
          </p:cNvPr>
          <p:cNvSpPr>
            <a:spLocks noGrp="1"/>
          </p:cNvSpPr>
          <p:nvPr/>
        </p:nvSpPr>
        <p:spPr>
          <a:xfrm>
            <a:off x="661237" y="6068860"/>
            <a:ext cx="10979779" cy="752133"/>
          </a:xfrm>
          <a:prstGeom prst="star6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4BFCA2-4A50-CB58-CBA8-96BB1FD8BFF6}"/>
              </a:ext>
            </a:extLst>
          </p:cNvPr>
          <p:cNvSpPr>
            <a:spLocks noGrp="1"/>
          </p:cNvSpPr>
          <p:nvPr/>
        </p:nvSpPr>
        <p:spPr>
          <a:xfrm>
            <a:off x="2647603" y="6291037"/>
            <a:ext cx="70070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微软雅黑"/>
                <a:ea typeface="微软雅黑"/>
                <a:cs typeface="微软雅黑"/>
              </a:rPr>
              <a:t>事件由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普通车位纠纷</a:t>
            </a:r>
            <a:r>
              <a:rPr sz="1400">
                <a:latin typeface="微软雅黑"/>
                <a:ea typeface="微软雅黑"/>
                <a:cs typeface="微软雅黑"/>
              </a:rPr>
              <a:t>逐步转变为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涉及干部作风、处置公平和政府公信力的公共舆情事件</a:t>
            </a:r>
            <a:endParaRPr sz="1400">
              <a:solidFill>
                <a:srgbClr val="FF0000"/>
              </a:solidFill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57232CB-31A5-495B-AE30-E4D7CACBD4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706" y="948320"/>
            <a:ext cx="3806471" cy="386426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BB95774-8D5B-4E81-8853-106A5F7F57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705" y="948320"/>
            <a:ext cx="3806471" cy="386698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B6828FEC-05CE-4B19-9852-5B32DA0874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775" y="901054"/>
            <a:ext cx="3734291" cy="2548925"/>
          </a:xfrm>
          <a:prstGeom prst="rect">
            <a:avLst/>
          </a:prstGeom>
        </p:spPr>
      </p:pic>
      <p:sp>
        <p:nvSpPr>
          <p:cNvPr id="45" name="思想气泡: 云 44">
            <a:extLst>
              <a:ext uri="{FF2B5EF4-FFF2-40B4-BE49-F238E27FC236}">
                <a16:creationId xmlns:a16="http://schemas.microsoft.com/office/drawing/2014/main" id="{CEBADF47-BEF4-4879-DD6F-46168EFE3770}"/>
              </a:ext>
            </a:extLst>
          </p:cNvPr>
          <p:cNvSpPr>
            <a:spLocks noGrp="1"/>
          </p:cNvSpPr>
          <p:nvPr/>
        </p:nvSpPr>
        <p:spPr>
          <a:xfrm>
            <a:off x="8354860" y="3588570"/>
            <a:ext cx="3611764" cy="2071774"/>
          </a:xfrm>
          <a:prstGeom prst="cloudCallou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F28F54F-7710-ABFA-6067-42AE3D507249}"/>
              </a:ext>
            </a:extLst>
          </p:cNvPr>
          <p:cNvSpPr>
            <a:spLocks noGrp="1"/>
          </p:cNvSpPr>
          <p:nvPr/>
        </p:nvSpPr>
        <p:spPr>
          <a:xfrm>
            <a:off x="4943652" y="4014592"/>
            <a:ext cx="31722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latin typeface="微软雅黑"/>
                <a:ea typeface="微软雅黑"/>
                <a:cs typeface="微软雅黑"/>
              </a:rPr>
              <a:t>1、本身就是一个很简单的问题，占了别人的车位拒不归还，警察上门直接处理就完事了，就因为对方是公职人员，然后浪费了这么多部门的公共资源来解决这个事情？那这不叫公职人员，这叫特权人员。</a:t>
            </a:r>
          </a:p>
          <a:p>
            <a:r>
              <a:rPr sz="800">
                <a:latin typeface="微软雅黑"/>
                <a:ea typeface="微软雅黑"/>
                <a:cs typeface="微软雅黑"/>
              </a:rPr>
              <a:t>2、纪委也应适时介入了！对该公职人员有背于公序良俗的违法行为追责!</a:t>
            </a:r>
          </a:p>
          <a:p>
            <a:r>
              <a:rPr sz="800">
                <a:latin typeface="微软雅黑"/>
                <a:ea typeface="微软雅黑"/>
                <a:cs typeface="微软雅黑"/>
              </a:rPr>
              <a:t>3、停职处理太轻了，其行为严重影响到公仆的形象，最少都要双开，否则严重影响到政府的形象</a:t>
            </a:r>
            <a:endParaRPr sz="800"/>
          </a:p>
          <a:p>
            <a:r>
              <a:rPr sz="800">
                <a:latin typeface="微软雅黑"/>
                <a:ea typeface="微软雅黑"/>
                <a:cs typeface="微软雅黑"/>
              </a:rPr>
              <a:t>……..</a:t>
            </a:r>
          </a:p>
          <a:p>
            <a:endParaRPr sz="8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A48B0859-7F9C-6806-B381-D500A540761C}"/>
              </a:ext>
            </a:extLst>
          </p:cNvPr>
          <p:cNvSpPr>
            <a:spLocks noGrp="1"/>
          </p:cNvSpPr>
          <p:nvPr/>
        </p:nvSpPr>
        <p:spPr>
          <a:xfrm>
            <a:off x="4600684" y="3633018"/>
            <a:ext cx="3754175" cy="2027325"/>
          </a:xfrm>
          <a:prstGeom prst="cloudCallou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FC4255-9331-9A17-5124-210B71D85979}"/>
              </a:ext>
            </a:extLst>
          </p:cNvPr>
          <p:cNvSpPr>
            <a:spLocks noGrp="1"/>
          </p:cNvSpPr>
          <p:nvPr/>
        </p:nvSpPr>
        <p:spPr>
          <a:xfrm>
            <a:off x="8706840" y="4014592"/>
            <a:ext cx="3172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latin typeface="微软雅黑"/>
                <a:ea typeface="微软雅黑"/>
                <a:cs typeface="微软雅黑"/>
              </a:rPr>
              <a:t>1、这通告是把我们普通老百姓都当傻子吗？ 当官的侵权停车叫“停”，老百姓维权停车就叫“堵”……好文笔呀…… 体育局想就这么偏袒过关吗？！……</a:t>
            </a:r>
          </a:p>
          <a:p>
            <a:r>
              <a:rPr sz="800">
                <a:latin typeface="微软雅黑"/>
                <a:ea typeface="微软雅黑"/>
                <a:cs typeface="微软雅黑"/>
              </a:rPr>
              <a:t>2、霸占是源，维权是果，通报却玩“堵住/停放”的文字游戏护短洗白。这哪是定分止争，分明是刀笔削责、透支公信，越解释越显心虚。</a:t>
            </a:r>
          </a:p>
          <a:p>
            <a:r>
              <a:rPr sz="800">
                <a:latin typeface="微软雅黑"/>
                <a:ea typeface="微软雅黑"/>
                <a:cs typeface="微软雅黑"/>
              </a:rPr>
              <a:t>3、耍小聪明的笔杆子</a:t>
            </a:r>
          </a:p>
          <a:p>
            <a:r>
              <a:rPr sz="800">
                <a:latin typeface="微软雅黑"/>
                <a:ea typeface="微软雅黑"/>
                <a:cs typeface="微软雅黑"/>
              </a:rPr>
              <a:t>4、赤裸裸的护犊子</a:t>
            </a:r>
          </a:p>
          <a:p>
            <a:r>
              <a:rPr sz="800">
                <a:latin typeface="微软雅黑"/>
                <a:ea typeface="微软雅黑"/>
                <a:cs typeface="微软雅黑"/>
              </a:rPr>
              <a:t>……</a:t>
            </a:r>
          </a:p>
        </p:txBody>
      </p:sp>
      <p:sp>
        <p:nvSpPr>
          <p:cNvPr id="3" name="Page Number 5">
            <a:extLst>
              <a:ext uri="{FF2B5EF4-FFF2-40B4-BE49-F238E27FC236}">
                <a16:creationId xmlns:a16="http://schemas.microsoft.com/office/drawing/2014/main" id="{E95557BB-BD66-1182-4C6D-E277A41A5D37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0550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53F223B-82E4-4EED-BB7D-2417C59E7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B3EB5A7-C354-487F-8EED-403274AD5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7CFD31B-D277-271E-E875-B6C8085C8CDE}"/>
              </a:ext>
            </a:extLst>
          </p:cNvPr>
          <p:cNvSpPr>
            <a:spLocks noGrp="1"/>
          </p:cNvSpPr>
          <p:nvPr/>
        </p:nvSpPr>
        <p:spPr>
          <a:xfrm>
            <a:off x="482600" y="292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15A997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8FBC60-908B-6EED-547B-61FE9FC7EA87}"/>
              </a:ext>
            </a:extLst>
          </p:cNvPr>
          <p:cNvSpPr>
            <a:spLocks noGrp="1"/>
          </p:cNvSpPr>
          <p:nvPr/>
        </p:nvSpPr>
        <p:spPr>
          <a:xfrm>
            <a:off x="482600" y="546100"/>
            <a:ext cx="86995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27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现实问题与系统目标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8B8C7D1E-9CFA-4BD4-B9CA-C66714B13C1E}"/>
              </a:ext>
            </a:extLst>
          </p:cNvPr>
          <p:cNvSpPr>
            <a:spLocks noGrp="1"/>
          </p:cNvSpPr>
          <p:nvPr/>
        </p:nvSpPr>
        <p:spPr>
          <a:xfrm>
            <a:off x="406400" y="1066800"/>
            <a:ext cx="11379200" cy="0"/>
          </a:xfrm>
          <a:prstGeom prst="line">
            <a:avLst/>
          </a:prstGeom>
          <a:ln w="12700">
            <a:solidFill>
              <a:srgbClr val="CBD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380183-0529-8616-4D16-9E3130C100E8}"/>
              </a:ext>
            </a:extLst>
          </p:cNvPr>
          <p:cNvSpPr>
            <a:spLocks noGrp="1"/>
          </p:cNvSpPr>
          <p:nvPr/>
        </p:nvSpPr>
        <p:spPr>
          <a:xfrm>
            <a:off x="609600" y="13081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00" b="1">
                <a:solidFill>
                  <a:srgbClr val="15A997"/>
                </a:solidFill>
                <a:latin typeface="Microsoft YaHei"/>
                <a:ea typeface="Microsoft YaHei"/>
                <a:cs typeface="Microsoft YaHei"/>
              </a:rPr>
              <a:t>现实问题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DEB8616-34F0-8851-DD65-1002097A1A84}"/>
              </a:ext>
            </a:extLst>
          </p:cNvPr>
          <p:cNvSpPr>
            <a:spLocks noGrp="1"/>
          </p:cNvSpPr>
          <p:nvPr/>
        </p:nvSpPr>
        <p:spPr>
          <a:xfrm>
            <a:off x="698500" y="1739900"/>
            <a:ext cx="2108200" cy="698500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事件信息不完整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D428830D-3292-4A91-8CAE-F75DE0312597}"/>
              </a:ext>
            </a:extLst>
          </p:cNvPr>
          <p:cNvSpPr>
            <a:spLocks noGrp="1"/>
          </p:cNvSpPr>
          <p:nvPr/>
        </p:nvSpPr>
        <p:spPr>
          <a:xfrm>
            <a:off x="2819400" y="2082800"/>
            <a:ext cx="571500" cy="0"/>
          </a:xfrm>
          <a:prstGeom prst="line">
            <a:avLst/>
          </a:prstGeom>
          <a:ln w="1905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FD60E44-D999-4C8C-29B7-1BF150433D0D}"/>
              </a:ext>
            </a:extLst>
          </p:cNvPr>
          <p:cNvSpPr>
            <a:spLocks noGrp="1"/>
          </p:cNvSpPr>
          <p:nvPr/>
        </p:nvSpPr>
        <p:spPr>
          <a:xfrm>
            <a:off x="3492500" y="1739900"/>
            <a:ext cx="2108200" cy="6985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公众看到的信息不同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EA5191D-10C4-4B6B-A10F-C4DDA92DA5CC}"/>
              </a:ext>
            </a:extLst>
          </p:cNvPr>
          <p:cNvSpPr>
            <a:spLocks noGrp="1"/>
          </p:cNvSpPr>
          <p:nvPr/>
        </p:nvSpPr>
        <p:spPr>
          <a:xfrm>
            <a:off x="5613400" y="2082800"/>
            <a:ext cx="571500" cy="0"/>
          </a:xfrm>
          <a:prstGeom prst="line">
            <a:avLst/>
          </a:prstGeom>
          <a:ln w="1905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67B5EA3-0B00-9D9F-66DE-66E7656139BC}"/>
              </a:ext>
            </a:extLst>
          </p:cNvPr>
          <p:cNvSpPr>
            <a:spLocks noGrp="1"/>
          </p:cNvSpPr>
          <p:nvPr/>
        </p:nvSpPr>
        <p:spPr>
          <a:xfrm>
            <a:off x="6286500" y="1739900"/>
            <a:ext cx="2108200" cy="698500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回应内容和时点不同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E933D76F-79CD-4392-B637-5952D96B7607}"/>
              </a:ext>
            </a:extLst>
          </p:cNvPr>
          <p:cNvSpPr>
            <a:spLocks noGrp="1"/>
          </p:cNvSpPr>
          <p:nvPr/>
        </p:nvSpPr>
        <p:spPr>
          <a:xfrm>
            <a:off x="8407400" y="2082800"/>
            <a:ext cx="571500" cy="0"/>
          </a:xfrm>
          <a:prstGeom prst="line">
            <a:avLst/>
          </a:prstGeom>
          <a:ln w="1905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A18E190-2C51-885D-3F56-AA90F3998341}"/>
              </a:ext>
            </a:extLst>
          </p:cNvPr>
          <p:cNvSpPr>
            <a:spLocks noGrp="1"/>
          </p:cNvSpPr>
          <p:nvPr/>
        </p:nvSpPr>
        <p:spPr>
          <a:xfrm>
            <a:off x="9080500" y="1739900"/>
            <a:ext cx="2108200" cy="698500"/>
          </a:xfrm>
          <a:prstGeom prst="roundRect">
            <a:avLst/>
          </a:prstGeom>
          <a:solidFill>
            <a:srgbClr val="F1EDFC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结果难以提前判断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CD3122-F2A5-4BCE-1738-1FA586A59069}"/>
              </a:ext>
            </a:extLst>
          </p:cNvPr>
          <p:cNvSpPr>
            <a:spLocks noGrp="1"/>
          </p:cNvSpPr>
          <p:nvPr/>
        </p:nvSpPr>
        <p:spPr>
          <a:xfrm>
            <a:off x="609600" y="27305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00" b="1">
                <a:solidFill>
                  <a:srgbClr val="15A997"/>
                </a:solidFill>
                <a:latin typeface="Microsoft YaHei"/>
                <a:ea typeface="Microsoft YaHei"/>
                <a:cs typeface="Microsoft YaHei"/>
              </a:rPr>
              <a:t>系统需要回答的三个核心问题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BF18FA9-B652-E365-16C0-20E73ABFA030}"/>
              </a:ext>
            </a:extLst>
          </p:cNvPr>
          <p:cNvSpPr>
            <a:spLocks noGrp="1"/>
          </p:cNvSpPr>
          <p:nvPr/>
        </p:nvSpPr>
        <p:spPr>
          <a:xfrm>
            <a:off x="698500" y="3327400"/>
            <a:ext cx="406400" cy="4064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CE1BA8-3092-E7DF-E679-DCE18546E389}"/>
              </a:ext>
            </a:extLst>
          </p:cNvPr>
          <p:cNvSpPr>
            <a:spLocks noGrp="1"/>
          </p:cNvSpPr>
          <p:nvPr/>
        </p:nvSpPr>
        <p:spPr>
          <a:xfrm>
            <a:off x="1244600" y="3263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把真实数据转成差异化 Agent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3B3D6C2-72C1-4E5A-C4EE-7BACDDCC8574}"/>
              </a:ext>
            </a:extLst>
          </p:cNvPr>
          <p:cNvSpPr>
            <a:spLocks noGrp="1"/>
          </p:cNvSpPr>
          <p:nvPr/>
        </p:nvSpPr>
        <p:spPr>
          <a:xfrm>
            <a:off x="698500" y="3937000"/>
            <a:ext cx="3429000" cy="1168400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r>
              <a:rPr sz="1300">
                <a:solidFill>
                  <a:srgbClr val="1E3957"/>
                </a:solidFill>
                <a:latin typeface="Microsoft YaHei"/>
                <a:ea typeface="Microsoft YaHei"/>
                <a:cs typeface="Microsoft YaHei"/>
              </a:rPr>
              <a:t>提取用户长期表达特征，保留个体差异，不复制真实个人。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0DB44C2-EF7E-5101-7629-DAFF9B7A86F8}"/>
              </a:ext>
            </a:extLst>
          </p:cNvPr>
          <p:cNvSpPr>
            <a:spLocks noGrp="1"/>
          </p:cNvSpPr>
          <p:nvPr/>
        </p:nvSpPr>
        <p:spPr>
          <a:xfrm>
            <a:off x="4432300" y="3327400"/>
            <a:ext cx="406400" cy="406400"/>
          </a:xfrm>
          <a:prstGeom prst="ellipse">
            <a:avLst/>
          </a:prstGeom>
          <a:solidFill>
            <a:srgbClr val="15A997"/>
          </a:solidFill>
          <a:ln w="0">
            <a:solidFill>
              <a:srgbClr val="15A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796A04-2E70-CA57-9FEC-AEF5BADB553B}"/>
              </a:ext>
            </a:extLst>
          </p:cNvPr>
          <p:cNvSpPr>
            <a:spLocks noGrp="1"/>
          </p:cNvSpPr>
          <p:nvPr/>
        </p:nvSpPr>
        <p:spPr>
          <a:xfrm>
            <a:off x="4978400" y="3263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模拟逐轮信息接触与群体演化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5E0BCFF-8584-67A1-55D7-89B6E05CF843}"/>
              </a:ext>
            </a:extLst>
          </p:cNvPr>
          <p:cNvSpPr>
            <a:spLocks noGrp="1"/>
          </p:cNvSpPr>
          <p:nvPr/>
        </p:nvSpPr>
        <p:spPr>
          <a:xfrm>
            <a:off x="4432300" y="3937000"/>
            <a:ext cx="3429000" cy="11684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15A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r>
              <a:rPr sz="1300">
                <a:solidFill>
                  <a:srgbClr val="1E3957"/>
                </a:solidFill>
                <a:latin typeface="Microsoft YaHei"/>
                <a:ea typeface="Microsoft YaHei"/>
                <a:cs typeface="Microsoft YaHei"/>
              </a:rPr>
              <a:t>让不同 Agent 看到不同评论，独立判断是否表达，并记录传播路径。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662CDAD-9B96-52D4-8B4C-79EE224D8D9D}"/>
              </a:ext>
            </a:extLst>
          </p:cNvPr>
          <p:cNvSpPr>
            <a:spLocks noGrp="1"/>
          </p:cNvSpPr>
          <p:nvPr/>
        </p:nvSpPr>
        <p:spPr>
          <a:xfrm>
            <a:off x="8166100" y="3327400"/>
            <a:ext cx="406400" cy="406400"/>
          </a:xfrm>
          <a:prstGeom prst="ellipse">
            <a:avLst/>
          </a:prstGeom>
          <a:solidFill>
            <a:srgbClr val="F78B23"/>
          </a:solidFill>
          <a:ln w="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85BD507-659B-9A9E-56F4-CF79828176AE}"/>
              </a:ext>
            </a:extLst>
          </p:cNvPr>
          <p:cNvSpPr>
            <a:spLocks noGrp="1"/>
          </p:cNvSpPr>
          <p:nvPr/>
        </p:nvSpPr>
        <p:spPr>
          <a:xfrm>
            <a:off x="8712200" y="32639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比较官方回应并复盘历史事件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74FDF38-6212-F9A5-6EBA-93720589730D}"/>
              </a:ext>
            </a:extLst>
          </p:cNvPr>
          <p:cNvSpPr>
            <a:spLocks noGrp="1"/>
          </p:cNvSpPr>
          <p:nvPr/>
        </p:nvSpPr>
        <p:spPr>
          <a:xfrm>
            <a:off x="8166100" y="3937000"/>
            <a:ext cx="3429000" cy="1168400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r>
              <a:rPr sz="1300">
                <a:solidFill>
                  <a:srgbClr val="1E3957"/>
                </a:solidFill>
                <a:latin typeface="Microsoft YaHei"/>
                <a:ea typeface="Microsoft YaHei"/>
                <a:cs typeface="Microsoft YaHei"/>
              </a:rPr>
              <a:t>在同一基线上投入不同策略，或按真实时间投入通告，观察相对变化。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6122704-35AA-08DD-7469-E72193072235}"/>
              </a:ext>
            </a:extLst>
          </p:cNvPr>
          <p:cNvSpPr>
            <a:spLocks noGrp="1"/>
          </p:cNvSpPr>
          <p:nvPr/>
        </p:nvSpPr>
        <p:spPr>
          <a:xfrm>
            <a:off x="698500" y="5461000"/>
            <a:ext cx="10795000" cy="685800"/>
          </a:xfrm>
          <a:prstGeom prst="roundRect">
            <a:avLst/>
          </a:prstGeom>
          <a:solidFill>
            <a:srgbClr val="F4F7FB"/>
          </a:solidFill>
          <a:ln w="15240">
            <a:solidFill>
              <a:srgbClr val="667A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r>
              <a:rPr sz="1300" b="1">
                <a:solidFill>
                  <a:srgbClr val="1E3957"/>
                </a:solidFill>
                <a:latin typeface="Microsoft YaHei"/>
                <a:ea typeface="Microsoft YaHei"/>
                <a:cs typeface="Microsoft YaHei"/>
              </a:rPr>
              <a:t>使用边界　输出用于方案比较、历史复盘和机制检查；不预测具体个人，不替代监测、专家研判和业务决策。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2689222-715B-939A-93F2-C735C0CA556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932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D6941E2-2E70-313E-6444-ECF2AAD9CEFE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项目背景 / 核心问题一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AA170E-D191-0FD7-7D9F-8980885392CE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真实人的数据如何变成Agent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CE9C4A25-0C61-4913-AC30-46875FD7A54B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861FDF6-42FF-41E4-89F5-1EE2240A7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486E6A4-A39E-4B1F-A289-931BEE898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48B9E54-5683-AEB0-5C92-774C21F6387B}"/>
              </a:ext>
            </a:extLst>
          </p:cNvPr>
          <p:cNvSpPr>
            <a:spLocks noGrp="1"/>
          </p:cNvSpPr>
          <p:nvPr/>
        </p:nvSpPr>
        <p:spPr>
          <a:xfrm>
            <a:off x="482600" y="1587500"/>
            <a:ext cx="1651000" cy="17145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69C3626-393F-7AEA-35A9-88B8FFE97DD8}"/>
              </a:ext>
            </a:extLst>
          </p:cNvPr>
          <p:cNvSpPr>
            <a:spLocks noGrp="1"/>
          </p:cNvSpPr>
          <p:nvPr/>
        </p:nvSpPr>
        <p:spPr>
          <a:xfrm>
            <a:off x="1041400" y="1765300"/>
            <a:ext cx="533400" cy="533400"/>
          </a:xfrm>
          <a:prstGeom prst="ellipse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3250C9-939B-D303-80C3-AE54925D5A6D}"/>
              </a:ext>
            </a:extLst>
          </p:cNvPr>
          <p:cNvSpPr>
            <a:spLocks noGrp="1"/>
          </p:cNvSpPr>
          <p:nvPr/>
        </p:nvSpPr>
        <p:spPr>
          <a:xfrm>
            <a:off x="609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MongoDB原始数据</a:t>
            </a:r>
          </a:p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用户表＋微博表</a:t>
            </a:r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18A90DB6-346F-4545-BC70-86188B207960}"/>
              </a:ext>
            </a:extLst>
          </p:cNvPr>
          <p:cNvSpPr>
            <a:spLocks noGrp="1"/>
          </p:cNvSpPr>
          <p:nvPr/>
        </p:nvSpPr>
        <p:spPr>
          <a:xfrm>
            <a:off x="2133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759F76D-A6DE-DFFE-9D71-7A7F96E56877}"/>
              </a:ext>
            </a:extLst>
          </p:cNvPr>
          <p:cNvSpPr>
            <a:spLocks noGrp="1"/>
          </p:cNvSpPr>
          <p:nvPr/>
        </p:nvSpPr>
        <p:spPr>
          <a:xfrm>
            <a:off x="2387600" y="1587500"/>
            <a:ext cx="1651000" cy="1714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097F8C9-F9F4-A985-E904-0D138B171962}"/>
              </a:ext>
            </a:extLst>
          </p:cNvPr>
          <p:cNvSpPr>
            <a:spLocks noGrp="1"/>
          </p:cNvSpPr>
          <p:nvPr/>
        </p:nvSpPr>
        <p:spPr>
          <a:xfrm>
            <a:off x="2946400" y="1765300"/>
            <a:ext cx="533400" cy="533400"/>
          </a:xfrm>
          <a:prstGeom prst="ellipse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E164675-56C4-6989-55D4-B8EA03973A67}"/>
              </a:ext>
            </a:extLst>
          </p:cNvPr>
          <p:cNvSpPr>
            <a:spLocks noGrp="1"/>
          </p:cNvSpPr>
          <p:nvPr/>
        </p:nvSpPr>
        <p:spPr>
          <a:xfrm>
            <a:off x="2514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清洗与关联</a:t>
            </a:r>
          </a:p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按user_id归集微博</a:t>
            </a:r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0D67C9AF-ACD8-42AF-AA92-88C174677B75}"/>
              </a:ext>
            </a:extLst>
          </p:cNvPr>
          <p:cNvSpPr>
            <a:spLocks noGrp="1"/>
          </p:cNvSpPr>
          <p:nvPr/>
        </p:nvSpPr>
        <p:spPr>
          <a:xfrm>
            <a:off x="4038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B6761C3-8E1C-282A-FC47-DC4188586B89}"/>
              </a:ext>
            </a:extLst>
          </p:cNvPr>
          <p:cNvSpPr>
            <a:spLocks noGrp="1"/>
          </p:cNvSpPr>
          <p:nvPr/>
        </p:nvSpPr>
        <p:spPr>
          <a:xfrm>
            <a:off x="4292600" y="1587500"/>
            <a:ext cx="1651000" cy="1714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0A0BD4F-8FF3-EAB4-9DB4-A1211D8DE603}"/>
              </a:ext>
            </a:extLst>
          </p:cNvPr>
          <p:cNvSpPr>
            <a:spLocks noGrp="1"/>
          </p:cNvSpPr>
          <p:nvPr/>
        </p:nvSpPr>
        <p:spPr>
          <a:xfrm>
            <a:off x="4851400" y="1765300"/>
            <a:ext cx="533400" cy="533400"/>
          </a:xfrm>
          <a:prstGeom prst="ellipse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223F36F-1D3F-5C69-C257-AB8FC1A449CF}"/>
              </a:ext>
            </a:extLst>
          </p:cNvPr>
          <p:cNvSpPr>
            <a:spLocks noGrp="1"/>
          </p:cNvSpPr>
          <p:nvPr/>
        </p:nvSpPr>
        <p:spPr>
          <a:xfrm>
            <a:off x="4419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逐条文本分类</a:t>
            </a:r>
          </a:p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主题、信息取向、情绪、派系</a:t>
            </a:r>
          </a:p>
        </p:txBody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CF8CC2E4-AA81-404C-BB44-8A5F5C8A07FE}"/>
              </a:ext>
            </a:extLst>
          </p:cNvPr>
          <p:cNvSpPr>
            <a:spLocks noGrp="1"/>
          </p:cNvSpPr>
          <p:nvPr/>
        </p:nvSpPr>
        <p:spPr>
          <a:xfrm>
            <a:off x="5943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551EA2C-4E96-2C16-D357-1967A4C937A4}"/>
              </a:ext>
            </a:extLst>
          </p:cNvPr>
          <p:cNvSpPr>
            <a:spLocks noGrp="1"/>
          </p:cNvSpPr>
          <p:nvPr/>
        </p:nvSpPr>
        <p:spPr>
          <a:xfrm>
            <a:off x="6197600" y="1587500"/>
            <a:ext cx="1651000" cy="1714500"/>
          </a:xfrm>
          <a:prstGeom prst="roundRect">
            <a:avLst/>
          </a:prstGeom>
          <a:solidFill>
            <a:srgbClr val="F0ECF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565EFB5E-A7EA-2875-4047-4154996CB181}"/>
              </a:ext>
            </a:extLst>
          </p:cNvPr>
          <p:cNvSpPr>
            <a:spLocks noGrp="1"/>
          </p:cNvSpPr>
          <p:nvPr/>
        </p:nvSpPr>
        <p:spPr>
          <a:xfrm>
            <a:off x="6756400" y="1765300"/>
            <a:ext cx="533400" cy="533400"/>
          </a:xfrm>
          <a:prstGeom prst="ellipse">
            <a:avLst/>
          </a:prstGeom>
          <a:solidFill>
            <a:srgbClr val="7157A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3778842-2F19-D5FF-58B4-E59CC2BC789A}"/>
              </a:ext>
            </a:extLst>
          </p:cNvPr>
          <p:cNvSpPr>
            <a:spLocks noGrp="1"/>
          </p:cNvSpPr>
          <p:nvPr/>
        </p:nvSpPr>
        <p:spPr>
          <a:xfrm>
            <a:off x="6324600" y="2374900"/>
            <a:ext cx="1397000" cy="471924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按用户聚合</a:t>
            </a:r>
          </a:p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计算长期表达比例</a:t>
            </a:r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5D6E258F-B338-407C-97F8-3D797F0119E0}"/>
              </a:ext>
            </a:extLst>
          </p:cNvPr>
          <p:cNvSpPr>
            <a:spLocks noGrp="1"/>
          </p:cNvSpPr>
          <p:nvPr/>
        </p:nvSpPr>
        <p:spPr>
          <a:xfrm>
            <a:off x="7848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58EC0F2-6F6B-0BAE-866E-D4E8DFB17C02}"/>
              </a:ext>
            </a:extLst>
          </p:cNvPr>
          <p:cNvSpPr>
            <a:spLocks noGrp="1"/>
          </p:cNvSpPr>
          <p:nvPr/>
        </p:nvSpPr>
        <p:spPr>
          <a:xfrm>
            <a:off x="8102600" y="1587500"/>
            <a:ext cx="1651000" cy="1714500"/>
          </a:xfrm>
          <a:prstGeom prst="roundRect">
            <a:avLst/>
          </a:prstGeom>
          <a:solidFill>
            <a:srgbClr val="FDECE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76700194-D743-BA82-3159-22E25CFD337A}"/>
              </a:ext>
            </a:extLst>
          </p:cNvPr>
          <p:cNvSpPr>
            <a:spLocks noGrp="1"/>
          </p:cNvSpPr>
          <p:nvPr/>
        </p:nvSpPr>
        <p:spPr>
          <a:xfrm>
            <a:off x="8661400" y="1765300"/>
            <a:ext cx="533400" cy="533400"/>
          </a:xfrm>
          <a:prstGeom prst="ellipse">
            <a:avLst/>
          </a:prstGeom>
          <a:solidFill>
            <a:srgbClr val="D94B5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313193F-0D3E-C34F-135F-A4D3404096CD}"/>
              </a:ext>
            </a:extLst>
          </p:cNvPr>
          <p:cNvSpPr>
            <a:spLocks noGrp="1"/>
          </p:cNvSpPr>
          <p:nvPr/>
        </p:nvSpPr>
        <p:spPr>
          <a:xfrm>
            <a:off x="8229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生成Persona JSON</a:t>
            </a:r>
          </a:p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保存画像与样本量</a:t>
            </a:r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059BF90F-EDE9-4BC6-8C20-1B164FA9B511}"/>
              </a:ext>
            </a:extLst>
          </p:cNvPr>
          <p:cNvSpPr>
            <a:spLocks noGrp="1"/>
          </p:cNvSpPr>
          <p:nvPr/>
        </p:nvSpPr>
        <p:spPr>
          <a:xfrm>
            <a:off x="9753600" y="2438400"/>
            <a:ext cx="215900" cy="0"/>
          </a:xfrm>
          <a:prstGeom prst="line">
            <a:avLst/>
          </a:prstGeom>
          <a:ln w="1905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8AB8EFE-4A99-8F94-D0FD-30419E78FAEA}"/>
              </a:ext>
            </a:extLst>
          </p:cNvPr>
          <p:cNvSpPr>
            <a:spLocks noGrp="1"/>
          </p:cNvSpPr>
          <p:nvPr/>
        </p:nvSpPr>
        <p:spPr>
          <a:xfrm>
            <a:off x="10007600" y="1587500"/>
            <a:ext cx="1651000" cy="1714500"/>
          </a:xfrm>
          <a:prstGeom prst="roundRect">
            <a:avLst/>
          </a:prstGeom>
          <a:solidFill>
            <a:srgbClr val="F4F7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8D1CD1C4-1D24-3A0D-2B5B-723222D0AF54}"/>
              </a:ext>
            </a:extLst>
          </p:cNvPr>
          <p:cNvSpPr>
            <a:spLocks noGrp="1"/>
          </p:cNvSpPr>
          <p:nvPr/>
        </p:nvSpPr>
        <p:spPr>
          <a:xfrm>
            <a:off x="10566400" y="1765300"/>
            <a:ext cx="533400" cy="533400"/>
          </a:xfrm>
          <a:prstGeom prst="ellipse">
            <a:avLst/>
          </a:prstGeom>
          <a:solidFill>
            <a:srgbClr val="0B315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F60FF15-4BDD-0F8A-D560-CE8F317046C7}"/>
              </a:ext>
            </a:extLst>
          </p:cNvPr>
          <p:cNvSpPr>
            <a:spLocks noGrp="1"/>
          </p:cNvSpPr>
          <p:nvPr/>
        </p:nvSpPr>
        <p:spPr>
          <a:xfrm>
            <a:off x="10134600" y="2374900"/>
            <a:ext cx="1397000" cy="65659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初始化Agent</a:t>
            </a:r>
          </a:p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加载画像、空记忆和初始状态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33373C4-DA5F-278D-CEAE-F587666F2A36}"/>
              </a:ext>
            </a:extLst>
          </p:cNvPr>
          <p:cNvSpPr>
            <a:spLocks noGrp="1"/>
          </p:cNvSpPr>
          <p:nvPr/>
        </p:nvSpPr>
        <p:spPr>
          <a:xfrm>
            <a:off x="698500" y="3746500"/>
            <a:ext cx="5143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1E3AB99-21ED-6E2E-E00B-AA9FC6040B16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46355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1659B7"/>
                </a:solidFill>
                <a:latin typeface="Microsoft YaHei"/>
                <a:ea typeface="Microsoft YaHei"/>
                <a:cs typeface="Microsoft YaHei"/>
              </a:rPr>
              <a:t>Persona中保存什么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E729FEF-5F82-C2DA-15E2-D835E3B7BEAA}"/>
              </a:ext>
            </a:extLst>
          </p:cNvPr>
          <p:cNvSpPr>
            <a:spLocks noGrp="1"/>
          </p:cNvSpPr>
          <p:nvPr/>
        </p:nvSpPr>
        <p:spPr>
          <a:xfrm>
            <a:off x="952500" y="4445000"/>
            <a:ext cx="4635500" cy="110286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身份信息：性别、地区、粉丝量、认证状态</a:t>
            </a:r>
          </a:p>
          <a:p>
            <a:r>
              <a:rPr sz="13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行为偏好：原创与转发比例</a:t>
            </a:r>
          </a:p>
          <a:p>
            <a:r>
              <a:rPr sz="13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长期倾向：主题偏好、事实/观点/质疑比例、情绪表达、评论派系</a:t>
            </a:r>
          </a:p>
          <a:p>
            <a:r>
              <a:rPr sz="13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数据依据：各项实际样本数量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9A6605B3-D445-3838-6F34-880F5ADA83D4}"/>
              </a:ext>
            </a:extLst>
          </p:cNvPr>
          <p:cNvSpPr>
            <a:spLocks noGrp="1"/>
          </p:cNvSpPr>
          <p:nvPr/>
        </p:nvSpPr>
        <p:spPr>
          <a:xfrm>
            <a:off x="6350000" y="3746500"/>
            <a:ext cx="51435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AD4679F-D497-C5C7-B1B7-16D975BA0342}"/>
              </a:ext>
            </a:extLst>
          </p:cNvPr>
          <p:cNvSpPr>
            <a:spLocks noGrp="1"/>
          </p:cNvSpPr>
          <p:nvPr/>
        </p:nvSpPr>
        <p:spPr>
          <a:xfrm>
            <a:off x="6604000" y="3962400"/>
            <a:ext cx="46355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如何避免把真人简单复制成Agent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281DFEB-EA47-DC9A-4A7E-D756E04587CC}"/>
              </a:ext>
            </a:extLst>
          </p:cNvPr>
          <p:cNvSpPr>
            <a:spLocks noGrp="1"/>
          </p:cNvSpPr>
          <p:nvPr/>
        </p:nvSpPr>
        <p:spPr>
          <a:xfrm>
            <a:off x="6604000" y="4445000"/>
            <a:ext cx="46355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系统保留长期统计特征，不把全部原微博直接当作Agent回答。</a:t>
            </a:r>
          </a:p>
          <a:p>
            <a:r>
              <a:rPr sz="13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比例计算采用平滑处理，避免少量样本形成绝对0或绝对1。</a:t>
            </a:r>
          </a:p>
          <a:p>
            <a:r>
              <a:rPr sz="13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Agent进入新事件后仍需结合当轮证据独立决策。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1EE2B8-05CF-0CDC-4035-C827E1FAD1A4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3621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80F9AA3-6000-B96B-FEFA-A9FC712F59E7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项目背景 / 核心问题二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BC52C-1CEE-7F2C-7F37-BA98EF061915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Agent建好之后，系统如何模拟现实舆情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05587A39-6428-4568-A3B7-3666A55040C4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A8B7686-373D-4C9B-95DB-FE8E5590B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98322DB-F40E-4615-9533-6DBD5DA3C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C83A8E9-6A14-9FB0-7468-675F64F95DC4}"/>
              </a:ext>
            </a:extLst>
          </p:cNvPr>
          <p:cNvSpPr>
            <a:spLocks noGrp="1"/>
          </p:cNvSpPr>
          <p:nvPr/>
        </p:nvSpPr>
        <p:spPr>
          <a:xfrm>
            <a:off x="1016000" y="1244600"/>
            <a:ext cx="10160000" cy="31803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系统按轮次运行。每一轮产生的新表达，会成为下一轮其他Agent可能看到的信息。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F3FDD75-9708-85CD-677D-A3073D868A4C}"/>
              </a:ext>
            </a:extLst>
          </p:cNvPr>
          <p:cNvSpPr>
            <a:spLocks noGrp="1"/>
          </p:cNvSpPr>
          <p:nvPr/>
        </p:nvSpPr>
        <p:spPr>
          <a:xfrm>
            <a:off x="571500" y="1841500"/>
            <a:ext cx="2476500" cy="14605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50501B1-EB1F-B5D2-0AFF-67B84A9757C8}"/>
              </a:ext>
            </a:extLst>
          </p:cNvPr>
          <p:cNvSpPr>
            <a:spLocks noGrp="1"/>
          </p:cNvSpPr>
          <p:nvPr/>
        </p:nvSpPr>
        <p:spPr>
          <a:xfrm>
            <a:off x="723900" y="1993900"/>
            <a:ext cx="457200" cy="457200"/>
          </a:xfrm>
          <a:prstGeom prst="ellipse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C0D7E9-E36B-A455-4E7D-0A45BDAEB312}"/>
              </a:ext>
            </a:extLst>
          </p:cNvPr>
          <p:cNvSpPr>
            <a:spLocks noGrp="1"/>
          </p:cNvSpPr>
          <p:nvPr/>
        </p:nvSpPr>
        <p:spPr>
          <a:xfrm>
            <a:off x="12319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输入当前事实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事件进展与有效通告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9F1BE14-C6AC-0B3A-DFC1-7C5062FECEFE}"/>
              </a:ext>
            </a:extLst>
          </p:cNvPr>
          <p:cNvSpPr>
            <a:spLocks noGrp="1"/>
          </p:cNvSpPr>
          <p:nvPr/>
        </p:nvSpPr>
        <p:spPr>
          <a:xfrm>
            <a:off x="3429000" y="1841500"/>
            <a:ext cx="2476500" cy="1460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16DF4B0-339B-E400-81D4-BCA94DDF78F4}"/>
              </a:ext>
            </a:extLst>
          </p:cNvPr>
          <p:cNvSpPr>
            <a:spLocks noGrp="1"/>
          </p:cNvSpPr>
          <p:nvPr/>
        </p:nvSpPr>
        <p:spPr>
          <a:xfrm>
            <a:off x="3581400" y="1993900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B816788-0278-8F0E-361D-334526AD1F1F}"/>
              </a:ext>
            </a:extLst>
          </p:cNvPr>
          <p:cNvSpPr>
            <a:spLocks noGrp="1"/>
          </p:cNvSpPr>
          <p:nvPr/>
        </p:nvSpPr>
        <p:spPr>
          <a:xfrm>
            <a:off x="40894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形成公共环境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初始评论＋本轮增量评论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F1A04CE-A1CD-DF39-3963-43218B6FA095}"/>
              </a:ext>
            </a:extLst>
          </p:cNvPr>
          <p:cNvSpPr>
            <a:spLocks noGrp="1"/>
          </p:cNvSpPr>
          <p:nvPr/>
        </p:nvSpPr>
        <p:spPr>
          <a:xfrm>
            <a:off x="6286500" y="1841500"/>
            <a:ext cx="2476500" cy="1460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A282933-4391-ADB1-615F-27244D9D596B}"/>
              </a:ext>
            </a:extLst>
          </p:cNvPr>
          <p:cNvSpPr>
            <a:spLocks noGrp="1"/>
          </p:cNvSpPr>
          <p:nvPr/>
        </p:nvSpPr>
        <p:spPr>
          <a:xfrm>
            <a:off x="6438900" y="19939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E30899C-22DC-3CC5-F27F-CCB47694037D}"/>
              </a:ext>
            </a:extLst>
          </p:cNvPr>
          <p:cNvSpPr>
            <a:spLocks noGrp="1"/>
          </p:cNvSpPr>
          <p:nvPr/>
        </p:nvSpPr>
        <p:spPr>
          <a:xfrm>
            <a:off x="69469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生成个人视野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公共评论＋邻居上一轮表达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9A70F8D-12C7-4A91-6F26-53FAEDBE7E86}"/>
              </a:ext>
            </a:extLst>
          </p:cNvPr>
          <p:cNvSpPr>
            <a:spLocks noGrp="1"/>
          </p:cNvSpPr>
          <p:nvPr/>
        </p:nvSpPr>
        <p:spPr>
          <a:xfrm>
            <a:off x="9144000" y="1841500"/>
            <a:ext cx="2476500" cy="1460500"/>
          </a:xfrm>
          <a:prstGeom prst="roundRect">
            <a:avLst/>
          </a:prstGeom>
          <a:solidFill>
            <a:srgbClr val="F0ECF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0C1CCE7-CDC2-B482-9DAB-56A392B9A8E3}"/>
              </a:ext>
            </a:extLst>
          </p:cNvPr>
          <p:cNvSpPr>
            <a:spLocks noGrp="1"/>
          </p:cNvSpPr>
          <p:nvPr/>
        </p:nvSpPr>
        <p:spPr>
          <a:xfrm>
            <a:off x="9296400" y="1993900"/>
            <a:ext cx="457200" cy="457200"/>
          </a:xfrm>
          <a:prstGeom prst="ellipse">
            <a:avLst/>
          </a:prstGeom>
          <a:solidFill>
            <a:srgbClr val="7157A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BE0168-BA0C-6B5E-342E-1E690EA91A17}"/>
              </a:ext>
            </a:extLst>
          </p:cNvPr>
          <p:cNvSpPr>
            <a:spLocks noGrp="1"/>
          </p:cNvSpPr>
          <p:nvPr/>
        </p:nvSpPr>
        <p:spPr>
          <a:xfrm>
            <a:off x="9804400" y="2070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Agent独立决策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Persona＋记忆＋当轮证据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0B57E83-A6DC-25B5-291E-8BD2CDB2F3B8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2476500" cy="1460500"/>
          </a:xfrm>
          <a:prstGeom prst="roundRect">
            <a:avLst/>
          </a:prstGeom>
          <a:solidFill>
            <a:srgbClr val="FDECE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911FE12-2C9B-75B4-E1D1-23D941531079}"/>
              </a:ext>
            </a:extLst>
          </p:cNvPr>
          <p:cNvSpPr>
            <a:spLocks noGrp="1"/>
          </p:cNvSpPr>
          <p:nvPr/>
        </p:nvSpPr>
        <p:spPr>
          <a:xfrm>
            <a:off x="9296400" y="4152900"/>
            <a:ext cx="457200" cy="457200"/>
          </a:xfrm>
          <a:prstGeom prst="ellipse">
            <a:avLst/>
          </a:prstGeom>
          <a:solidFill>
            <a:srgbClr val="D94B5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62F785-118F-B3AF-07CB-D94405ECC230}"/>
              </a:ext>
            </a:extLst>
          </p:cNvPr>
          <p:cNvSpPr>
            <a:spLocks noGrp="1"/>
          </p:cNvSpPr>
          <p:nvPr/>
        </p:nvSpPr>
        <p:spPr>
          <a:xfrm>
            <a:off x="9804400" y="4229100"/>
            <a:ext cx="1625600" cy="69596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决定是否表达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历史复现原创，五策略选择或沉默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2C940CF-94DB-F006-2604-5C74B561768F}"/>
              </a:ext>
            </a:extLst>
          </p:cNvPr>
          <p:cNvSpPr>
            <a:spLocks noGrp="1"/>
          </p:cNvSpPr>
          <p:nvPr/>
        </p:nvSpPr>
        <p:spPr>
          <a:xfrm>
            <a:off x="6286500" y="4000500"/>
            <a:ext cx="2476500" cy="1460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060F92C3-E992-70BC-0D0B-04A2ED1DB21E}"/>
              </a:ext>
            </a:extLst>
          </p:cNvPr>
          <p:cNvSpPr>
            <a:spLocks noGrp="1"/>
          </p:cNvSpPr>
          <p:nvPr/>
        </p:nvSpPr>
        <p:spPr>
          <a:xfrm>
            <a:off x="6438900" y="41529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DD9BED8-7ECA-80EF-ED29-368D8F188393}"/>
              </a:ext>
            </a:extLst>
          </p:cNvPr>
          <p:cNvSpPr>
            <a:spLocks noGrp="1"/>
          </p:cNvSpPr>
          <p:nvPr/>
        </p:nvSpPr>
        <p:spPr>
          <a:xfrm>
            <a:off x="6946900" y="4229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记录真实曝光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保存来源、目标和传播层级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FE94E50-31A6-AFB0-55E8-9590305A5C0A}"/>
              </a:ext>
            </a:extLst>
          </p:cNvPr>
          <p:cNvSpPr>
            <a:spLocks noGrp="1"/>
          </p:cNvSpPr>
          <p:nvPr/>
        </p:nvSpPr>
        <p:spPr>
          <a:xfrm>
            <a:off x="3429000" y="4000500"/>
            <a:ext cx="2476500" cy="1460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9D892F4A-AB70-4E74-5BBA-8129F6F992B3}"/>
              </a:ext>
            </a:extLst>
          </p:cNvPr>
          <p:cNvSpPr>
            <a:spLocks noGrp="1"/>
          </p:cNvSpPr>
          <p:nvPr/>
        </p:nvSpPr>
        <p:spPr>
          <a:xfrm>
            <a:off x="3581400" y="4152900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75C85FF-B10E-628C-3B16-B6167473F6A4}"/>
              </a:ext>
            </a:extLst>
          </p:cNvPr>
          <p:cNvSpPr>
            <a:spLocks noGrp="1"/>
          </p:cNvSpPr>
          <p:nvPr/>
        </p:nvSpPr>
        <p:spPr>
          <a:xfrm>
            <a:off x="4089400" y="4229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更新群体指标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情绪、官方态度和传播指标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9619F3A-C2B3-07A9-FE0A-F90102368EE2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2476500" cy="14605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DC42CC3F-E490-1CB4-BBA0-4A2663DFAC38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457200" cy="457200"/>
          </a:xfrm>
          <a:prstGeom prst="ellipse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8E508B0-E7FE-5491-8EED-D794606066A0}"/>
              </a:ext>
            </a:extLst>
          </p:cNvPr>
          <p:cNvSpPr>
            <a:spLocks noGrp="1"/>
          </p:cNvSpPr>
          <p:nvPr/>
        </p:nvSpPr>
        <p:spPr>
          <a:xfrm>
            <a:off x="1231900" y="4229100"/>
            <a:ext cx="1625600" cy="70275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进入下一轮</a:t>
            </a:r>
          </a:p>
          <a:p>
            <a:pPr algn="ctr">
              <a:buNone/>
            </a:pPr>
            <a:r>
              <a:rPr sz="13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保留个人状态和表达历史</a:t>
            </a:r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31B61A27-C9BB-4999-8880-8D1E18572CE9}"/>
              </a:ext>
            </a:extLst>
          </p:cNvPr>
          <p:cNvSpPr>
            <a:spLocks noGrp="1"/>
          </p:cNvSpPr>
          <p:nvPr/>
        </p:nvSpPr>
        <p:spPr>
          <a:xfrm>
            <a:off x="3048000" y="2565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95E09B4F-1661-443E-940F-16336B3586FD}"/>
              </a:ext>
            </a:extLst>
          </p:cNvPr>
          <p:cNvSpPr>
            <a:spLocks noGrp="1"/>
          </p:cNvSpPr>
          <p:nvPr/>
        </p:nvSpPr>
        <p:spPr>
          <a:xfrm>
            <a:off x="5905500" y="2565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06CFDBA6-FB3A-42E8-91B6-44E2D12C6AC2}"/>
              </a:ext>
            </a:extLst>
          </p:cNvPr>
          <p:cNvSpPr>
            <a:spLocks noGrp="1"/>
          </p:cNvSpPr>
          <p:nvPr/>
        </p:nvSpPr>
        <p:spPr>
          <a:xfrm>
            <a:off x="8763000" y="2565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96AC9385-09AD-4BF8-ACEC-ACD66B55F880}"/>
              </a:ext>
            </a:extLst>
          </p:cNvPr>
          <p:cNvSpPr>
            <a:spLocks noGrp="1"/>
          </p:cNvSpPr>
          <p:nvPr/>
        </p:nvSpPr>
        <p:spPr>
          <a:xfrm>
            <a:off x="10388600" y="3302000"/>
            <a:ext cx="0" cy="63500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9E2DF8FB-A9F3-4B7F-A767-C6BB46F24149}"/>
              </a:ext>
            </a:extLst>
          </p:cNvPr>
          <p:cNvSpPr>
            <a:spLocks noGrp="1"/>
          </p:cNvSpPr>
          <p:nvPr/>
        </p:nvSpPr>
        <p:spPr>
          <a:xfrm flipH="1">
            <a:off x="8826500" y="4724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63BF4D8A-D36C-4BF4-9616-767F16798CAB}"/>
              </a:ext>
            </a:extLst>
          </p:cNvPr>
          <p:cNvSpPr>
            <a:spLocks noGrp="1"/>
          </p:cNvSpPr>
          <p:nvPr/>
        </p:nvSpPr>
        <p:spPr>
          <a:xfrm flipH="1">
            <a:off x="5969000" y="4724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A97C302F-3310-443D-BB2E-850DF0982125}"/>
              </a:ext>
            </a:extLst>
          </p:cNvPr>
          <p:cNvSpPr>
            <a:spLocks noGrp="1"/>
          </p:cNvSpPr>
          <p:nvPr/>
        </p:nvSpPr>
        <p:spPr>
          <a:xfrm flipH="1">
            <a:off x="3111500" y="4724400"/>
            <a:ext cx="317500" cy="0"/>
          </a:xfrm>
          <a:prstGeom prst="line">
            <a:avLst/>
          </a:prstGeom>
          <a:ln w="27940">
            <a:solidFill>
              <a:srgbClr val="6075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A577A9AA-B5A1-480E-9C9C-4FFCE937D806}"/>
              </a:ext>
            </a:extLst>
          </p:cNvPr>
          <p:cNvSpPr>
            <a:spLocks noGrp="1"/>
          </p:cNvSpPr>
          <p:nvPr/>
        </p:nvSpPr>
        <p:spPr>
          <a:xfrm flipV="1">
            <a:off x="1778000" y="3454400"/>
            <a:ext cx="0" cy="546100"/>
          </a:xfrm>
          <a:prstGeom prst="line">
            <a:avLst/>
          </a:prstGeom>
          <a:ln w="27940">
            <a:solidFill>
              <a:srgbClr val="1659B7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B5801A-73EE-AF21-55A2-563A0B5291D3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0539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50A69727-5A40-4C3C-8E7C-114D53A1D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F74748C-2A29-470C-8AF0-0F9154A16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4FE1A03-6E7A-7E85-F1E8-681CECAEC14D}"/>
              </a:ext>
            </a:extLst>
          </p:cNvPr>
          <p:cNvSpPr>
            <a:spLocks noGrp="1"/>
          </p:cNvSpPr>
          <p:nvPr/>
        </p:nvSpPr>
        <p:spPr>
          <a:xfrm>
            <a:off x="482600" y="292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200" b="1">
                <a:solidFill>
                  <a:srgbClr val="15A997"/>
                </a:solidFill>
                <a:latin typeface="Microsoft YaHei"/>
                <a:ea typeface="Microsoft YaHei"/>
                <a:cs typeface="Microsoft YaHei"/>
              </a:rPr>
              <a:t>项目背景 / 核心问题三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6C299-522B-46AC-F9C0-E2D6DFDEAE00}"/>
              </a:ext>
            </a:extLst>
          </p:cNvPr>
          <p:cNvSpPr>
            <a:spLocks noGrp="1"/>
          </p:cNvSpPr>
          <p:nvPr/>
        </p:nvSpPr>
        <p:spPr>
          <a:xfrm>
            <a:off x="482600" y="546100"/>
            <a:ext cx="86995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27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官方通告何时进入模拟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5507CD0-06D5-47A2-AF23-5D31AAB2D6BF}"/>
              </a:ext>
            </a:extLst>
          </p:cNvPr>
          <p:cNvSpPr>
            <a:spLocks noGrp="1"/>
          </p:cNvSpPr>
          <p:nvPr/>
        </p:nvSpPr>
        <p:spPr>
          <a:xfrm>
            <a:off x="406400" y="1066800"/>
            <a:ext cx="11379200" cy="0"/>
          </a:xfrm>
          <a:prstGeom prst="line">
            <a:avLst/>
          </a:prstGeom>
          <a:ln w="12700">
            <a:solidFill>
              <a:srgbClr val="CBD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E384B9-4F47-DFE3-6579-0E43DC2FB77E}"/>
              </a:ext>
            </a:extLst>
          </p:cNvPr>
          <p:cNvSpPr>
            <a:spLocks noGrp="1"/>
          </p:cNvSpPr>
          <p:nvPr/>
        </p:nvSpPr>
        <p:spPr>
          <a:xfrm>
            <a:off x="609600" y="12827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00">
                <a:solidFill>
                  <a:srgbClr val="667A97"/>
                </a:solidFill>
                <a:latin typeface="Microsoft YaHei"/>
                <a:ea typeface="Microsoft YaHei"/>
                <a:cs typeface="Microsoft YaHei"/>
              </a:rPr>
              <a:t>通告先写入本轮事件状态，再生成本轮评论和 Agent 决策。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DEBBB0C-DFB6-249C-D1D2-2BA13F79BF12}"/>
              </a:ext>
            </a:extLst>
          </p:cNvPr>
          <p:cNvSpPr>
            <a:spLocks noGrp="1"/>
          </p:cNvSpPr>
          <p:nvPr/>
        </p:nvSpPr>
        <p:spPr>
          <a:xfrm>
            <a:off x="1219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0BB8F1-EE29-FB22-92B5-EFF3EAEF036B}"/>
              </a:ext>
            </a:extLst>
          </p:cNvPr>
          <p:cNvSpPr>
            <a:spLocks noGrp="1"/>
          </p:cNvSpPr>
          <p:nvPr/>
        </p:nvSpPr>
        <p:spPr>
          <a:xfrm>
            <a:off x="533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轮次开始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3A3691-A08C-3ECB-AEE8-1AC9E9ECB310}"/>
              </a:ext>
            </a:extLst>
          </p:cNvPr>
          <p:cNvSpPr>
            <a:spLocks noGrp="1"/>
          </p:cNvSpPr>
          <p:nvPr/>
        </p:nvSpPr>
        <p:spPr>
          <a:xfrm>
            <a:off x="533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667A97"/>
                </a:solidFill>
                <a:latin typeface="Microsoft YaHei"/>
                <a:ea typeface="Microsoft YaHei"/>
                <a:cs typeface="Microsoft YaHei"/>
              </a:rPr>
              <a:t>读取当前阶段事实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51369206-5BF3-4C53-8EA3-F9DAEA60DEA9}"/>
              </a:ext>
            </a:extLst>
          </p:cNvPr>
          <p:cNvSpPr>
            <a:spLocks noGrp="1"/>
          </p:cNvSpPr>
          <p:nvPr/>
        </p:nvSpPr>
        <p:spPr>
          <a:xfrm>
            <a:off x="2133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0FC7E71-423C-B609-8091-B377EEBD8165}"/>
              </a:ext>
            </a:extLst>
          </p:cNvPr>
          <p:cNvSpPr>
            <a:spLocks noGrp="1"/>
          </p:cNvSpPr>
          <p:nvPr/>
        </p:nvSpPr>
        <p:spPr>
          <a:xfrm>
            <a:off x="3124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F55BC6-B7FC-346B-3235-D872F4E105DF}"/>
              </a:ext>
            </a:extLst>
          </p:cNvPr>
          <p:cNvSpPr>
            <a:spLocks noGrp="1"/>
          </p:cNvSpPr>
          <p:nvPr/>
        </p:nvSpPr>
        <p:spPr>
          <a:xfrm>
            <a:off x="2438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检查通告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04B8A1-FDC5-AD22-BBF5-129FDA8043BB}"/>
              </a:ext>
            </a:extLst>
          </p:cNvPr>
          <p:cNvSpPr>
            <a:spLocks noGrp="1"/>
          </p:cNvSpPr>
          <p:nvPr/>
        </p:nvSpPr>
        <p:spPr>
          <a:xfrm>
            <a:off x="2438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667A97"/>
                </a:solidFill>
                <a:latin typeface="Microsoft YaHei"/>
                <a:ea typeface="Microsoft YaHei"/>
                <a:cs typeface="Microsoft YaHei"/>
              </a:rPr>
              <a:t>判断本轮是否新增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9341ED1-8F50-4432-B52C-41A57361515E}"/>
              </a:ext>
            </a:extLst>
          </p:cNvPr>
          <p:cNvSpPr>
            <a:spLocks noGrp="1"/>
          </p:cNvSpPr>
          <p:nvPr/>
        </p:nvSpPr>
        <p:spPr>
          <a:xfrm>
            <a:off x="4038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AC45616-A2F8-EE99-401B-E234AE738A3F}"/>
              </a:ext>
            </a:extLst>
          </p:cNvPr>
          <p:cNvSpPr>
            <a:spLocks noGrp="1"/>
          </p:cNvSpPr>
          <p:nvPr/>
        </p:nvSpPr>
        <p:spPr>
          <a:xfrm>
            <a:off x="5029200" y="1854200"/>
            <a:ext cx="381000" cy="381000"/>
          </a:xfrm>
          <a:prstGeom prst="ellipse">
            <a:avLst/>
          </a:prstGeom>
          <a:solidFill>
            <a:srgbClr val="F78B23"/>
          </a:solidFill>
          <a:ln w="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81148D-38E6-9296-FE18-7833E412FC85}"/>
              </a:ext>
            </a:extLst>
          </p:cNvPr>
          <p:cNvSpPr>
            <a:spLocks noGrp="1"/>
          </p:cNvSpPr>
          <p:nvPr/>
        </p:nvSpPr>
        <p:spPr>
          <a:xfrm>
            <a:off x="4343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写入状态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F0624B-1E8D-3E05-1C8F-54A95A82BD33}"/>
              </a:ext>
            </a:extLst>
          </p:cNvPr>
          <p:cNvSpPr>
            <a:spLocks noGrp="1"/>
          </p:cNvSpPr>
          <p:nvPr/>
        </p:nvSpPr>
        <p:spPr>
          <a:xfrm>
            <a:off x="4343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667A97"/>
                </a:solidFill>
                <a:latin typeface="Microsoft YaHei"/>
                <a:ea typeface="Microsoft YaHei"/>
                <a:cs typeface="Microsoft YaHei"/>
              </a:rPr>
              <a:t>保存原文、状态和时点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878637E8-D968-4904-AA14-1873FD2090F1}"/>
              </a:ext>
            </a:extLst>
          </p:cNvPr>
          <p:cNvSpPr>
            <a:spLocks noGrp="1"/>
          </p:cNvSpPr>
          <p:nvPr/>
        </p:nvSpPr>
        <p:spPr>
          <a:xfrm>
            <a:off x="5943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FC27206-F831-5D78-FA45-765B536F96D7}"/>
              </a:ext>
            </a:extLst>
          </p:cNvPr>
          <p:cNvSpPr>
            <a:spLocks noGrp="1"/>
          </p:cNvSpPr>
          <p:nvPr/>
        </p:nvSpPr>
        <p:spPr>
          <a:xfrm>
            <a:off x="6934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BFB0E4-E05D-C1CF-247F-B679ED3EEB33}"/>
              </a:ext>
            </a:extLst>
          </p:cNvPr>
          <p:cNvSpPr>
            <a:spLocks noGrp="1"/>
          </p:cNvSpPr>
          <p:nvPr/>
        </p:nvSpPr>
        <p:spPr>
          <a:xfrm>
            <a:off x="6248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生成评论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1EBB19-B6AA-2276-EDB4-317107851A2E}"/>
              </a:ext>
            </a:extLst>
          </p:cNvPr>
          <p:cNvSpPr>
            <a:spLocks noGrp="1"/>
          </p:cNvSpPr>
          <p:nvPr/>
        </p:nvSpPr>
        <p:spPr>
          <a:xfrm>
            <a:off x="6248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667A97"/>
                </a:solidFill>
                <a:latin typeface="Microsoft YaHei"/>
                <a:ea typeface="Microsoft YaHei"/>
                <a:cs typeface="Microsoft YaHei"/>
              </a:rPr>
              <a:t>围绕事实和通告形成环境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3531563B-C5B5-421F-9ECC-31C6BCF299FA}"/>
              </a:ext>
            </a:extLst>
          </p:cNvPr>
          <p:cNvSpPr>
            <a:spLocks noGrp="1"/>
          </p:cNvSpPr>
          <p:nvPr/>
        </p:nvSpPr>
        <p:spPr>
          <a:xfrm>
            <a:off x="7848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37B7FE9-BDE9-71A8-DC5E-D07F0F1EE2E9}"/>
              </a:ext>
            </a:extLst>
          </p:cNvPr>
          <p:cNvSpPr>
            <a:spLocks noGrp="1"/>
          </p:cNvSpPr>
          <p:nvPr/>
        </p:nvSpPr>
        <p:spPr>
          <a:xfrm>
            <a:off x="8839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64E3CDD-544F-5452-BB32-E0F2D8A46874}"/>
              </a:ext>
            </a:extLst>
          </p:cNvPr>
          <p:cNvSpPr>
            <a:spLocks noGrp="1"/>
          </p:cNvSpPr>
          <p:nvPr/>
        </p:nvSpPr>
        <p:spPr>
          <a:xfrm>
            <a:off x="8153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Agent判断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4DB2BEC-2509-21DA-EC44-87AB4F318F8F}"/>
              </a:ext>
            </a:extLst>
          </p:cNvPr>
          <p:cNvSpPr>
            <a:spLocks noGrp="1"/>
          </p:cNvSpPr>
          <p:nvPr/>
        </p:nvSpPr>
        <p:spPr>
          <a:xfrm>
            <a:off x="8153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667A97"/>
                </a:solidFill>
                <a:latin typeface="Microsoft YaHei"/>
                <a:ea typeface="Microsoft YaHei"/>
                <a:cs typeface="Microsoft YaHei"/>
              </a:rPr>
              <a:t>分别判断情绪和官方态度</a:t>
            </a:r>
          </a:p>
        </p:txBody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6D6B6FCF-89DE-40C2-8EFA-1A0006536FCF}"/>
              </a:ext>
            </a:extLst>
          </p:cNvPr>
          <p:cNvSpPr>
            <a:spLocks noGrp="1"/>
          </p:cNvSpPr>
          <p:nvPr/>
        </p:nvSpPr>
        <p:spPr>
          <a:xfrm>
            <a:off x="9753600" y="2044700"/>
            <a:ext cx="292100" cy="0"/>
          </a:xfrm>
          <a:prstGeom prst="line">
            <a:avLst/>
          </a:prstGeom>
          <a:ln w="16510">
            <a:solidFill>
              <a:srgbClr val="667A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68F1A8DF-E7F5-6077-9BD0-46A57D5F0608}"/>
              </a:ext>
            </a:extLst>
          </p:cNvPr>
          <p:cNvSpPr>
            <a:spLocks noGrp="1"/>
          </p:cNvSpPr>
          <p:nvPr/>
        </p:nvSpPr>
        <p:spPr>
          <a:xfrm>
            <a:off x="10744200" y="1854200"/>
            <a:ext cx="381000" cy="381000"/>
          </a:xfrm>
          <a:prstGeom prst="ellipse">
            <a:avLst/>
          </a:prstGeom>
          <a:solidFill>
            <a:srgbClr val="2463BE"/>
          </a:solidFill>
          <a:ln w="0">
            <a:solidFill>
              <a:srgbClr val="2463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982FBCD-5F1C-7063-6232-D6E897B236D2}"/>
              </a:ext>
            </a:extLst>
          </p:cNvPr>
          <p:cNvSpPr>
            <a:spLocks noGrp="1"/>
          </p:cNvSpPr>
          <p:nvPr/>
        </p:nvSpPr>
        <p:spPr>
          <a:xfrm>
            <a:off x="10058400" y="23114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08315E"/>
                </a:solidFill>
                <a:latin typeface="Microsoft YaHei"/>
                <a:ea typeface="Microsoft YaHei"/>
                <a:cs typeface="Microsoft YaHei"/>
              </a:rPr>
              <a:t>延续到后续轮次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6B9BFD5-BEF4-3C4F-A853-9F900293EC2E}"/>
              </a:ext>
            </a:extLst>
          </p:cNvPr>
          <p:cNvSpPr>
            <a:spLocks noGrp="1"/>
          </p:cNvSpPr>
          <p:nvPr/>
        </p:nvSpPr>
        <p:spPr>
          <a:xfrm>
            <a:off x="10058400" y="26416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667A97"/>
                </a:solidFill>
                <a:latin typeface="Microsoft YaHei"/>
                <a:ea typeface="Microsoft YaHei"/>
                <a:cs typeface="Microsoft YaHei"/>
              </a:rPr>
              <a:t>直到新通告覆盖</a:t>
            </a:r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CB6178B3-6DD2-4FE3-99BE-AE09DFFA94E2}"/>
              </a:ext>
            </a:extLst>
          </p:cNvPr>
          <p:cNvSpPr>
            <a:spLocks noGrp="1"/>
          </p:cNvSpPr>
          <p:nvPr/>
        </p:nvSpPr>
        <p:spPr>
          <a:xfrm>
            <a:off x="609600" y="3289300"/>
            <a:ext cx="10883900" cy="0"/>
          </a:xfrm>
          <a:prstGeom prst="line">
            <a:avLst/>
          </a:prstGeom>
          <a:ln w="12700">
            <a:solidFill>
              <a:srgbClr val="D4DF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C267809-A578-BA23-EDBE-6C93036CA81A}"/>
              </a:ext>
            </a:extLst>
          </p:cNvPr>
          <p:cNvSpPr>
            <a:spLocks noGrp="1"/>
          </p:cNvSpPr>
          <p:nvPr/>
        </p:nvSpPr>
        <p:spPr>
          <a:xfrm>
            <a:off x="698500" y="3530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15A997"/>
                </a:solidFill>
                <a:latin typeface="Microsoft YaHei"/>
                <a:ea typeface="Microsoft YaHei"/>
                <a:cs typeface="Microsoft YaHei"/>
              </a:rPr>
              <a:t>历史趋势复现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744F846-C55C-25EB-6A74-904A23BA2F39}"/>
              </a:ext>
            </a:extLst>
          </p:cNvPr>
          <p:cNvSpPr>
            <a:spLocks noGrp="1"/>
          </p:cNvSpPr>
          <p:nvPr/>
        </p:nvSpPr>
        <p:spPr>
          <a:xfrm>
            <a:off x="698500" y="3924300"/>
            <a:ext cx="4953000" cy="13335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15A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r>
              <a:rPr sz="1300">
                <a:solidFill>
                  <a:srgbClr val="1E3957"/>
                </a:solidFill>
                <a:latin typeface="Microsoft YaHei"/>
                <a:ea typeface="Microsoft YaHei"/>
                <a:cs typeface="Microsoft YaHei"/>
              </a:rPr>
              <a:t>当 official_response_timeline 中的 step 等于当前轮次时，系统在本轮仿真开始前写入真实通告原文。后续轮次继续使用该通告，直到新的通告覆盖。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DB25228-29C1-6A1E-6F04-C45CBC49C6C6}"/>
              </a:ext>
            </a:extLst>
          </p:cNvPr>
          <p:cNvSpPr>
            <a:spLocks noGrp="1"/>
          </p:cNvSpPr>
          <p:nvPr/>
        </p:nvSpPr>
        <p:spPr>
          <a:xfrm>
            <a:off x="6426200" y="3530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500" b="1">
                <a:solidFill>
                  <a:srgbClr val="F78B23"/>
                </a:solidFill>
                <a:latin typeface="Microsoft YaHei"/>
                <a:ea typeface="Microsoft YaHei"/>
                <a:cs typeface="Microsoft YaHei"/>
              </a:rPr>
              <a:t>五策略实验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B064E194-C8D9-DD03-D4DC-9F5B869BD5D6}"/>
              </a:ext>
            </a:extLst>
          </p:cNvPr>
          <p:cNvSpPr>
            <a:spLocks noGrp="1"/>
          </p:cNvSpPr>
          <p:nvPr/>
        </p:nvSpPr>
        <p:spPr>
          <a:xfrm>
            <a:off x="6426200" y="3924300"/>
            <a:ext cx="5067300" cy="1333500"/>
          </a:xfrm>
          <a:prstGeom prst="roundRect">
            <a:avLst/>
          </a:prstGeom>
          <a:solidFill>
            <a:srgbClr val="FFF3E5"/>
          </a:solidFill>
          <a:ln w="15240">
            <a:solidFill>
              <a:srgbClr val="F78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r>
              <a:rPr sz="1300">
                <a:solidFill>
                  <a:srgbClr val="1E3957"/>
                </a:solidFill>
                <a:latin typeface="Microsoft YaHei"/>
                <a:ea typeface="Microsoft YaHei"/>
                <a:cs typeface="Microsoft YaHei"/>
              </a:rPr>
              <a:t>系统先运行共同基线。上一轮指标触发进场后，response_step 设为下一轮；五个内容策略从同一快照分叉，并在该轮决策前写入各自通告。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1332BFE-6510-04E0-4FAD-C20DBD1ADF10}"/>
              </a:ext>
            </a:extLst>
          </p:cNvPr>
          <p:cNvSpPr>
            <a:spLocks noGrp="1"/>
          </p:cNvSpPr>
          <p:nvPr/>
        </p:nvSpPr>
        <p:spPr>
          <a:xfrm>
            <a:off x="698500" y="5575300"/>
            <a:ext cx="10795000" cy="635000"/>
          </a:xfrm>
          <a:prstGeom prst="roundRect">
            <a:avLst/>
          </a:prstGeom>
          <a:solidFill>
            <a:srgbClr val="F1EDFC"/>
          </a:solidFill>
          <a:ln w="15240">
            <a:solidFill>
              <a:srgbClr val="6F58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anchor="ctr">
            <a:noAutofit/>
          </a:bodyPr>
          <a:lstStyle/>
          <a:p>
            <a:r>
              <a:rPr sz="1250" b="1">
                <a:solidFill>
                  <a:srgbClr val="1E3957"/>
                </a:solidFill>
                <a:latin typeface="Microsoft YaHei"/>
                <a:ea typeface="Microsoft YaHei"/>
                <a:cs typeface="Microsoft YaHei"/>
              </a:rPr>
              <a:t>同一通告原文对所有 Agent 可见，但每个 Agent 结合 Persona、记忆和个人评论视野，分别选择接受、观望或质疑。事件情绪仍单独判断。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9B545E2-CD7F-09A6-65F1-236598386CAB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8834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5B7562C-EBFD-40F3-9B1D-D68204D4E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A929F8A-C449-46EB-BF80-5821172FA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B25B24-3460-E98E-FE32-B551CF2725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28352C5-F0EE-E72E-7BC7-58D754F622B2}"/>
              </a:ext>
            </a:extLst>
          </p:cNvPr>
          <p:cNvSpPr>
            <a:spLocks noGrp="1"/>
          </p:cNvSpPr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509AA7D-58C0-4B39-900D-6F3085D319D3}"/>
              </a:ext>
            </a:extLst>
          </p:cNvPr>
          <p:cNvSpPr>
            <a:spLocks noGrp="1"/>
          </p:cNvSpPr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100" b="1">
                <a:solidFill>
                  <a:srgbClr val="97CDDC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DE5C42-0D29-A39B-C1C5-1B9CF3C1C78C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C6E014-B726-C469-42AB-C7FD4EA5B0E2}"/>
              </a:ext>
            </a:extLst>
          </p:cNvPr>
          <p:cNvSpPr>
            <a:spLocks noGrp="1"/>
          </p:cNvSpPr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3600" b="1">
                <a:solidFill>
                  <a:srgbClr val="0C2B4C"/>
                </a:solidFill>
                <a:latin typeface="Microsoft YaHei"/>
                <a:ea typeface="Microsoft YaHei"/>
                <a:cs typeface="Microsoft YaHei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586B95-9FA5-18C6-98D7-20F83256F22A}"/>
              </a:ext>
            </a:extLst>
          </p:cNvPr>
          <p:cNvSpPr>
            <a:spLocks noGrp="1"/>
          </p:cNvSpPr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>
                <a:solidFill>
                  <a:srgbClr val="536578"/>
                </a:solidFill>
                <a:latin typeface="Microsoft YaHei"/>
                <a:ea typeface="Microsoft YaHei"/>
                <a:cs typeface="Microsoft YaHei"/>
              </a:rPr>
              <a:t>系统闭环、核心机制与历史趋势复现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9A2D24D-1E6C-4797-A90A-2D98DA569E05}"/>
              </a:ext>
            </a:extLst>
          </p:cNvPr>
          <p:cNvSpPr>
            <a:spLocks noGrp="1"/>
          </p:cNvSpPr>
          <p:nvPr/>
        </p:nv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15A9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270374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71C07D-5853-0F38-E2A5-A53703F8DF19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D8BD15-E6BA-814A-E61D-B731246D5C9D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54886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9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第一阶段建立了两类实验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D45A456-5E8F-43F5-841A-28FA84C7DF63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941A4B-A1D9-42C7-A306-6C90174A6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D6B54D5-8918-477C-8CAB-D6E6B170E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5DB9AF9-BA9B-8D1C-1850-9E49064AA851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893C33-9581-9B40-A4CE-DC127E02CDB2}"/>
              </a:ext>
            </a:extLst>
          </p:cNvPr>
          <p:cNvSpPr>
            <a:spLocks noGrp="1"/>
          </p:cNvSpPr>
          <p:nvPr/>
        </p:nvSpPr>
        <p:spPr>
          <a:xfrm>
            <a:off x="952500" y="12446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550">
                <a:solidFill>
                  <a:srgbClr val="5B708B"/>
                </a:solidFill>
                <a:latin typeface="Microsoft YaHei"/>
                <a:ea typeface="Microsoft YaHei"/>
                <a:cs typeface="Microsoft YaHei"/>
              </a:rPr>
              <a:t>五策略实验比较不同回应方案，历史趋势复现检验系统对真实事件变化方向的刻画。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ABBCC60-7735-1841-FB4C-AB2926792789}"/>
              </a:ext>
            </a:extLst>
          </p:cNvPr>
          <p:cNvSpPr>
            <a:spLocks noGrp="1"/>
          </p:cNvSpPr>
          <p:nvPr/>
        </p:nvSpPr>
        <p:spPr>
          <a:xfrm>
            <a:off x="952500" y="1727200"/>
            <a:ext cx="10287000" cy="1168400"/>
          </a:xfrm>
          <a:prstGeom prst="roundRect">
            <a:avLst/>
          </a:prstGeom>
          <a:solidFill>
            <a:srgbClr val="EEF5FD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33EDE6B-A7F8-8F52-F0DD-BE5428939EF8}"/>
              </a:ext>
            </a:extLst>
          </p:cNvPr>
          <p:cNvSpPr>
            <a:spLocks noGrp="1"/>
          </p:cNvSpPr>
          <p:nvPr/>
        </p:nvSpPr>
        <p:spPr>
          <a:xfrm>
            <a:off x="1295400" y="19558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000" b="1">
                <a:solidFill>
                  <a:srgbClr val="0F3760"/>
                </a:solidFill>
                <a:latin typeface="Microsoft YaHei"/>
                <a:ea typeface="Microsoft YaHei"/>
                <a:cs typeface="Microsoft YaHei"/>
              </a:rPr>
              <a:t>共享基础设施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911B58B-67E5-3F26-9D8D-FB52F595CB4E}"/>
              </a:ext>
            </a:extLst>
          </p:cNvPr>
          <p:cNvSpPr>
            <a:spLocks noGrp="1"/>
          </p:cNvSpPr>
          <p:nvPr/>
        </p:nvSpPr>
        <p:spPr>
          <a:xfrm>
            <a:off x="3810000" y="18796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550">
                <a:solidFill>
                  <a:srgbClr val="5B708B"/>
                </a:solidFill>
                <a:latin typeface="Microsoft YaHei"/>
                <a:ea typeface="Microsoft YaHei"/>
                <a:cs typeface="Microsoft YaHei"/>
              </a:rPr>
              <a:t>Persona加载、评论环境、状态记录、社交网络与指标存储</a:t>
            </a:r>
          </a:p>
          <a:p>
            <a:r>
              <a:rPr sz="1550">
                <a:solidFill>
                  <a:srgbClr val="5B708B"/>
                </a:solidFill>
                <a:latin typeface="Microsoft YaHei"/>
                <a:ea typeface="Microsoft YaHei"/>
                <a:cs typeface="Microsoft YaHei"/>
              </a:rPr>
              <a:t>两类实验共用基础设施，表达路径按实验模式区分。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2EEE12D-B1F3-23E2-3398-88B1ACD5C918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4889500" cy="2209800"/>
          </a:xfrm>
          <a:prstGeom prst="roundRect">
            <a:avLst/>
          </a:prstGeom>
          <a:solidFill>
            <a:srgbClr val="FFF4E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B7BA1A3-51E6-29EC-A207-675BF877F4B5}"/>
              </a:ext>
            </a:extLst>
          </p:cNvPr>
          <p:cNvSpPr>
            <a:spLocks noGrp="1"/>
          </p:cNvSpPr>
          <p:nvPr/>
        </p:nvSpPr>
        <p:spPr>
          <a:xfrm>
            <a:off x="1270000" y="3467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100" b="1">
                <a:solidFill>
                  <a:srgbClr val="F2801E"/>
                </a:solidFill>
                <a:latin typeface="Microsoft YaHei"/>
                <a:ea typeface="Microsoft YaHei"/>
                <a:cs typeface="Microsoft YaHei"/>
              </a:rPr>
              <a:t>五策略实验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B38E1D4-96E1-08A6-10E6-609949D566C0}"/>
              </a:ext>
            </a:extLst>
          </p:cNvPr>
          <p:cNvSpPr>
            <a:spLocks noGrp="1"/>
          </p:cNvSpPr>
          <p:nvPr/>
        </p:nvSpPr>
        <p:spPr>
          <a:xfrm>
            <a:off x="1270000" y="3987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F3760"/>
                </a:solidFill>
                <a:latin typeface="Microsoft YaHei"/>
                <a:ea typeface="Microsoft YaHei"/>
                <a:cs typeface="Microsoft YaHei"/>
              </a:rPr>
              <a:t>不同官方回应策略会带来什么变化？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8177107-2F49-9ADB-0A53-39A18E357416}"/>
              </a:ext>
            </a:extLst>
          </p:cNvPr>
          <p:cNvSpPr>
            <a:spLocks noGrp="1"/>
          </p:cNvSpPr>
          <p:nvPr/>
        </p:nvSpPr>
        <p:spPr>
          <a:xfrm>
            <a:off x="1270000" y="4495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500">
                <a:solidFill>
                  <a:srgbClr val="5B708B"/>
                </a:solidFill>
                <a:latin typeface="Microsoft YaHei"/>
                <a:ea typeface="Microsoft YaHei"/>
                <a:cs typeface="Microsoft YaHei"/>
              </a:rPr>
              <a:t>保持事件和初始环境一致，分别投入五种回应策略，比较舆情变化和传播结果。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102DF77-B9AB-9AFA-C702-BB1E7794EE26}"/>
              </a:ext>
            </a:extLst>
          </p:cNvPr>
          <p:cNvSpPr>
            <a:spLocks noGrp="1"/>
          </p:cNvSpPr>
          <p:nvPr/>
        </p:nvSpPr>
        <p:spPr>
          <a:xfrm>
            <a:off x="6350000" y="3200400"/>
            <a:ext cx="4889500" cy="2209800"/>
          </a:xfrm>
          <a:prstGeom prst="roundRect">
            <a:avLst/>
          </a:prstGeom>
          <a:solidFill>
            <a:srgbClr val="EBF8F5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570D4D4-7F40-6E52-A7E3-7333DAFBBC5E}"/>
              </a:ext>
            </a:extLst>
          </p:cNvPr>
          <p:cNvSpPr>
            <a:spLocks noGrp="1"/>
          </p:cNvSpPr>
          <p:nvPr/>
        </p:nvSpPr>
        <p:spPr>
          <a:xfrm>
            <a:off x="6667500" y="34671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100" b="1">
                <a:solidFill>
                  <a:srgbClr val="15A997"/>
                </a:solidFill>
                <a:latin typeface="Microsoft YaHei"/>
                <a:ea typeface="Microsoft YaHei"/>
                <a:cs typeface="Microsoft YaHei"/>
              </a:rPr>
              <a:t>历史趋势复现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25C61D5-3DB9-741A-6849-160C763EDCFE}"/>
              </a:ext>
            </a:extLst>
          </p:cNvPr>
          <p:cNvSpPr>
            <a:spLocks noGrp="1"/>
          </p:cNvSpPr>
          <p:nvPr/>
        </p:nvSpPr>
        <p:spPr>
          <a:xfrm>
            <a:off x="6667500" y="3987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F3760"/>
                </a:solidFill>
                <a:latin typeface="Microsoft YaHei"/>
                <a:ea typeface="Microsoft YaHei"/>
                <a:cs typeface="Microsoft YaHei"/>
              </a:rPr>
              <a:t>模拟趋势是否接近真实事件的变化方向？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32B3609-2E30-E8D1-548A-684039F7E8AC}"/>
              </a:ext>
            </a:extLst>
          </p:cNvPr>
          <p:cNvSpPr>
            <a:spLocks noGrp="1"/>
          </p:cNvSpPr>
          <p:nvPr/>
        </p:nvSpPr>
        <p:spPr>
          <a:xfrm>
            <a:off x="6667500" y="4495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500">
                <a:solidFill>
                  <a:srgbClr val="5B708B"/>
                </a:solidFill>
                <a:latin typeface="Microsoft YaHei"/>
                <a:ea typeface="Microsoft YaHei"/>
                <a:cs typeface="Microsoft YaHei"/>
              </a:rPr>
              <a:t>按照真实时间线投入客观事实和官方通告，运行同一批 Agent，并与人工采集趋势对照。</a:t>
            </a:r>
          </a:p>
        </p:txBody>
      </p:sp>
    </p:spTree>
    <p:extLst>
      <p:ext uri="{BB962C8B-B14F-4D97-AF65-F5344CB8AC3E}">
        <p14:creationId xmlns:p14="http://schemas.microsoft.com/office/powerpoint/2010/main" val="34048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352BDB-5845-A088-B2C5-D9B4D0917844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81CFB4-89E9-8D60-B6F4-24B849EBFA2B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指标、状态和质量记录让实验可以复查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CCB4AF4-0A87-4A4D-9FE7-BD140566CCF3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B7B7F3-A9F3-4117-A919-CCEA7711D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A8C5B5-71B0-4CD5-B92B-9432CDF96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882D084-3605-6653-0D6C-40E8DEF47046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9BF2573-143B-3BD2-5FD4-DD3BD9101BCB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457200" cy="4572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CED850-6F41-037C-6A58-63AC9A09555B}"/>
              </a:ext>
            </a:extLst>
          </p:cNvPr>
          <p:cNvSpPr>
            <a:spLocks noGrp="1"/>
          </p:cNvSpPr>
          <p:nvPr/>
        </p:nvSpPr>
        <p:spPr>
          <a:xfrm>
            <a:off x="1397000" y="1727200"/>
            <a:ext cx="23876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指标体系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CB9E45-1482-081A-439A-010C5217EBB8}"/>
              </a:ext>
            </a:extLst>
          </p:cNvPr>
          <p:cNvSpPr>
            <a:spLocks noGrp="1"/>
          </p:cNvSpPr>
          <p:nvPr/>
        </p:nvSpPr>
        <p:spPr>
          <a:xfrm>
            <a:off x="825500" y="2286000"/>
            <a:ext cx="2921000" cy="110286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负面率、接受率和质疑率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负面峰值与累计负面量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恢复、持续和反弹情况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F0DCAB9-45EB-603C-E49B-415E458CF39E}"/>
              </a:ext>
            </a:extLst>
          </p:cNvPr>
          <p:cNvSpPr>
            <a:spLocks noGrp="1"/>
          </p:cNvSpPr>
          <p:nvPr/>
        </p:nvSpPr>
        <p:spPr>
          <a:xfrm>
            <a:off x="4381500" y="152400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B39CA77-9F29-703A-E2B8-AC99CFE26789}"/>
              </a:ext>
            </a:extLst>
          </p:cNvPr>
          <p:cNvSpPr>
            <a:spLocks noGrp="1"/>
          </p:cNvSpPr>
          <p:nvPr/>
        </p:nvSpPr>
        <p:spPr>
          <a:xfrm>
            <a:off x="4610100" y="1752600"/>
            <a:ext cx="457200" cy="4572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6513EA-54AF-ACFE-6A97-EB645B7A3ED3}"/>
              </a:ext>
            </a:extLst>
          </p:cNvPr>
          <p:cNvSpPr>
            <a:spLocks noGrp="1"/>
          </p:cNvSpPr>
          <p:nvPr/>
        </p:nvSpPr>
        <p:spPr>
          <a:xfrm>
            <a:off x="5207000" y="1727200"/>
            <a:ext cx="23876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状态管理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CB785E-205C-6735-E614-36F921D018B1}"/>
              </a:ext>
            </a:extLst>
          </p:cNvPr>
          <p:cNvSpPr>
            <a:spLocks noGrp="1"/>
          </p:cNvSpPr>
          <p:nvPr/>
        </p:nvSpPr>
        <p:spPr>
          <a:xfrm>
            <a:off x="4635500" y="2286000"/>
            <a:ext cx="2921000" cy="110286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每轮事件和Agent状态单独保存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策略分叉后使用独立目录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旧批次不被新实验覆盖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556D82C-B953-A6B3-6F49-A4149DC34E2F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D6D1A90-41FD-0BFA-22C3-C8D2916EB3B1}"/>
              </a:ext>
            </a:extLst>
          </p:cNvPr>
          <p:cNvSpPr>
            <a:spLocks noGrp="1"/>
          </p:cNvSpPr>
          <p:nvPr/>
        </p:nvSpPr>
        <p:spPr>
          <a:xfrm>
            <a:off x="8420100" y="1752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A1729B-651D-75F7-86DE-AE84EA582274}"/>
              </a:ext>
            </a:extLst>
          </p:cNvPr>
          <p:cNvSpPr>
            <a:spLocks noGrp="1"/>
          </p:cNvSpPr>
          <p:nvPr/>
        </p:nvSpPr>
        <p:spPr>
          <a:xfrm>
            <a:off x="9017000" y="1727200"/>
            <a:ext cx="23876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质量与容错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A88EE8-917B-74A2-DCCA-0D90C8B9097B}"/>
              </a:ext>
            </a:extLst>
          </p:cNvPr>
          <p:cNvSpPr>
            <a:spLocks noGrp="1"/>
          </p:cNvSpPr>
          <p:nvPr/>
        </p:nvSpPr>
        <p:spPr>
          <a:xfrm>
            <a:off x="8445500" y="2286000"/>
            <a:ext cx="2921000" cy="110286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请求失败和JSON错误重试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无效文本过滤并记录原因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兜底比例形成质量标记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33C598-C107-9831-22B3-A5C9C8530FA9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643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457F35-4C75-24C5-8575-9682FD37B002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第一阶段成果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BF01B9-4EFC-B5AB-E9E5-0BDC4F64F47E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第一阶段已经完成胡某宇事件历史趋势复现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D58D2F5-C278-42D9-A08D-606E5B5F20E6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840C67-BFE6-4541-996C-9B64082DB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51ACCA4-5ACC-4B0A-B886-D95530391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60085FC-227A-0DCC-C939-FE3BF4B7A709}"/>
              </a:ext>
            </a:extLst>
          </p:cNvPr>
          <p:cNvSpPr>
            <a:spLocks noGrp="1"/>
          </p:cNvSpPr>
          <p:nvPr/>
        </p:nvSpPr>
        <p:spPr>
          <a:xfrm>
            <a:off x="889000" y="1308100"/>
            <a:ext cx="104140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7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按照真实事件发展划分8个阶段，在第3、5、7轮投入3次官方信息，并与人工整理趋势进行对照。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04F4F-5D37-1273-66D2-B5376F4FDCD3}"/>
              </a:ext>
            </a:extLst>
          </p:cNvPr>
          <p:cNvSpPr>
            <a:spLocks noGrp="1"/>
          </p:cNvSpPr>
          <p:nvPr/>
        </p:nvSpPr>
        <p:spPr>
          <a:xfrm>
            <a:off x="8890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A6D9A59-E39D-4102-BD5E-80BE868BC90D}"/>
              </a:ext>
            </a:extLst>
          </p:cNvPr>
          <p:cNvSpPr>
            <a:spLocks noGrp="1"/>
          </p:cNvSpPr>
          <p:nvPr/>
        </p:nvSpPr>
        <p:spPr>
          <a:xfrm>
            <a:off x="12827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F64CA9-F250-AAD5-9954-7D714675CEBC}"/>
              </a:ext>
            </a:extLst>
          </p:cNvPr>
          <p:cNvSpPr>
            <a:spLocks noGrp="1"/>
          </p:cNvSpPr>
          <p:nvPr/>
        </p:nvSpPr>
        <p:spPr>
          <a:xfrm>
            <a:off x="4445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失联与搜寻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A1D1A40-F125-8361-4886-D0AAE3C4FD44}"/>
              </a:ext>
            </a:extLst>
          </p:cNvPr>
          <p:cNvSpPr>
            <a:spLocks noGrp="1"/>
          </p:cNvSpPr>
          <p:nvPr/>
        </p:nvSpPr>
        <p:spPr>
          <a:xfrm>
            <a:off x="23114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3FDBDD0-244C-4D57-BBAC-409844BA3249}"/>
              </a:ext>
            </a:extLst>
          </p:cNvPr>
          <p:cNvSpPr>
            <a:spLocks noGrp="1"/>
          </p:cNvSpPr>
          <p:nvPr/>
        </p:nvSpPr>
        <p:spPr>
          <a:xfrm>
            <a:off x="27051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A8AAF51-2B2C-C7BF-4D40-2A5CEE6C7D06}"/>
              </a:ext>
            </a:extLst>
          </p:cNvPr>
          <p:cNvSpPr>
            <a:spLocks noGrp="1"/>
          </p:cNvSpPr>
          <p:nvPr/>
        </p:nvSpPr>
        <p:spPr>
          <a:xfrm>
            <a:off x="18669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新增线索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96F34A2-82B5-FE26-438F-0C7F27B9864E}"/>
              </a:ext>
            </a:extLst>
          </p:cNvPr>
          <p:cNvSpPr>
            <a:spLocks noGrp="1"/>
          </p:cNvSpPr>
          <p:nvPr/>
        </p:nvSpPr>
        <p:spPr>
          <a:xfrm>
            <a:off x="3733800" y="2336800"/>
            <a:ext cx="381000" cy="381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BAE25A7D-02C7-4A84-9F54-D307CA08658F}"/>
              </a:ext>
            </a:extLst>
          </p:cNvPr>
          <p:cNvSpPr>
            <a:spLocks noGrp="1"/>
          </p:cNvSpPr>
          <p:nvPr/>
        </p:nvSpPr>
        <p:spPr>
          <a:xfrm>
            <a:off x="41275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1BE2A5-6CF3-6DDD-A452-755DC06C8A23}"/>
              </a:ext>
            </a:extLst>
          </p:cNvPr>
          <p:cNvSpPr>
            <a:spLocks noGrp="1"/>
          </p:cNvSpPr>
          <p:nvPr/>
        </p:nvSpPr>
        <p:spPr>
          <a:xfrm>
            <a:off x="32893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通报发布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5AB3ED-4ABB-F37B-17BC-0815576BD9A6}"/>
              </a:ext>
            </a:extLst>
          </p:cNvPr>
          <p:cNvSpPr>
            <a:spLocks noGrp="1"/>
          </p:cNvSpPr>
          <p:nvPr/>
        </p:nvSpPr>
        <p:spPr>
          <a:xfrm>
            <a:off x="3289300" y="2032000"/>
            <a:ext cx="1270000" cy="25648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官方信息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6984995-4FE0-86A7-D177-F1D2FEF1574B}"/>
              </a:ext>
            </a:extLst>
          </p:cNvPr>
          <p:cNvSpPr>
            <a:spLocks noGrp="1"/>
          </p:cNvSpPr>
          <p:nvPr/>
        </p:nvSpPr>
        <p:spPr>
          <a:xfrm>
            <a:off x="51562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93C8D00A-5CBD-4D84-9BDE-3BD2AC8C2356}"/>
              </a:ext>
            </a:extLst>
          </p:cNvPr>
          <p:cNvSpPr>
            <a:spLocks noGrp="1"/>
          </p:cNvSpPr>
          <p:nvPr/>
        </p:nvSpPr>
        <p:spPr>
          <a:xfrm>
            <a:off x="55499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BD88E0A-B734-B061-D19E-5C24051AD803}"/>
              </a:ext>
            </a:extLst>
          </p:cNvPr>
          <p:cNvSpPr>
            <a:spLocks noGrp="1"/>
          </p:cNvSpPr>
          <p:nvPr/>
        </p:nvSpPr>
        <p:spPr>
          <a:xfrm>
            <a:off x="47117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继续调查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9CD57FD-828C-6080-F99C-AF25597A94CC}"/>
              </a:ext>
            </a:extLst>
          </p:cNvPr>
          <p:cNvSpPr>
            <a:spLocks noGrp="1"/>
          </p:cNvSpPr>
          <p:nvPr/>
        </p:nvSpPr>
        <p:spPr>
          <a:xfrm>
            <a:off x="6578600" y="2336800"/>
            <a:ext cx="381000" cy="381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287FA2C0-A014-4B4A-A10B-8E5D62B2C1C1}"/>
              </a:ext>
            </a:extLst>
          </p:cNvPr>
          <p:cNvSpPr>
            <a:spLocks noGrp="1"/>
          </p:cNvSpPr>
          <p:nvPr/>
        </p:nvSpPr>
        <p:spPr>
          <a:xfrm>
            <a:off x="69723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C53C892-8BA2-20F2-B38B-B5D149003D45}"/>
              </a:ext>
            </a:extLst>
          </p:cNvPr>
          <p:cNvSpPr>
            <a:spLocks noGrp="1"/>
          </p:cNvSpPr>
          <p:nvPr/>
        </p:nvSpPr>
        <p:spPr>
          <a:xfrm>
            <a:off x="61341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遗体确认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2E044C-CC79-2F80-9EA4-D8C334EA5AEA}"/>
              </a:ext>
            </a:extLst>
          </p:cNvPr>
          <p:cNvSpPr>
            <a:spLocks noGrp="1"/>
          </p:cNvSpPr>
          <p:nvPr/>
        </p:nvSpPr>
        <p:spPr>
          <a:xfrm>
            <a:off x="6134100" y="2032000"/>
            <a:ext cx="1270000" cy="25648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官方信息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34FC0F3-F5C8-F554-7293-EF9269F1F777}"/>
              </a:ext>
            </a:extLst>
          </p:cNvPr>
          <p:cNvSpPr>
            <a:spLocks noGrp="1"/>
          </p:cNvSpPr>
          <p:nvPr/>
        </p:nvSpPr>
        <p:spPr>
          <a:xfrm>
            <a:off x="80010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01AB746C-4E69-4780-8D44-6B4EEB2104DB}"/>
              </a:ext>
            </a:extLst>
          </p:cNvPr>
          <p:cNvSpPr>
            <a:spLocks noGrp="1"/>
          </p:cNvSpPr>
          <p:nvPr/>
        </p:nvSpPr>
        <p:spPr>
          <a:xfrm>
            <a:off x="83947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C5A22D0-4A3F-33D0-6DE1-C49711D765ED}"/>
              </a:ext>
            </a:extLst>
          </p:cNvPr>
          <p:cNvSpPr>
            <a:spLocks noGrp="1"/>
          </p:cNvSpPr>
          <p:nvPr/>
        </p:nvSpPr>
        <p:spPr>
          <a:xfrm>
            <a:off x="75565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鉴定进行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4322A4B-886C-C2A5-B051-C1C90A6A1B06}"/>
              </a:ext>
            </a:extLst>
          </p:cNvPr>
          <p:cNvSpPr>
            <a:spLocks noGrp="1"/>
          </p:cNvSpPr>
          <p:nvPr/>
        </p:nvSpPr>
        <p:spPr>
          <a:xfrm>
            <a:off x="9423400" y="2336800"/>
            <a:ext cx="381000" cy="381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23CC8F58-C46D-4987-A309-26011E6B4F44}"/>
              </a:ext>
            </a:extLst>
          </p:cNvPr>
          <p:cNvSpPr>
            <a:spLocks noGrp="1"/>
          </p:cNvSpPr>
          <p:nvPr/>
        </p:nvSpPr>
        <p:spPr>
          <a:xfrm>
            <a:off x="9817100" y="2527300"/>
            <a:ext cx="533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2D95319-957C-8268-24EC-28ADF70AE019}"/>
              </a:ext>
            </a:extLst>
          </p:cNvPr>
          <p:cNvSpPr>
            <a:spLocks noGrp="1"/>
          </p:cNvSpPr>
          <p:nvPr/>
        </p:nvSpPr>
        <p:spPr>
          <a:xfrm>
            <a:off x="89789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结论发布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EE110F2-754E-A596-23F6-A8C9EACC6040}"/>
              </a:ext>
            </a:extLst>
          </p:cNvPr>
          <p:cNvSpPr>
            <a:spLocks noGrp="1"/>
          </p:cNvSpPr>
          <p:nvPr/>
        </p:nvSpPr>
        <p:spPr>
          <a:xfrm>
            <a:off x="8978900" y="2032000"/>
            <a:ext cx="1270000" cy="256480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官方信息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37694D2-B8F3-086F-E72A-79AAAD8F1CAB}"/>
              </a:ext>
            </a:extLst>
          </p:cNvPr>
          <p:cNvSpPr>
            <a:spLocks noGrp="1"/>
          </p:cNvSpPr>
          <p:nvPr/>
        </p:nvSpPr>
        <p:spPr>
          <a:xfrm>
            <a:off x="10845800" y="2336800"/>
            <a:ext cx="381000" cy="381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9849AE9-377A-6979-8501-97509D22912E}"/>
              </a:ext>
            </a:extLst>
          </p:cNvPr>
          <p:cNvSpPr>
            <a:spLocks noGrp="1"/>
          </p:cNvSpPr>
          <p:nvPr/>
        </p:nvSpPr>
        <p:spPr>
          <a:xfrm>
            <a:off x="10401300" y="2895600"/>
            <a:ext cx="1270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发布后阶段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A6D9333-8495-2E0A-A29C-6ED962EFB51E}"/>
              </a:ext>
            </a:extLst>
          </p:cNvPr>
          <p:cNvSpPr>
            <a:spLocks noGrp="1"/>
          </p:cNvSpPr>
          <p:nvPr/>
        </p:nvSpPr>
        <p:spPr>
          <a:xfrm>
            <a:off x="742950" y="4064000"/>
            <a:ext cx="10928350" cy="13335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第一阶段已经具备：历史阶段推进、官方节点投入、模拟评论趋势、Agent情绪、官方态度以及人工趋势对照。</a:t>
            </a:r>
          </a:p>
          <a:p>
            <a:pPr algn="ctr">
              <a:buNone/>
            </a:pPr>
            <a:r>
              <a:rPr sz="17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第二阶段是在这条已完成流程上继续扩展，不是重新建立历史复现。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9E17A2-00BB-A117-4265-351013FE6425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75807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CE538A7-609F-47B5-BEB8-3416B5CAD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6324C08-6957-4C24-AA88-A81226320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EF8FF3-5056-728C-1C4F-98A71FAE22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32D646-2214-FA47-E97F-DABADF309FDB}"/>
              </a:ext>
            </a:extLst>
          </p:cNvPr>
          <p:cNvSpPr>
            <a:spLocks noGrp="1"/>
          </p:cNvSpPr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D85743-7B4E-5D9B-07BB-2247C7B167D2}"/>
              </a:ext>
            </a:extLst>
          </p:cNvPr>
          <p:cNvSpPr>
            <a:spLocks noGrp="1"/>
          </p:cNvSpPr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100" b="1">
                <a:solidFill>
                  <a:srgbClr val="97CDDC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70CA7EF-7409-34F9-6E2E-0B7F24306527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B1C702-F718-093F-A799-5CDDBC1B912C}"/>
              </a:ext>
            </a:extLst>
          </p:cNvPr>
          <p:cNvSpPr>
            <a:spLocks noGrp="1"/>
          </p:cNvSpPr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3600" b="1">
                <a:solidFill>
                  <a:srgbClr val="0C2B4C"/>
                </a:solidFill>
                <a:latin typeface="Microsoft YaHei"/>
                <a:ea typeface="Microsoft YaHei"/>
                <a:cs typeface="Microsoft YaHei"/>
              </a:rPr>
              <a:t>第二阶段进展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6968FC-5083-C45B-33F2-EB2407EC4AD4}"/>
              </a:ext>
            </a:extLst>
          </p:cNvPr>
          <p:cNvSpPr>
            <a:spLocks noGrp="1"/>
          </p:cNvSpPr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>
                <a:solidFill>
                  <a:srgbClr val="536578"/>
                </a:solidFill>
                <a:latin typeface="Microsoft YaHei"/>
                <a:ea typeface="Microsoft YaHei"/>
                <a:cs typeface="Microsoft YaHei"/>
              </a:rPr>
              <a:t>社交网络、传播路径与可解释性增强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DE10C47-06AF-4484-A0A0-26D929E26ECF}"/>
              </a:ext>
            </a:extLst>
          </p:cNvPr>
          <p:cNvSpPr>
            <a:spLocks noGrp="1"/>
          </p:cNvSpPr>
          <p:nvPr/>
        </p:nv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F78B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526736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169F98"/>
                </a:solidFill>
                <a:latin typeface="Microsoft YaHei"/>
                <a:ea typeface="Microsoft YaHei"/>
                <a:cs typeface="Microsoft YaHei"/>
              </a:rPr>
              <a:t>机制体系演进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599"/>
            <a:ext cx="9334500" cy="546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30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第一阶段基础与第二阶段扩展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82BC2ACC-A473-4D32-BBC7-6996BE1F2761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A830D9-08DA-4D8B-9345-E49130CDB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B6787D-70FC-4F2F-AC31-AEE58A828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4A5C0C2-E52B-6579-B9A4-6FA6AF3BDBDE}"/>
              </a:ext>
            </a:extLst>
          </p:cNvPr>
          <p:cNvSpPr>
            <a:spLocks noGrp="1"/>
          </p:cNvSpPr>
          <p:nvPr/>
        </p:nvSpPr>
        <p:spPr>
          <a:xfrm>
            <a:off x="698500" y="1803400"/>
            <a:ext cx="3429000" cy="30861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813539-7B26-D91C-1CF0-A10DECF07117}"/>
              </a:ext>
            </a:extLst>
          </p:cNvPr>
          <p:cNvSpPr>
            <a:spLocks noGrp="1"/>
          </p:cNvSpPr>
          <p:nvPr/>
        </p:nvSpPr>
        <p:spPr>
          <a:xfrm>
            <a:off x="990600" y="2006600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200" b="1">
                <a:solidFill>
                  <a:srgbClr val="2F6FCA"/>
                </a:solidFill>
                <a:latin typeface="Microsoft YaHei"/>
                <a:ea typeface="Microsoft YaHei"/>
                <a:cs typeface="Microsoft YaHei"/>
              </a:rPr>
              <a:t>第一阶段基础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CCA67C-7D3A-8D6F-957F-DE823C4049A2}"/>
              </a:ext>
            </a:extLst>
          </p:cNvPr>
          <p:cNvSpPr>
            <a:spLocks noGrp="1"/>
          </p:cNvSpPr>
          <p:nvPr/>
        </p:nvSpPr>
        <p:spPr>
          <a:xfrm>
            <a:off x="990600" y="2374900"/>
            <a:ext cx="2794000" cy="317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建立Agent及其基本决策能力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33151DA-0D62-C4E0-DDEB-9FD92B449901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342900" cy="342900"/>
          </a:xfrm>
          <a:prstGeom prst="ellipse">
            <a:avLst/>
          </a:prstGeom>
          <a:solidFill>
            <a:srgbClr val="2F6F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D06B23-8AB1-4394-2503-0D81D27E42F5}"/>
              </a:ext>
            </a:extLst>
          </p:cNvPr>
          <p:cNvSpPr>
            <a:spLocks noGrp="1"/>
          </p:cNvSpPr>
          <p:nvPr/>
        </p:nvSpPr>
        <p:spPr>
          <a:xfrm>
            <a:off x="1460500" y="2882899"/>
            <a:ext cx="23241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Persona形成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FE2349-7119-CBDB-D8B3-5EA3A546DB68}"/>
              </a:ext>
            </a:extLst>
          </p:cNvPr>
          <p:cNvSpPr>
            <a:spLocks noGrp="1"/>
          </p:cNvSpPr>
          <p:nvPr/>
        </p:nvSpPr>
        <p:spPr>
          <a:xfrm>
            <a:off x="1460500" y="3136900"/>
            <a:ext cx="26035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18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从真实用户历史表达中提取长期差异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065E9F7-7FCB-9E47-5B3D-93BDE0C75B65}"/>
              </a:ext>
            </a:extLst>
          </p:cNvPr>
          <p:cNvSpPr>
            <a:spLocks noGrp="1"/>
          </p:cNvSpPr>
          <p:nvPr/>
        </p:nvSpPr>
        <p:spPr>
          <a:xfrm>
            <a:off x="990600" y="3835400"/>
            <a:ext cx="342900" cy="342900"/>
          </a:xfrm>
          <a:prstGeom prst="ellipse">
            <a:avLst/>
          </a:prstGeom>
          <a:solidFill>
            <a:srgbClr val="2F6F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55A833-0C92-7E46-2AD7-AFECED11F6DB}"/>
              </a:ext>
            </a:extLst>
          </p:cNvPr>
          <p:cNvSpPr>
            <a:spLocks noGrp="1"/>
          </p:cNvSpPr>
          <p:nvPr/>
        </p:nvSpPr>
        <p:spPr>
          <a:xfrm>
            <a:off x="1460500" y="3822699"/>
            <a:ext cx="23241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个体决策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7B9CD6-3E2F-2D72-659E-5FFCED26EE8A}"/>
              </a:ext>
            </a:extLst>
          </p:cNvPr>
          <p:cNvSpPr>
            <a:spLocks noGrp="1"/>
          </p:cNvSpPr>
          <p:nvPr/>
        </p:nvSpPr>
        <p:spPr>
          <a:xfrm>
            <a:off x="1460500" y="4076700"/>
            <a:ext cx="2603500" cy="482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18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结合Persona、上一轮状态与当轮证据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D8D7E48-732A-A0E6-DDC1-DC0202006061}"/>
              </a:ext>
            </a:extLst>
          </p:cNvPr>
          <p:cNvSpPr>
            <a:spLocks noGrp="1"/>
          </p:cNvSpPr>
          <p:nvPr/>
        </p:nvSpPr>
        <p:spPr>
          <a:xfrm>
            <a:off x="4445000" y="1803400"/>
            <a:ext cx="7048500" cy="3086100"/>
          </a:xfrm>
          <a:prstGeom prst="roundRect">
            <a:avLst/>
          </a:prstGeom>
          <a:solidFill>
            <a:srgbClr val="EEF8F7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8F159EF-4046-282B-D509-99434359712F}"/>
              </a:ext>
            </a:extLst>
          </p:cNvPr>
          <p:cNvSpPr>
            <a:spLocks noGrp="1"/>
          </p:cNvSpPr>
          <p:nvPr/>
        </p:nvSpPr>
        <p:spPr>
          <a:xfrm>
            <a:off x="4737100" y="2006600"/>
            <a:ext cx="3302000" cy="431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200" b="1">
                <a:solidFill>
                  <a:srgbClr val="169F98"/>
                </a:solidFill>
                <a:latin typeface="Microsoft YaHei"/>
                <a:ea typeface="Microsoft YaHei"/>
                <a:cs typeface="Microsoft YaHei"/>
              </a:rPr>
              <a:t>第二阶段新增与完善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36616C7-F442-6098-44FE-D843D3EC9BFE}"/>
              </a:ext>
            </a:extLst>
          </p:cNvPr>
          <p:cNvSpPr>
            <a:spLocks noGrp="1"/>
          </p:cNvSpPr>
          <p:nvPr/>
        </p:nvSpPr>
        <p:spPr>
          <a:xfrm>
            <a:off x="4737100" y="2374900"/>
            <a:ext cx="6350000" cy="317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新增传播网络层，同时把历史复现约束做成可检查的机制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B15EA89-62D8-4A48-FFCE-C2D576A12FFA}"/>
              </a:ext>
            </a:extLst>
          </p:cNvPr>
          <p:cNvSpPr>
            <a:spLocks noGrp="1"/>
          </p:cNvSpPr>
          <p:nvPr/>
        </p:nvSpPr>
        <p:spPr>
          <a:xfrm>
            <a:off x="4737100" y="2743199"/>
            <a:ext cx="2794000" cy="317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169F98"/>
                </a:solidFill>
                <a:latin typeface="Microsoft YaHei"/>
                <a:ea typeface="Microsoft YaHei"/>
                <a:cs typeface="Microsoft YaHei"/>
              </a:rPr>
              <a:t>新增：网络传播层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E148591-EB43-4556-E062-4E8AC325800F}"/>
              </a:ext>
            </a:extLst>
          </p:cNvPr>
          <p:cNvSpPr>
            <a:spLocks noGrp="1"/>
          </p:cNvSpPr>
          <p:nvPr/>
        </p:nvSpPr>
        <p:spPr>
          <a:xfrm>
            <a:off x="4737100" y="30861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793477E-5E1F-A053-F178-516905D7A804}"/>
              </a:ext>
            </a:extLst>
          </p:cNvPr>
          <p:cNvSpPr>
            <a:spLocks noGrp="1"/>
          </p:cNvSpPr>
          <p:nvPr/>
        </p:nvSpPr>
        <p:spPr>
          <a:xfrm>
            <a:off x="5207000" y="30733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固定网络与权重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E3657AC-3ABC-062B-80ED-4B98B92D674E}"/>
              </a:ext>
            </a:extLst>
          </p:cNvPr>
          <p:cNvSpPr>
            <a:spLocks noGrp="1"/>
          </p:cNvSpPr>
          <p:nvPr/>
        </p:nvSpPr>
        <p:spPr>
          <a:xfrm>
            <a:off x="4737100" y="35433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483EEA-2BF3-9FEE-3BF7-C5C71D6BAF9E}"/>
              </a:ext>
            </a:extLst>
          </p:cNvPr>
          <p:cNvSpPr>
            <a:spLocks noGrp="1"/>
          </p:cNvSpPr>
          <p:nvPr/>
        </p:nvSpPr>
        <p:spPr>
          <a:xfrm>
            <a:off x="5207000" y="35305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个人可见范围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E53CF696-C291-31B2-213F-502896CDBAB7}"/>
              </a:ext>
            </a:extLst>
          </p:cNvPr>
          <p:cNvSpPr>
            <a:spLocks noGrp="1"/>
          </p:cNvSpPr>
          <p:nvPr/>
        </p:nvSpPr>
        <p:spPr>
          <a:xfrm>
            <a:off x="4737100" y="40005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D96EB4B-12A0-DA8E-76BC-AECC792FDE4F}"/>
              </a:ext>
            </a:extLst>
          </p:cNvPr>
          <p:cNvSpPr>
            <a:spLocks noGrp="1"/>
          </p:cNvSpPr>
          <p:nvPr/>
        </p:nvSpPr>
        <p:spPr>
          <a:xfrm>
            <a:off x="5207000" y="39877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跨层传播衰减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1D8F67D0-F171-EB36-8872-214EB1703AF4}"/>
              </a:ext>
            </a:extLst>
          </p:cNvPr>
          <p:cNvSpPr>
            <a:spLocks noGrp="1"/>
          </p:cNvSpPr>
          <p:nvPr/>
        </p:nvSpPr>
        <p:spPr>
          <a:xfrm>
            <a:off x="4737100" y="4457700"/>
            <a:ext cx="342900" cy="342900"/>
          </a:xfrm>
          <a:prstGeom prst="ellipse">
            <a:avLst/>
          </a:prstGeom>
          <a:solidFill>
            <a:srgbClr val="169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56456F4-8685-1540-3845-13FC0C22797B}"/>
              </a:ext>
            </a:extLst>
          </p:cNvPr>
          <p:cNvSpPr>
            <a:spLocks noGrp="1"/>
          </p:cNvSpPr>
          <p:nvPr/>
        </p:nvSpPr>
        <p:spPr>
          <a:xfrm>
            <a:off x="5207000" y="4444999"/>
            <a:ext cx="25146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传播路径留痕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5238B37-0261-46E7-4B7D-2E4E253AFC17}"/>
              </a:ext>
            </a:extLst>
          </p:cNvPr>
          <p:cNvSpPr>
            <a:spLocks noGrp="1"/>
          </p:cNvSpPr>
          <p:nvPr/>
        </p:nvSpPr>
        <p:spPr>
          <a:xfrm>
            <a:off x="8102600" y="2743199"/>
            <a:ext cx="2984500" cy="317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F27C22"/>
                </a:solidFill>
                <a:latin typeface="Microsoft YaHei"/>
                <a:ea typeface="Microsoft YaHei"/>
                <a:cs typeface="Microsoft YaHei"/>
              </a:rPr>
              <a:t>完善：历史回放规则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AFD62CC-AFBD-D606-7B17-9E6693015392}"/>
              </a:ext>
            </a:extLst>
          </p:cNvPr>
          <p:cNvSpPr>
            <a:spLocks noGrp="1"/>
          </p:cNvSpPr>
          <p:nvPr/>
        </p:nvSpPr>
        <p:spPr>
          <a:xfrm>
            <a:off x="8102600" y="3086100"/>
            <a:ext cx="342900" cy="342900"/>
          </a:xfrm>
          <a:prstGeom prst="ellipse">
            <a:avLst/>
          </a:prstGeom>
          <a:solidFill>
            <a:srgbClr val="F27C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7497D46-7177-A070-FFF9-510333F42D3A}"/>
              </a:ext>
            </a:extLst>
          </p:cNvPr>
          <p:cNvSpPr>
            <a:spLocks noGrp="1"/>
          </p:cNvSpPr>
          <p:nvPr/>
        </p:nvSpPr>
        <p:spPr>
          <a:xfrm>
            <a:off x="8572500" y="3073399"/>
            <a:ext cx="25781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情绪与官方态度分离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CE4486C6-831C-9EC8-BB23-5FCDBF095D80}"/>
              </a:ext>
            </a:extLst>
          </p:cNvPr>
          <p:cNvSpPr>
            <a:spLocks noGrp="1"/>
          </p:cNvSpPr>
          <p:nvPr/>
        </p:nvSpPr>
        <p:spPr>
          <a:xfrm>
            <a:off x="8102600" y="3695700"/>
            <a:ext cx="342900" cy="342900"/>
          </a:xfrm>
          <a:prstGeom prst="ellipse">
            <a:avLst/>
          </a:prstGeom>
          <a:solidFill>
            <a:srgbClr val="F27C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3789BF3-4F6D-FE01-4FCA-C4D54E6390F8}"/>
              </a:ext>
            </a:extLst>
          </p:cNvPr>
          <p:cNvSpPr>
            <a:spLocks noGrp="1"/>
          </p:cNvSpPr>
          <p:nvPr/>
        </p:nvSpPr>
        <p:spPr>
          <a:xfrm>
            <a:off x="8572500" y="3682999"/>
            <a:ext cx="25781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通告按时间进场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55E5A8D6-8075-AAEE-9F43-D1F4799531FE}"/>
              </a:ext>
            </a:extLst>
          </p:cNvPr>
          <p:cNvSpPr>
            <a:spLocks noGrp="1"/>
          </p:cNvSpPr>
          <p:nvPr/>
        </p:nvSpPr>
        <p:spPr>
          <a:xfrm>
            <a:off x="8102600" y="4305300"/>
            <a:ext cx="342900" cy="342900"/>
          </a:xfrm>
          <a:prstGeom prst="ellipse">
            <a:avLst/>
          </a:prstGeom>
          <a:solidFill>
            <a:srgbClr val="F27C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F05CB40-0EC3-D254-067F-4A8941B7B9BE}"/>
              </a:ext>
            </a:extLst>
          </p:cNvPr>
          <p:cNvSpPr>
            <a:spLocks noGrp="1"/>
          </p:cNvSpPr>
          <p:nvPr/>
        </p:nvSpPr>
        <p:spPr>
          <a:xfrm>
            <a:off x="8572500" y="4292599"/>
            <a:ext cx="25781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历史信息边界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49F74B7-D113-C115-95D4-70CC902C9EBF}"/>
              </a:ext>
            </a:extLst>
          </p:cNvPr>
          <p:cNvSpPr>
            <a:spLocks noGrp="1"/>
          </p:cNvSpPr>
          <p:nvPr/>
        </p:nvSpPr>
        <p:spPr>
          <a:xfrm>
            <a:off x="698500" y="5207000"/>
            <a:ext cx="10795000" cy="749300"/>
          </a:xfrm>
          <a:prstGeom prst="roundRect">
            <a:avLst/>
          </a:prstGeom>
          <a:solidFill>
            <a:srgbClr val="FFF7E9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20E98E5-2CB1-F2CC-E83A-A4B1B14513B3}"/>
              </a:ext>
            </a:extLst>
          </p:cNvPr>
          <p:cNvSpPr>
            <a:spLocks noGrp="1"/>
          </p:cNvSpPr>
          <p:nvPr/>
        </p:nvSpPr>
        <p:spPr>
          <a:xfrm>
            <a:off x="990600" y="5435599"/>
            <a:ext cx="1524000" cy="355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阶段关系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FB67AC0-9F85-B6AA-4676-DE1F25114F6C}"/>
              </a:ext>
            </a:extLst>
          </p:cNvPr>
          <p:cNvSpPr>
            <a:spLocks noGrp="1"/>
          </p:cNvSpPr>
          <p:nvPr/>
        </p:nvSpPr>
        <p:spPr>
          <a:xfrm>
            <a:off x="2476500" y="5435600"/>
            <a:ext cx="8636000" cy="406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450">
                <a:solidFill>
                  <a:srgbClr val="0B2F56"/>
                </a:solidFill>
                <a:latin typeface="Microsoft YaHei"/>
                <a:ea typeface="Microsoft YaHei"/>
                <a:cs typeface="Microsoft YaHei"/>
              </a:rPr>
              <a:t>第一阶段提供Agent基础；第二阶段增加真实的局部传播，并规范历史材料何时、以什么方式进入模拟。</a:t>
            </a:r>
          </a:p>
        </p:txBody>
      </p:sp>
    </p:spTree>
    <p:extLst>
      <p:ext uri="{BB962C8B-B14F-4D97-AF65-F5344CB8AC3E}">
        <p14:creationId xmlns:p14="http://schemas.microsoft.com/office/powerpoint/2010/main" val="1089780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2F6FCA"/>
                </a:solidFill>
                <a:latin typeface="Microsoft YaHei"/>
                <a:ea typeface="Microsoft YaHei"/>
                <a:cs typeface="Microsoft YaHei"/>
              </a:rPr>
              <a:t>第一阶段基础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机制1：Persona形成与个体差异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D9CEA40-E2ED-44DA-B563-FCBDC975775F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E5F07C-410D-4AC5-9A61-719D02B0C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E73A35B-F386-4D70-9871-DC670B089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F55973-18E5-6798-34CC-4CE0DA8C4E72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15471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Persona提供长期倾向，使Agent在关注点和表达习惯上存在差异。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73023F1-BAE6-E904-8A9F-971B94EEEAF4}"/>
              </a:ext>
            </a:extLst>
          </p:cNvPr>
          <p:cNvSpPr>
            <a:spLocks noGrp="1"/>
          </p:cNvSpPr>
          <p:nvPr/>
        </p:nvSpPr>
        <p:spPr>
          <a:xfrm>
            <a:off x="698500" y="1841500"/>
            <a:ext cx="76200" cy="1422400"/>
          </a:xfrm>
          <a:prstGeom prst="roundRect">
            <a:avLst/>
          </a:prstGeom>
          <a:solidFill>
            <a:srgbClr val="D84A55"/>
          </a:solidFill>
          <a:ln w="12700">
            <a:solidFill>
              <a:srgbClr val="D84A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64241B-8F6B-964A-752A-7FE54BC34D1E}"/>
              </a:ext>
            </a:extLst>
          </p:cNvPr>
          <p:cNvSpPr>
            <a:spLocks noGrp="1"/>
          </p:cNvSpPr>
          <p:nvPr/>
        </p:nvSpPr>
        <p:spPr>
          <a:xfrm>
            <a:off x="977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现实问题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B022D2-87FB-3110-3B7D-EE6768DAD920}"/>
              </a:ext>
            </a:extLst>
          </p:cNvPr>
          <p:cNvSpPr>
            <a:spLocks noGrp="1"/>
          </p:cNvSpPr>
          <p:nvPr/>
        </p:nvSpPr>
        <p:spPr>
          <a:xfrm>
            <a:off x="977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原始微博数量不一，字段和文本质量也不同。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如果直接把少量发言当成人格结论，个体画像会被偶然表达左右。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9ECD038-5EBA-7738-BBBD-A899C2B7A843}"/>
              </a:ext>
            </a:extLst>
          </p:cNvPr>
          <p:cNvSpPr>
            <a:spLocks noGrp="1"/>
          </p:cNvSpPr>
          <p:nvPr/>
        </p:nvSpPr>
        <p:spPr>
          <a:xfrm>
            <a:off x="4445000" y="18415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CD7E23-0CA7-9E89-55AE-17CB9061A5F5}"/>
              </a:ext>
            </a:extLst>
          </p:cNvPr>
          <p:cNvSpPr>
            <a:spLocks noGrp="1"/>
          </p:cNvSpPr>
          <p:nvPr/>
        </p:nvSpPr>
        <p:spPr>
          <a:xfrm>
            <a:off x="47244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设计机制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23CFD3-2B8F-A7DD-EA20-6477022E982C}"/>
              </a:ext>
            </a:extLst>
          </p:cNvPr>
          <p:cNvSpPr>
            <a:spLocks noGrp="1"/>
          </p:cNvSpPr>
          <p:nvPr/>
        </p:nvSpPr>
        <p:spPr>
          <a:xfrm>
            <a:off x="47244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系统先清洗并分类微博，再按用户聚合主题偏好、信息取向、情绪表达和原创转发倾向。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同时保留有效样本数量。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1B4E099-E950-BB59-1CC1-7B364755F998}"/>
              </a:ext>
            </a:extLst>
          </p:cNvPr>
          <p:cNvSpPr>
            <a:spLocks noGrp="1"/>
          </p:cNvSpPr>
          <p:nvPr/>
        </p:nvSpPr>
        <p:spPr>
          <a:xfrm>
            <a:off x="8191500" y="1841500"/>
            <a:ext cx="76200" cy="1422400"/>
          </a:xfrm>
          <a:prstGeom prst="roundRect">
            <a:avLst/>
          </a:prstGeom>
          <a:solidFill>
            <a:srgbClr val="2F70D0"/>
          </a:solidFill>
          <a:ln w="12700">
            <a:solidFill>
              <a:srgbClr val="2F70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B4B5AAA-ED71-A8F2-66A3-FDE33AE36043}"/>
              </a:ext>
            </a:extLst>
          </p:cNvPr>
          <p:cNvSpPr>
            <a:spLocks noGrp="1"/>
          </p:cNvSpPr>
          <p:nvPr/>
        </p:nvSpPr>
        <p:spPr>
          <a:xfrm>
            <a:off x="8470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如何进入决策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9B359B-60D0-155F-517C-BE0214543BEF}"/>
              </a:ext>
            </a:extLst>
          </p:cNvPr>
          <p:cNvSpPr>
            <a:spLocks noGrp="1"/>
          </p:cNvSpPr>
          <p:nvPr/>
        </p:nvSpPr>
        <p:spPr>
          <a:xfrm>
            <a:off x="8470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Persona不直接指定本轮答案。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它决定Agent更关注事实、责任判断还是信息缺口，并影响状态改变和表达方式。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7A56068-9DCF-7DE3-44E0-47E872DDA472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5EBCF31-7776-827A-5C1E-636B44A89B94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8FA4D08-5975-D2C5-EFED-4D1A8C9EE4A2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B8E4E6-3A1E-9B84-1AE3-4292297A7905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一个人偶尔发布的一条微博，不能代表他的长期倾向。系统综合多条历史表达，并保留样本数量和分类依据，可以减少偶然发言的影响，也方便研究人员回查Persona是怎样形成的。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EC79C9-FF7E-456C-F7C6-399AD1DA0B90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机制边界：Persona描述历史表达倾向，不等同于真实人的完整心理，也不等于本轮情绪。</a:t>
            </a:r>
          </a:p>
        </p:txBody>
      </p:sp>
    </p:spTree>
    <p:extLst>
      <p:ext uri="{BB962C8B-B14F-4D97-AF65-F5344CB8AC3E}">
        <p14:creationId xmlns:p14="http://schemas.microsoft.com/office/powerpoint/2010/main" val="3429859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2F6FCA"/>
                </a:solidFill>
                <a:latin typeface="Microsoft YaHei"/>
                <a:ea typeface="Microsoft YaHei"/>
                <a:cs typeface="Microsoft YaHei"/>
              </a:rPr>
              <a:t>第一阶段基础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机制2：个体决策与状态惯性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C5F82F6-00CC-4344-912C-1D1BC2D946B9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4D16D6F-0D7C-43EC-9E0F-0A70C767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CC1B0A4-5BB4-47B7-89B8-F607D1ECC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4B5DEC-B300-C846-390D-667F2BA6C206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Agent以上一轮状态为默认基线，只有相关的新证据才能推动状态变化。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F1E2B55-BD40-CABC-AA3E-2E86C7A7CBA0}"/>
              </a:ext>
            </a:extLst>
          </p:cNvPr>
          <p:cNvSpPr>
            <a:spLocks noGrp="1"/>
          </p:cNvSpPr>
          <p:nvPr/>
        </p:nvSpPr>
        <p:spPr>
          <a:xfrm>
            <a:off x="1625600" y="2032000"/>
            <a:ext cx="508000" cy="5080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9A6CC502-F2EC-45AA-8380-14A40C66C4CA}"/>
              </a:ext>
            </a:extLst>
          </p:cNvPr>
          <p:cNvSpPr>
            <a:spLocks noGrp="1"/>
          </p:cNvSpPr>
          <p:nvPr/>
        </p:nvSpPr>
        <p:spPr>
          <a:xfrm>
            <a:off x="2197100" y="2286000"/>
            <a:ext cx="11049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78C982-4A3B-4FF0-8E93-DA0FB3A95247}"/>
              </a:ext>
            </a:extLst>
          </p:cNvPr>
          <p:cNvSpPr>
            <a:spLocks noGrp="1"/>
          </p:cNvSpPr>
          <p:nvPr/>
        </p:nvSpPr>
        <p:spPr>
          <a:xfrm>
            <a:off x="6985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上一轮状态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44F9AF-D017-24B1-C7CA-8E0BDCB9ACAB}"/>
              </a:ext>
            </a:extLst>
          </p:cNvPr>
          <p:cNvSpPr>
            <a:spLocks noGrp="1"/>
          </p:cNvSpPr>
          <p:nvPr/>
        </p:nvSpPr>
        <p:spPr>
          <a:xfrm>
            <a:off x="698500" y="3136900"/>
            <a:ext cx="2413000" cy="3937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提供连续性，避免每轮从零开始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85C9B36-BC56-D88C-6B33-0D04C57C9AEB}"/>
              </a:ext>
            </a:extLst>
          </p:cNvPr>
          <p:cNvSpPr>
            <a:spLocks noGrp="1"/>
          </p:cNvSpPr>
          <p:nvPr/>
        </p:nvSpPr>
        <p:spPr>
          <a:xfrm>
            <a:off x="4356100" y="2032000"/>
            <a:ext cx="508000" cy="5080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FC4C2A2B-C4D7-4179-A3E4-B7B4FC5DDA38}"/>
              </a:ext>
            </a:extLst>
          </p:cNvPr>
          <p:cNvSpPr>
            <a:spLocks noGrp="1"/>
          </p:cNvSpPr>
          <p:nvPr/>
        </p:nvSpPr>
        <p:spPr>
          <a:xfrm>
            <a:off x="4927600" y="2286000"/>
            <a:ext cx="11049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ECEA04-B5A7-86D5-9511-659991B0B152}"/>
              </a:ext>
            </a:extLst>
          </p:cNvPr>
          <p:cNvSpPr>
            <a:spLocks noGrp="1"/>
          </p:cNvSpPr>
          <p:nvPr/>
        </p:nvSpPr>
        <p:spPr>
          <a:xfrm>
            <a:off x="34290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Persona关注方式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DDFA4C3-2AC0-DA4C-7CB1-73791318CD12}"/>
              </a:ext>
            </a:extLst>
          </p:cNvPr>
          <p:cNvSpPr>
            <a:spLocks noGrp="1"/>
          </p:cNvSpPr>
          <p:nvPr/>
        </p:nvSpPr>
        <p:spPr>
          <a:xfrm>
            <a:off x="3429000" y="3136900"/>
            <a:ext cx="2413000" cy="3937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决定该Agent优先检查哪类证据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41A0A2A-7738-7E0E-A7F7-5BB7CBB7D096}"/>
              </a:ext>
            </a:extLst>
          </p:cNvPr>
          <p:cNvSpPr>
            <a:spLocks noGrp="1"/>
          </p:cNvSpPr>
          <p:nvPr/>
        </p:nvSpPr>
        <p:spPr>
          <a:xfrm>
            <a:off x="7086600" y="2032000"/>
            <a:ext cx="508000" cy="5080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DE030250-3269-4230-B8AD-D0AB1F2B7953}"/>
              </a:ext>
            </a:extLst>
          </p:cNvPr>
          <p:cNvSpPr>
            <a:spLocks noGrp="1"/>
          </p:cNvSpPr>
          <p:nvPr/>
        </p:nvSpPr>
        <p:spPr>
          <a:xfrm>
            <a:off x="7658100" y="2286000"/>
            <a:ext cx="11049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BAA58F-E232-2726-47E7-15ECB4F51AB9}"/>
              </a:ext>
            </a:extLst>
          </p:cNvPr>
          <p:cNvSpPr>
            <a:spLocks noGrp="1"/>
          </p:cNvSpPr>
          <p:nvPr/>
        </p:nvSpPr>
        <p:spPr>
          <a:xfrm>
            <a:off x="61595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本轮新增证据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A822F5F-60AB-F3C1-DD0D-648EDF5E8347}"/>
              </a:ext>
            </a:extLst>
          </p:cNvPr>
          <p:cNvSpPr>
            <a:spLocks noGrp="1"/>
          </p:cNvSpPr>
          <p:nvPr/>
        </p:nvSpPr>
        <p:spPr>
          <a:xfrm>
            <a:off x="6159500" y="3136900"/>
            <a:ext cx="2413000" cy="3937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事实、通告和个人可见评论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ACE472A-5647-C2A1-FA81-9331BD46945A}"/>
              </a:ext>
            </a:extLst>
          </p:cNvPr>
          <p:cNvSpPr>
            <a:spLocks noGrp="1"/>
          </p:cNvSpPr>
          <p:nvPr/>
        </p:nvSpPr>
        <p:spPr>
          <a:xfrm>
            <a:off x="9817100" y="2032000"/>
            <a:ext cx="508000" cy="5080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59DFA63-351A-01AD-DBE0-7E842D280E80}"/>
              </a:ext>
            </a:extLst>
          </p:cNvPr>
          <p:cNvSpPr>
            <a:spLocks noGrp="1"/>
          </p:cNvSpPr>
          <p:nvPr/>
        </p:nvSpPr>
        <p:spPr>
          <a:xfrm>
            <a:off x="8890000" y="2730499"/>
            <a:ext cx="2413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结构化决策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B823083-1C8A-5216-225A-F2B008837BEB}"/>
              </a:ext>
            </a:extLst>
          </p:cNvPr>
          <p:cNvSpPr>
            <a:spLocks noGrp="1"/>
          </p:cNvSpPr>
          <p:nvPr/>
        </p:nvSpPr>
        <p:spPr>
          <a:xfrm>
            <a:off x="8890000" y="3136900"/>
            <a:ext cx="2413000" cy="461665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情绪、官方态度、是否评论和派系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467D550-0B51-449B-58C9-8D4008434D13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2691FBD-8A5E-3314-9F86-8B04CDC6A8D6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4D9D438-3AE1-39ED-59EA-0DCE3344D32D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3BBDBC9-46F9-AC4A-AEBB-CDBDC3C6EB6E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现实中的人不会每看到一条评论就立刻改变立场。系统让Agent先保留上一轮状态，只有出现与其关注点相关的新证据时才调整，降低共同信息引发同步转向的风险。当前实验仍可能出现趋同，需要继续校准。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0756A1B-791E-DAD4-8D72-85574B9BCB66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212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机制边界：系统不设置情绪配额，也不强制保持原状态；同一证据允许因Persona差异产生不同判断，但不保证群体一定分化。</a:t>
            </a:r>
          </a:p>
        </p:txBody>
      </p:sp>
    </p:spTree>
    <p:extLst>
      <p:ext uri="{BB962C8B-B14F-4D97-AF65-F5344CB8AC3E}">
        <p14:creationId xmlns:p14="http://schemas.microsoft.com/office/powerpoint/2010/main" val="2159340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169F98"/>
                </a:solidFill>
                <a:latin typeface="Microsoft YaHei"/>
                <a:ea typeface="Microsoft YaHei"/>
                <a:cs typeface="Microsoft YaHei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机制3：固定社交网络与影响力权重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8BCAA4C-6EAA-4B6B-B696-15492E76F627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DCC3D2-6EF7-491A-8669-3C01F9D20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1DDF9D7-9A14-4ACE-9806-42BB8C0C4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05799A-D8FE-1711-FB24-9E556A02D45D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固定的有向关系描述谁能读取谁的上一轮表达，权重只改变表达被看见的机会。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486A0B-F762-A207-760E-1A92A669E9C0}"/>
              </a:ext>
            </a:extLst>
          </p:cNvPr>
          <p:cNvSpPr>
            <a:spLocks noGrp="1"/>
          </p:cNvSpPr>
          <p:nvPr/>
        </p:nvSpPr>
        <p:spPr>
          <a:xfrm>
            <a:off x="698500" y="1778000"/>
            <a:ext cx="63500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478797-3EFC-CE2F-7374-AE117F5595A0}"/>
              </a:ext>
            </a:extLst>
          </p:cNvPr>
          <p:cNvSpPr>
            <a:spLocks noGrp="1"/>
          </p:cNvSpPr>
          <p:nvPr/>
        </p:nvSpPr>
        <p:spPr>
          <a:xfrm>
            <a:off x="1016000" y="1968499"/>
            <a:ext cx="5715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00" b="1">
                <a:solidFill>
                  <a:srgbClr val="2F70D0"/>
                </a:solidFill>
                <a:latin typeface="Microsoft YaHei"/>
                <a:ea typeface="Microsoft YaHei"/>
                <a:cs typeface="Microsoft YaHei"/>
              </a:rPr>
              <a:t>保留公式：影响力权重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ADB0E7-C91E-4114-7B79-A9BCB150C5A2}"/>
              </a:ext>
            </a:extLst>
          </p:cNvPr>
          <p:cNvSpPr>
            <a:spLocks noGrp="1"/>
          </p:cNvSpPr>
          <p:nvPr/>
        </p:nvSpPr>
        <p:spPr>
          <a:xfrm>
            <a:off x="952500" y="2565400"/>
            <a:ext cx="5842000" cy="4826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072341"/>
                </a:solidFill>
                <a:latin typeface="Cambria Math"/>
                <a:ea typeface="Cambria Math"/>
                <a:cs typeface="Cambria Math"/>
              </a:rPr>
              <a:t>Wᵢ = 1 + ln(1+fᵢ) / maxⱼln(1+fⱼ) + 0.2·vᵢ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D217F4-21C5-3362-4295-F84BB945788A}"/>
              </a:ext>
            </a:extLst>
          </p:cNvPr>
          <p:cNvSpPr>
            <a:spLocks noGrp="1"/>
          </p:cNvSpPr>
          <p:nvPr/>
        </p:nvSpPr>
        <p:spPr>
          <a:xfrm>
            <a:off x="1016000" y="3213100"/>
            <a:ext cx="5715000" cy="4826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5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fᵢ为粉丝数，vᵢ表示是否认证。粉丝量先取对数，避免头部账号完全支配网络。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1E6F1B3-7AD5-39CE-3BB4-8B7B17A71A86}"/>
              </a:ext>
            </a:extLst>
          </p:cNvPr>
          <p:cNvSpPr>
            <a:spLocks noGrp="1"/>
          </p:cNvSpPr>
          <p:nvPr/>
        </p:nvSpPr>
        <p:spPr>
          <a:xfrm>
            <a:off x="7493000" y="18415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9D33C7-98B5-3841-2CDC-FC4B28843BDD}"/>
              </a:ext>
            </a:extLst>
          </p:cNvPr>
          <p:cNvSpPr>
            <a:spLocks noGrp="1"/>
          </p:cNvSpPr>
          <p:nvPr/>
        </p:nvSpPr>
        <p:spPr>
          <a:xfrm>
            <a:off x="7772400" y="1841500"/>
            <a:ext cx="37211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关系构建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F828A9-46C7-14DD-43D5-26E3ADEE0F8E}"/>
              </a:ext>
            </a:extLst>
          </p:cNvPr>
          <p:cNvSpPr>
            <a:spLocks noGrp="1"/>
          </p:cNvSpPr>
          <p:nvPr/>
        </p:nvSpPr>
        <p:spPr>
          <a:xfrm>
            <a:off x="7772400" y="2273300"/>
            <a:ext cx="3721100" cy="93871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系统使用固定种子，为每个Agent选择5名邻居。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关系有方向，排除自己，不允许重复；同一批Agent重复运行时保持相同网络。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9B899A-0A1F-DAAF-DDC6-2515290CB5FA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51F1399-C036-6FE6-88D9-EE082E8BA9B6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014FB3-98B8-D268-C937-23CF32E25B60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EA83A14-88F7-D026-F359-ED13BBC495BD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现实中，人通常只关注少数账号。影响力较大的账号更容易被看到，但不等于一定被相信。固定关注关系和权重既能保留这种差异，也能避免网络随机变化干扰实验比较。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59CF7C-0DAF-36BF-2EE8-CF40FB9D98DD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机制边界：A→B表示A能够读取B的表达；影响力权重不代表内容一定可信，也不会强制A接受B的观点。</a:t>
            </a:r>
          </a:p>
        </p:txBody>
      </p:sp>
    </p:spTree>
    <p:extLst>
      <p:ext uri="{BB962C8B-B14F-4D97-AF65-F5344CB8AC3E}">
        <p14:creationId xmlns:p14="http://schemas.microsoft.com/office/powerpoint/2010/main" val="939627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169F98"/>
                </a:solidFill>
                <a:latin typeface="Microsoft YaHei"/>
                <a:ea typeface="Microsoft YaHei"/>
                <a:cs typeface="Microsoft YaHei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机制4：个人可见范围与局部舆论环境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B4139C9-DD6B-4850-BAB6-27BB787F5989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70C949-97A3-4D0D-BEE3-10FA9CF38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85E6325-F78E-4561-99FF-36385C56F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C41D26-8E9A-C81D-2178-48A5D0814785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系统通过不同的评论可见范围制造信息差，而不是让30名Agent看到完全相同的内容。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35E31-A174-0BD8-ABB2-0DB50E3BADD3}"/>
              </a:ext>
            </a:extLst>
          </p:cNvPr>
          <p:cNvSpPr>
            <a:spLocks noGrp="1"/>
          </p:cNvSpPr>
          <p:nvPr/>
        </p:nvSpPr>
        <p:spPr>
          <a:xfrm>
            <a:off x="2222500" y="1905000"/>
            <a:ext cx="558800" cy="558800"/>
          </a:xfrm>
          <a:prstGeom prst="ellipse">
            <a:avLst/>
          </a:prstGeom>
          <a:solidFill>
            <a:srgbClr val="109D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416F6D2B-F3B7-4280-9EE8-D700441C7822}"/>
              </a:ext>
            </a:extLst>
          </p:cNvPr>
          <p:cNvSpPr>
            <a:spLocks noGrp="1"/>
          </p:cNvSpPr>
          <p:nvPr/>
        </p:nvSpPr>
        <p:spPr>
          <a:xfrm>
            <a:off x="2844800" y="2184400"/>
            <a:ext cx="16256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3A845B-95CC-427A-285B-9CE4935E6270}"/>
              </a:ext>
            </a:extLst>
          </p:cNvPr>
          <p:cNvSpPr>
            <a:spLocks noGrp="1"/>
          </p:cNvSpPr>
          <p:nvPr/>
        </p:nvSpPr>
        <p:spPr>
          <a:xfrm>
            <a:off x="889000" y="2768600"/>
            <a:ext cx="32385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邻居上一轮实际表达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A0E549-886E-AEB9-4A9B-0D53C2E603C1}"/>
              </a:ext>
            </a:extLst>
          </p:cNvPr>
          <p:cNvSpPr>
            <a:spLocks noGrp="1"/>
          </p:cNvSpPr>
          <p:nvPr/>
        </p:nvSpPr>
        <p:spPr>
          <a:xfrm>
            <a:off x="889000" y="3263900"/>
            <a:ext cx="3238500" cy="48320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只读取固定网络中所关注邻居真正发表的评论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2C2E34A-6B33-0CD3-63A7-4AA8D11B3A00}"/>
              </a:ext>
            </a:extLst>
          </p:cNvPr>
          <p:cNvSpPr>
            <a:spLocks noGrp="1"/>
          </p:cNvSpPr>
          <p:nvPr/>
        </p:nvSpPr>
        <p:spPr>
          <a:xfrm>
            <a:off x="5969000" y="1905000"/>
            <a:ext cx="558800" cy="5588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F8306E39-49D0-4837-8A4A-D861E4C86AF3}"/>
              </a:ext>
            </a:extLst>
          </p:cNvPr>
          <p:cNvSpPr>
            <a:spLocks noGrp="1"/>
          </p:cNvSpPr>
          <p:nvPr/>
        </p:nvSpPr>
        <p:spPr>
          <a:xfrm>
            <a:off x="6591300" y="2184400"/>
            <a:ext cx="1625600" cy="0"/>
          </a:xfrm>
          <a:prstGeom prst="line">
            <a:avLst/>
          </a:prstGeom>
          <a:ln w="19050">
            <a:solidFill>
              <a:srgbClr val="78899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C160EE-228E-45E8-5955-92BB6212D49E}"/>
              </a:ext>
            </a:extLst>
          </p:cNvPr>
          <p:cNvSpPr>
            <a:spLocks noGrp="1"/>
          </p:cNvSpPr>
          <p:nvPr/>
        </p:nvSpPr>
        <p:spPr>
          <a:xfrm>
            <a:off x="4635500" y="2768600"/>
            <a:ext cx="3238500" cy="32766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公共评论基础视野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6CE39F7-B807-F34A-C8D9-3C0C179F4408}"/>
              </a:ext>
            </a:extLst>
          </p:cNvPr>
          <p:cNvSpPr>
            <a:spLocks noGrp="1"/>
          </p:cNvSpPr>
          <p:nvPr/>
        </p:nvSpPr>
        <p:spPr>
          <a:xfrm>
            <a:off x="4635500" y="3263900"/>
            <a:ext cx="3238500" cy="27736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始终抽取；邻居不足时再补齐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7A7492C-54AE-0B5C-23A8-C9F7C7CDE646}"/>
              </a:ext>
            </a:extLst>
          </p:cNvPr>
          <p:cNvSpPr>
            <a:spLocks noGrp="1"/>
          </p:cNvSpPr>
          <p:nvPr/>
        </p:nvSpPr>
        <p:spPr>
          <a:xfrm>
            <a:off x="9715500" y="1905000"/>
            <a:ext cx="558800" cy="5588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AAD243-9E50-C19E-7BBA-7CFBD8BDAC43}"/>
              </a:ext>
            </a:extLst>
          </p:cNvPr>
          <p:cNvSpPr>
            <a:spLocks noGrp="1"/>
          </p:cNvSpPr>
          <p:nvPr/>
        </p:nvSpPr>
        <p:spPr>
          <a:xfrm>
            <a:off x="8382000" y="2768600"/>
            <a:ext cx="32385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个人独立判断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C453946-557C-F7C9-9CC0-8FDA0D5C610D}"/>
              </a:ext>
            </a:extLst>
          </p:cNvPr>
          <p:cNvSpPr>
            <a:spLocks noGrp="1"/>
          </p:cNvSpPr>
          <p:nvPr/>
        </p:nvSpPr>
        <p:spPr>
          <a:xfrm>
            <a:off x="8382000" y="3263900"/>
            <a:ext cx="3238500" cy="48320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合并后的评论只作为证据，Agent仍结合Persona和记忆判断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353BD6C-423D-2523-263E-A0AD2FE10253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35E8020-8FB9-2C03-0606-7C4E9C09A8A9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B0AFEE5-EC36-58E3-3AD5-8369B6DCDE9C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849F994-4F33-8757-1CAC-51B8742424C3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现实舆情的差异，往往先来自每个人看到的内容不同。系统同时提供公共评论与邻居真实表达；邻居不足时再增加公共评论，可以形成不同的信息环境，同时保留个人独立判断。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2584EE8-F6E9-162D-89BE-7B781BDBB4D2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第1轮没有上一轮Agent表达，邻居传播部分为空；网络从第2轮开始呈现真实的逐轮传播作用。</a:t>
            </a:r>
          </a:p>
        </p:txBody>
      </p:sp>
    </p:spTree>
    <p:extLst>
      <p:ext uri="{BB962C8B-B14F-4D97-AF65-F5344CB8AC3E}">
        <p14:creationId xmlns:p14="http://schemas.microsoft.com/office/powerpoint/2010/main" val="1899214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169F98"/>
                </a:solidFill>
                <a:latin typeface="Microsoft YaHei"/>
                <a:ea typeface="Microsoft YaHei"/>
                <a:cs typeface="Microsoft YaHei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机制5：跨层传播与权重衰减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89069B2-C6E3-4539-9566-E32031F84958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CC8881-2246-48F4-A630-79BF0F095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1EF157-22A7-472D-ABED-95CA48FDC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C472B1-2D05-A841-BFE9-A8C0F4DFD7B0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同一表达经过多层转述后，来源影响逐渐减弱，避免传播链无限放大。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4CA384-68C1-64AD-5EAC-9B38E933B55B}"/>
              </a:ext>
            </a:extLst>
          </p:cNvPr>
          <p:cNvSpPr>
            <a:spLocks noGrp="1"/>
          </p:cNvSpPr>
          <p:nvPr/>
        </p:nvSpPr>
        <p:spPr>
          <a:xfrm>
            <a:off x="698500" y="1778000"/>
            <a:ext cx="10795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1C5772-7A65-4311-F64C-AFA97EFD43DA}"/>
              </a:ext>
            </a:extLst>
          </p:cNvPr>
          <p:cNvSpPr>
            <a:spLocks noGrp="1"/>
          </p:cNvSpPr>
          <p:nvPr/>
        </p:nvSpPr>
        <p:spPr>
          <a:xfrm>
            <a:off x="1016000" y="1968499"/>
            <a:ext cx="3302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00" b="1">
                <a:solidFill>
                  <a:srgbClr val="EE7D27"/>
                </a:solidFill>
                <a:latin typeface="Microsoft YaHei"/>
                <a:ea typeface="Microsoft YaHei"/>
                <a:cs typeface="Microsoft YaHei"/>
              </a:rPr>
              <a:t>保留公式：传播有效权重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4E3A7E-98EC-1E56-ABDB-115E48272DFF}"/>
              </a:ext>
            </a:extLst>
          </p:cNvPr>
          <p:cNvSpPr>
            <a:spLocks noGrp="1"/>
          </p:cNvSpPr>
          <p:nvPr/>
        </p:nvSpPr>
        <p:spPr>
          <a:xfrm>
            <a:off x="3111500" y="2501900"/>
            <a:ext cx="5969000" cy="4826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072341"/>
                </a:solidFill>
                <a:latin typeface="Cambria Math"/>
                <a:ea typeface="Cambria Math"/>
                <a:cs typeface="Cambria Math"/>
              </a:rPr>
              <a:t>w_eff = W_source × 0.7^(d−1)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B9C8A-61AF-4439-2F14-B97A6F00E536}"/>
              </a:ext>
            </a:extLst>
          </p:cNvPr>
          <p:cNvSpPr>
            <a:spLocks noGrp="1"/>
          </p:cNvSpPr>
          <p:nvPr/>
        </p:nvSpPr>
        <p:spPr>
          <a:xfrm>
            <a:off x="8953500" y="2501899"/>
            <a:ext cx="2095500" cy="3937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d为传播深度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EF7E53F-E07F-4EF2-3768-0273CFF73C78}"/>
              </a:ext>
            </a:extLst>
          </p:cNvPr>
          <p:cNvSpPr>
            <a:spLocks noGrp="1"/>
          </p:cNvSpPr>
          <p:nvPr/>
        </p:nvSpPr>
        <p:spPr>
          <a:xfrm>
            <a:off x="1270000" y="3810000"/>
            <a:ext cx="533400" cy="5334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FDED7768-FBAF-4F56-962A-494987C55623}"/>
              </a:ext>
            </a:extLst>
          </p:cNvPr>
          <p:cNvSpPr>
            <a:spLocks noGrp="1"/>
          </p:cNvSpPr>
          <p:nvPr/>
        </p:nvSpPr>
        <p:spPr>
          <a:xfrm>
            <a:off x="1866900" y="4076700"/>
            <a:ext cx="1511300" cy="0"/>
          </a:xfrm>
          <a:prstGeom prst="line">
            <a:avLst/>
          </a:prstGeom>
          <a:ln w="19050">
            <a:solidFill>
              <a:srgbClr val="78899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CFAE1B-B057-44CE-522D-7CF9DD66AE14}"/>
              </a:ext>
            </a:extLst>
          </p:cNvPr>
          <p:cNvSpPr>
            <a:spLocks noGrp="1"/>
          </p:cNvSpPr>
          <p:nvPr/>
        </p:nvSpPr>
        <p:spPr>
          <a:xfrm>
            <a:off x="889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首跳：W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6182C1F-3B83-1546-F831-1122B0687713}"/>
              </a:ext>
            </a:extLst>
          </p:cNvPr>
          <p:cNvSpPr>
            <a:spLocks noGrp="1"/>
          </p:cNvSpPr>
          <p:nvPr/>
        </p:nvSpPr>
        <p:spPr>
          <a:xfrm>
            <a:off x="4064000" y="3810000"/>
            <a:ext cx="533400" cy="5334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FB8821E6-ED79-4097-B77F-0DE4FBC42209}"/>
              </a:ext>
            </a:extLst>
          </p:cNvPr>
          <p:cNvSpPr>
            <a:spLocks noGrp="1"/>
          </p:cNvSpPr>
          <p:nvPr/>
        </p:nvSpPr>
        <p:spPr>
          <a:xfrm>
            <a:off x="4660900" y="4076700"/>
            <a:ext cx="1511300" cy="0"/>
          </a:xfrm>
          <a:prstGeom prst="line">
            <a:avLst/>
          </a:prstGeom>
          <a:ln w="19050">
            <a:solidFill>
              <a:srgbClr val="78899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93C7B8-C672-654D-778C-BD9AA6D9B000}"/>
              </a:ext>
            </a:extLst>
          </p:cNvPr>
          <p:cNvSpPr>
            <a:spLocks noGrp="1"/>
          </p:cNvSpPr>
          <p:nvPr/>
        </p:nvSpPr>
        <p:spPr>
          <a:xfrm>
            <a:off x="3683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第2层：0.7W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EC34015-747D-BC17-90C9-2E9BB7896FC4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533400" cy="5334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358E9318-8A3C-46AD-986E-C2985CB77F85}"/>
              </a:ext>
            </a:extLst>
          </p:cNvPr>
          <p:cNvSpPr>
            <a:spLocks noGrp="1"/>
          </p:cNvSpPr>
          <p:nvPr/>
        </p:nvSpPr>
        <p:spPr>
          <a:xfrm>
            <a:off x="7454900" y="4076700"/>
            <a:ext cx="1511300" cy="0"/>
          </a:xfrm>
          <a:prstGeom prst="line">
            <a:avLst/>
          </a:prstGeom>
          <a:ln w="19050">
            <a:solidFill>
              <a:srgbClr val="78899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611BFB3-D57E-52ED-87E8-61622350C906}"/>
              </a:ext>
            </a:extLst>
          </p:cNvPr>
          <p:cNvSpPr>
            <a:spLocks noGrp="1"/>
          </p:cNvSpPr>
          <p:nvPr/>
        </p:nvSpPr>
        <p:spPr>
          <a:xfrm>
            <a:off x="6477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第3层：0.49W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B54647F-1C37-1D64-0186-4681FA5D8AA7}"/>
              </a:ext>
            </a:extLst>
          </p:cNvPr>
          <p:cNvSpPr>
            <a:spLocks noGrp="1"/>
          </p:cNvSpPr>
          <p:nvPr/>
        </p:nvSpPr>
        <p:spPr>
          <a:xfrm>
            <a:off x="9652000" y="3810000"/>
            <a:ext cx="533400" cy="5334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71595C-3BBC-7930-DB3A-DA754834446A}"/>
              </a:ext>
            </a:extLst>
          </p:cNvPr>
          <p:cNvSpPr>
            <a:spLocks noGrp="1"/>
          </p:cNvSpPr>
          <p:nvPr/>
        </p:nvSpPr>
        <p:spPr>
          <a:xfrm>
            <a:off x="9271000" y="4470399"/>
            <a:ext cx="1651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第4层：0.343W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186C68D-2812-6724-E3BA-76740D657D2B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6DC29D5-7653-6811-727C-4A112897162F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B9A7935-800D-C41A-44C3-40AAED90FAB9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D1820B8-F0C4-43F2-2582-3B04C66EC1D3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一条消息经过多次转述后，来源会越来越模糊，影响通常也会减弱。逐层衰减既保留有影响力账号的传播优势，也防止同一条评论在网络深处被无限放大。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077B5DE-BB31-F5F7-D42C-794D3AE09D2A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机制边界：0.7作用于评论进入下一名Agent视野的有效权重，不直接把目标Agent的情绪乘以0.7。</a:t>
            </a:r>
          </a:p>
        </p:txBody>
      </p:sp>
    </p:spTree>
    <p:extLst>
      <p:ext uri="{BB962C8B-B14F-4D97-AF65-F5344CB8AC3E}">
        <p14:creationId xmlns:p14="http://schemas.microsoft.com/office/powerpoint/2010/main" val="2314631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169F98"/>
                </a:solidFill>
                <a:latin typeface="Microsoft YaHei"/>
                <a:ea typeface="Microsoft YaHei"/>
                <a:cs typeface="Microsoft YaHei"/>
              </a:rPr>
              <a:t>第二阶段新增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机制6：传播过程留痕与路径解释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FE87BA1-3CED-4D44-BDD4-115D8B4ED3D2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694318-1E89-46FD-8C8E-7ABA7EE23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D63B7B-AC92-40D8-A840-58CB16767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C4CA1C-3EB0-454D-A854-7279A5F4533D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静态关注关系只表示可能看见，系统另行记录每次实际发生的曝光和继续表达。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9FFEEAA-068C-3C22-A050-D00D385E333B}"/>
              </a:ext>
            </a:extLst>
          </p:cNvPr>
          <p:cNvSpPr>
            <a:spLocks noGrp="1"/>
          </p:cNvSpPr>
          <p:nvPr/>
        </p:nvSpPr>
        <p:spPr>
          <a:xfrm>
            <a:off x="698500" y="1968500"/>
            <a:ext cx="2286000" cy="1270000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559D9D-B578-2A97-4427-C56AE47F711E}"/>
              </a:ext>
            </a:extLst>
          </p:cNvPr>
          <p:cNvSpPr>
            <a:spLocks noGrp="1"/>
          </p:cNvSpPr>
          <p:nvPr/>
        </p:nvSpPr>
        <p:spPr>
          <a:xfrm>
            <a:off x="825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Agent A表达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4414E5-E548-C42C-CAA2-B6434329279D}"/>
              </a:ext>
            </a:extLst>
          </p:cNvPr>
          <p:cNvSpPr>
            <a:spLocks noGrp="1"/>
          </p:cNvSpPr>
          <p:nvPr/>
        </p:nvSpPr>
        <p:spPr>
          <a:xfrm>
            <a:off x="889000" y="2692400"/>
            <a:ext cx="1905000" cy="3937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形成评论和表达编号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6E36046D-460F-4638-8EAC-AC812376EE87}"/>
              </a:ext>
            </a:extLst>
          </p:cNvPr>
          <p:cNvSpPr>
            <a:spLocks noGrp="1"/>
          </p:cNvSpPr>
          <p:nvPr/>
        </p:nvSpPr>
        <p:spPr>
          <a:xfrm>
            <a:off x="3035300" y="2603500"/>
            <a:ext cx="406400" cy="0"/>
          </a:xfrm>
          <a:prstGeom prst="line">
            <a:avLst/>
          </a:prstGeom>
          <a:ln w="25400">
            <a:solidFill>
              <a:srgbClr val="109D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3B971B5-E42E-E7CD-AC79-5DB26FCF2B4C}"/>
              </a:ext>
            </a:extLst>
          </p:cNvPr>
          <p:cNvSpPr>
            <a:spLocks noGrp="1"/>
          </p:cNvSpPr>
          <p:nvPr/>
        </p:nvSpPr>
        <p:spPr>
          <a:xfrm>
            <a:off x="3492500" y="1968500"/>
            <a:ext cx="2286000" cy="1270000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31BB25-70C9-FE7A-44B8-9FF10FD3B900}"/>
              </a:ext>
            </a:extLst>
          </p:cNvPr>
          <p:cNvSpPr>
            <a:spLocks noGrp="1"/>
          </p:cNvSpPr>
          <p:nvPr/>
        </p:nvSpPr>
        <p:spPr>
          <a:xfrm>
            <a:off x="3619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Agent B看到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D2040C9-7E1A-5BCF-3432-67055C21ACA4}"/>
              </a:ext>
            </a:extLst>
          </p:cNvPr>
          <p:cNvSpPr>
            <a:spLocks noGrp="1"/>
          </p:cNvSpPr>
          <p:nvPr/>
        </p:nvSpPr>
        <p:spPr>
          <a:xfrm>
            <a:off x="3683000" y="2692400"/>
            <a:ext cx="1905000" cy="461665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记录来源、目标和传播深度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43EC127-7C9A-478C-A9B2-CD3EF6853920}"/>
              </a:ext>
            </a:extLst>
          </p:cNvPr>
          <p:cNvSpPr>
            <a:spLocks noGrp="1"/>
          </p:cNvSpPr>
          <p:nvPr/>
        </p:nvSpPr>
        <p:spPr>
          <a:xfrm>
            <a:off x="5829300" y="2603500"/>
            <a:ext cx="406400" cy="0"/>
          </a:xfrm>
          <a:prstGeom prst="line">
            <a:avLst/>
          </a:prstGeom>
          <a:ln w="25400">
            <a:solidFill>
              <a:srgbClr val="109D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CD93C20-2EA8-9905-F305-DB8BA519217F}"/>
              </a:ext>
            </a:extLst>
          </p:cNvPr>
          <p:cNvSpPr>
            <a:spLocks noGrp="1"/>
          </p:cNvSpPr>
          <p:nvPr/>
        </p:nvSpPr>
        <p:spPr>
          <a:xfrm>
            <a:off x="6286500" y="1968500"/>
            <a:ext cx="2286000" cy="1270000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D4E12D4-30ED-1FA8-592E-020F42FBA3EA}"/>
              </a:ext>
            </a:extLst>
          </p:cNvPr>
          <p:cNvSpPr>
            <a:spLocks noGrp="1"/>
          </p:cNvSpPr>
          <p:nvPr/>
        </p:nvSpPr>
        <p:spPr>
          <a:xfrm>
            <a:off x="6413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Agent B继续表达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3C6C8F7-8BDC-8CDE-9CDC-99A3D8B1C324}"/>
              </a:ext>
            </a:extLst>
          </p:cNvPr>
          <p:cNvSpPr>
            <a:spLocks noGrp="1"/>
          </p:cNvSpPr>
          <p:nvPr/>
        </p:nvSpPr>
        <p:spPr>
          <a:xfrm>
            <a:off x="6477000" y="2692400"/>
            <a:ext cx="1905000" cy="461665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标记was_selected并生成下一表达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1F413F67-BF72-4736-A00C-8BBD45C2FF36}"/>
              </a:ext>
            </a:extLst>
          </p:cNvPr>
          <p:cNvSpPr>
            <a:spLocks noGrp="1"/>
          </p:cNvSpPr>
          <p:nvPr/>
        </p:nvSpPr>
        <p:spPr>
          <a:xfrm>
            <a:off x="8623300" y="2603500"/>
            <a:ext cx="406400" cy="0"/>
          </a:xfrm>
          <a:prstGeom prst="line">
            <a:avLst/>
          </a:prstGeom>
          <a:ln w="25400">
            <a:solidFill>
              <a:srgbClr val="109D9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354C741-1BC8-B3BC-5A55-711610D3A5CF}"/>
              </a:ext>
            </a:extLst>
          </p:cNvPr>
          <p:cNvSpPr>
            <a:spLocks noGrp="1"/>
          </p:cNvSpPr>
          <p:nvPr/>
        </p:nvSpPr>
        <p:spPr>
          <a:xfrm>
            <a:off x="9080500" y="1968500"/>
            <a:ext cx="2286000" cy="1270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739B020-1AD9-3A98-0FC5-64A79341059E}"/>
              </a:ext>
            </a:extLst>
          </p:cNvPr>
          <p:cNvSpPr>
            <a:spLocks noGrp="1"/>
          </p:cNvSpPr>
          <p:nvPr/>
        </p:nvSpPr>
        <p:spPr>
          <a:xfrm>
            <a:off x="9207500" y="2222499"/>
            <a:ext cx="2032000" cy="342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Agent C未继续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1F0C5A4-A98A-A9D4-B169-85FF682B85A9}"/>
              </a:ext>
            </a:extLst>
          </p:cNvPr>
          <p:cNvSpPr>
            <a:spLocks noGrp="1"/>
          </p:cNvSpPr>
          <p:nvPr/>
        </p:nvSpPr>
        <p:spPr>
          <a:xfrm>
            <a:off x="9271000" y="2692400"/>
            <a:ext cx="1905000" cy="3937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2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路径在该节点停止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2FADD1E-AFF1-3757-71DA-A37127421877}"/>
              </a:ext>
            </a:extLst>
          </p:cNvPr>
          <p:cNvSpPr>
            <a:spLocks noGrp="1"/>
          </p:cNvSpPr>
          <p:nvPr/>
        </p:nvSpPr>
        <p:spPr>
          <a:xfrm>
            <a:off x="1143000" y="36830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06965B3-3331-7E9F-9E16-55ED1CE19718}"/>
              </a:ext>
            </a:extLst>
          </p:cNvPr>
          <p:cNvSpPr>
            <a:spLocks noGrp="1"/>
          </p:cNvSpPr>
          <p:nvPr/>
        </p:nvSpPr>
        <p:spPr>
          <a:xfrm>
            <a:off x="1422400" y="3683000"/>
            <a:ext cx="4292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能够回答什么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A1B7D05-6801-5DD6-D3FC-A7386C4EE48B}"/>
              </a:ext>
            </a:extLst>
          </p:cNvPr>
          <p:cNvSpPr>
            <a:spLocks noGrp="1"/>
          </p:cNvSpPr>
          <p:nvPr/>
        </p:nvSpPr>
        <p:spPr>
          <a:xfrm>
            <a:off x="1422400" y="4114800"/>
            <a:ext cx="4292600" cy="723275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哪条评论进入过谁的视野；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谁看见后继续表达；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传播链走了几层、在哪个节点停止。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E6E78E4-26AC-BAD9-A7F7-ED16E4A9A3BF}"/>
              </a:ext>
            </a:extLst>
          </p:cNvPr>
          <p:cNvSpPr>
            <a:spLocks noGrp="1"/>
          </p:cNvSpPr>
          <p:nvPr/>
        </p:nvSpPr>
        <p:spPr>
          <a:xfrm>
            <a:off x="6604000" y="3683000"/>
            <a:ext cx="76200" cy="14224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B1F3B59-6048-BC64-1392-0E355F6C40AD}"/>
              </a:ext>
            </a:extLst>
          </p:cNvPr>
          <p:cNvSpPr>
            <a:spLocks noGrp="1"/>
          </p:cNvSpPr>
          <p:nvPr/>
        </p:nvSpPr>
        <p:spPr>
          <a:xfrm>
            <a:off x="6883400" y="3683000"/>
            <a:ext cx="4165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不能据此推断什么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21F7136-BEC0-9978-5BAD-8821062ACF00}"/>
              </a:ext>
            </a:extLst>
          </p:cNvPr>
          <p:cNvSpPr>
            <a:spLocks noGrp="1"/>
          </p:cNvSpPr>
          <p:nvPr/>
        </p:nvSpPr>
        <p:spPr>
          <a:xfrm>
            <a:off x="6883400" y="4114799"/>
            <a:ext cx="4165600" cy="6350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网络中存在连线不代表本轮一定发生传播。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没有实际曝光记录的关系，不绘制为本轮传播路径。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0A528BB-374E-1062-13C5-7B54C7C33C7F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机制边界：留痕记录说明系统中发生了哪些曝光和继续表达，不等于现实世界中的真实因果关系。</a:t>
            </a:r>
          </a:p>
        </p:txBody>
      </p:sp>
      <p:sp>
        <p:nvSpPr>
          <p:cNvPr id="12" name="Rationale Panel">
            <a:extLst>
              <a:ext uri="{FF2B5EF4-FFF2-40B4-BE49-F238E27FC236}">
                <a16:creationId xmlns:a16="http://schemas.microsoft.com/office/drawing/2014/main" id="{AC19FDA7-02CF-748F-8639-CBAFC43103ED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7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ationale Accent">
            <a:extLst>
              <a:ext uri="{FF2B5EF4-FFF2-40B4-BE49-F238E27FC236}">
                <a16:creationId xmlns:a16="http://schemas.microsoft.com/office/drawing/2014/main" id="{01A18FD7-046C-2C21-AA90-7C2F25F21FDB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ect">
            <a:avLst/>
          </a:prstGeom>
          <a:solidFill>
            <a:srgbClr val="E76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ationale Label">
            <a:extLst>
              <a:ext uri="{FF2B5EF4-FFF2-40B4-BE49-F238E27FC236}">
                <a16:creationId xmlns:a16="http://schemas.microsoft.com/office/drawing/2014/main" id="{072E9B26-CE8B-E12F-A5B0-FE436C6A6243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4624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15" name="Rationale Body">
            <a:extLst>
              <a:ext uri="{FF2B5EF4-FFF2-40B4-BE49-F238E27FC236}">
                <a16:creationId xmlns:a16="http://schemas.microsoft.com/office/drawing/2014/main" id="{11556CFD-E86D-4444-1BFD-8220F2F7D601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47842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社交网络中的连线只能说明可能看见，不能证明某条评论真的影响了谁。记录每次曝光和后续表达，才能还原传播链，解释为什么有些意见继续扩散，有些在中途停止。</a:t>
            </a:r>
          </a:p>
        </p:txBody>
      </p:sp>
    </p:spTree>
    <p:extLst>
      <p:ext uri="{BB962C8B-B14F-4D97-AF65-F5344CB8AC3E}">
        <p14:creationId xmlns:p14="http://schemas.microsoft.com/office/powerpoint/2010/main" val="2134981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F27C22"/>
                </a:solidFill>
                <a:latin typeface="Microsoft YaHei"/>
                <a:ea typeface="Microsoft YaHei"/>
                <a:cs typeface="Microsoft YaHei"/>
              </a:rPr>
              <a:t>第二阶段机制完善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机制7：事件情绪与官方态度分离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5681067-AD4D-4F9F-AAAC-EB054129820A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A6F715-79CB-49B5-A749-D76159511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EE3366F-FEA6-4A12-A958-500228803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8C1761-6570-A222-3CC9-9592896EA5F3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系统把“对事件的感受”和“对官方信息的判断”作为两个独立问题。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6FD636-BE66-C405-3BD0-CA11295781A2}"/>
              </a:ext>
            </a:extLst>
          </p:cNvPr>
          <p:cNvSpPr>
            <a:spLocks noGrp="1"/>
          </p:cNvSpPr>
          <p:nvPr/>
        </p:nvSpPr>
        <p:spPr>
          <a:xfrm>
            <a:off x="889000" y="1841500"/>
            <a:ext cx="4445000" cy="2413000"/>
          </a:xfrm>
          <a:prstGeom prst="roundRect">
            <a:avLst/>
          </a:prstGeom>
          <a:solidFill>
            <a:srgbClr val="FDEDEF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021E1C-A664-B7C8-7851-54DE127CBF8A}"/>
              </a:ext>
            </a:extLst>
          </p:cNvPr>
          <p:cNvSpPr>
            <a:spLocks noGrp="1"/>
          </p:cNvSpPr>
          <p:nvPr/>
        </p:nvSpPr>
        <p:spPr>
          <a:xfrm>
            <a:off x="1270000" y="2095499"/>
            <a:ext cx="3683000" cy="3810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D84A55"/>
                </a:solidFill>
                <a:latin typeface="Microsoft YaHei"/>
                <a:ea typeface="Microsoft YaHei"/>
                <a:cs typeface="Microsoft YaHei"/>
              </a:rPr>
              <a:t>事件情绪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B95F2A-A9F1-FEA3-61CF-A4A001F10D8D}"/>
              </a:ext>
            </a:extLst>
          </p:cNvPr>
          <p:cNvSpPr>
            <a:spLocks noGrp="1"/>
          </p:cNvSpPr>
          <p:nvPr/>
        </p:nvSpPr>
        <p:spPr>
          <a:xfrm>
            <a:off x="1333500" y="2730500"/>
            <a:ext cx="3556000" cy="74635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正面 / 中性 / 负面</a:t>
            </a:r>
          </a:p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回答：如何看待事件后果、处置过程和公共讨论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C2B37A4-9759-8C04-5F8E-7951119BE368}"/>
              </a:ext>
            </a:extLst>
          </p:cNvPr>
          <p:cNvSpPr>
            <a:spLocks noGrp="1"/>
          </p:cNvSpPr>
          <p:nvPr/>
        </p:nvSpPr>
        <p:spPr>
          <a:xfrm>
            <a:off x="6858000" y="1841500"/>
            <a:ext cx="4445000" cy="2413000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D1DE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E719D4-8A1D-8155-0600-AC5108FAE142}"/>
              </a:ext>
            </a:extLst>
          </p:cNvPr>
          <p:cNvSpPr>
            <a:spLocks noGrp="1"/>
          </p:cNvSpPr>
          <p:nvPr/>
        </p:nvSpPr>
        <p:spPr>
          <a:xfrm>
            <a:off x="7239000" y="2095499"/>
            <a:ext cx="3683000" cy="3810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官方态度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84ABC24-C327-9256-A875-C91C2C041860}"/>
              </a:ext>
            </a:extLst>
          </p:cNvPr>
          <p:cNvSpPr>
            <a:spLocks noGrp="1"/>
          </p:cNvSpPr>
          <p:nvPr/>
        </p:nvSpPr>
        <p:spPr>
          <a:xfrm>
            <a:off x="7302500" y="2730500"/>
            <a:ext cx="3556000" cy="74635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接受 / 观望 / 质疑</a:t>
            </a:r>
          </a:p>
          <a:p>
            <a:pPr algn="ctr">
              <a:buNone/>
            </a:pPr>
            <a:r>
              <a:rPr sz="145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回答：当前通告是否可信、完整并具有回应价值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E5DC19-2D2A-B8FE-FF7A-41CA49A13BDB}"/>
              </a:ext>
            </a:extLst>
          </p:cNvPr>
          <p:cNvSpPr>
            <a:spLocks noGrp="1"/>
          </p:cNvSpPr>
          <p:nvPr/>
        </p:nvSpPr>
        <p:spPr>
          <a:xfrm>
            <a:off x="5334000" y="2666999"/>
            <a:ext cx="1524000" cy="300082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4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可以同时存在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FE3C08D-5ABF-6B9B-D1BD-F5A025807126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1E63E86-A13F-4275-C094-612EC6CA3089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F6145B6-C37E-A636-98D3-49FEB11C7E07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E5D3A3-5A8E-E891-FB61-4045115EA48C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人们可能认可通告中的部分事实，却仍对事件后果感到不满。也可能情绪平静，但对通告是否完整保持怀疑。把两个问题分开，可以避免在逻辑上把接受通告直接等同于情绪改善，并为差异化判断提供基础。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903902-5F74-D821-948D-32A825DF38E7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212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机制边界：接受通告不等于情绪改善；质疑通告也不必然等于负面情绪；字段分离不保证群体一定分化。</a:t>
            </a:r>
          </a:p>
        </p:txBody>
      </p:sp>
    </p:spTree>
    <p:extLst>
      <p:ext uri="{BB962C8B-B14F-4D97-AF65-F5344CB8AC3E}">
        <p14:creationId xmlns:p14="http://schemas.microsoft.com/office/powerpoint/2010/main" val="3722366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F27C22"/>
                </a:solidFill>
                <a:latin typeface="Microsoft YaHei"/>
                <a:ea typeface="Microsoft YaHei"/>
                <a:cs typeface="Microsoft YaHei"/>
              </a:rPr>
              <a:t>第二阶段机制完善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机制8：官方通告的进场时机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3009987-0F65-4F54-A2F8-B04CAF3D4865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92EDC8-CF42-4B79-945C-66AA8CEF1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7235BF-1791-46F2-8089-EBAE89EE1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C9A99C-1680-478A-B57D-0CDB331FC58D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通告只在真实发布时间对应的轮次进入系统，首次发布和后续持续有效具有不同含义。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4053268F-3654-4B3F-8FB9-5334E7AB12F9}"/>
              </a:ext>
            </a:extLst>
          </p:cNvPr>
          <p:cNvSpPr>
            <a:spLocks noGrp="1"/>
          </p:cNvSpPr>
          <p:nvPr/>
        </p:nvSpPr>
        <p:spPr>
          <a:xfrm>
            <a:off x="1587500" y="2794000"/>
            <a:ext cx="9017000" cy="0"/>
          </a:xfrm>
          <a:prstGeom prst="line">
            <a:avLst/>
          </a:prstGeom>
          <a:ln w="25400">
            <a:solidFill>
              <a:srgbClr val="7889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8479474-7EC1-B5C6-C4DF-944A9389CF2B}"/>
              </a:ext>
            </a:extLst>
          </p:cNvPr>
          <p:cNvSpPr>
            <a:spLocks noGrp="1"/>
          </p:cNvSpPr>
          <p:nvPr/>
        </p:nvSpPr>
        <p:spPr>
          <a:xfrm>
            <a:off x="1778000" y="2438400"/>
            <a:ext cx="711200" cy="7112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DFC88E-8C88-2E78-946D-9A122ED4C5E0}"/>
              </a:ext>
            </a:extLst>
          </p:cNvPr>
          <p:cNvSpPr>
            <a:spLocks noGrp="1"/>
          </p:cNvSpPr>
          <p:nvPr/>
        </p:nvSpPr>
        <p:spPr>
          <a:xfrm>
            <a:off x="1143000" y="3454400"/>
            <a:ext cx="2032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发布前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DF36B2-24D4-7265-905C-E890ADBEFD6D}"/>
              </a:ext>
            </a:extLst>
          </p:cNvPr>
          <p:cNvSpPr>
            <a:spLocks noGrp="1"/>
          </p:cNvSpPr>
          <p:nvPr/>
        </p:nvSpPr>
        <p:spPr>
          <a:xfrm>
            <a:off x="825500" y="3962400"/>
            <a:ext cx="2667000" cy="48320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Agent看不到通告，官方态度为不适用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99DBADE-D1DA-9774-8B6D-2B4057514764}"/>
              </a:ext>
            </a:extLst>
          </p:cNvPr>
          <p:cNvSpPr>
            <a:spLocks noGrp="1"/>
          </p:cNvSpPr>
          <p:nvPr/>
        </p:nvSpPr>
        <p:spPr>
          <a:xfrm>
            <a:off x="5842000" y="2438400"/>
            <a:ext cx="711200" cy="711200"/>
          </a:xfrm>
          <a:prstGeom prst="ellipse">
            <a:avLst/>
          </a:prstGeom>
          <a:solidFill>
            <a:srgbClr val="EE7D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B6CC22-91D2-9C63-8FC1-5309C834E712}"/>
              </a:ext>
            </a:extLst>
          </p:cNvPr>
          <p:cNvSpPr>
            <a:spLocks noGrp="1"/>
          </p:cNvSpPr>
          <p:nvPr/>
        </p:nvSpPr>
        <p:spPr>
          <a:xfrm>
            <a:off x="5207000" y="3454400"/>
            <a:ext cx="2032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发布当轮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D075DE-9590-D479-7292-31C1F8A6D334}"/>
              </a:ext>
            </a:extLst>
          </p:cNvPr>
          <p:cNvSpPr>
            <a:spLocks noGrp="1"/>
          </p:cNvSpPr>
          <p:nvPr/>
        </p:nvSpPr>
        <p:spPr>
          <a:xfrm>
            <a:off x="4889500" y="3962399"/>
            <a:ext cx="2667000" cy="3937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写入通告原文并标记本轮新发布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663D950-01D9-EE41-8C76-EA7926DDF807}"/>
              </a:ext>
            </a:extLst>
          </p:cNvPr>
          <p:cNvSpPr>
            <a:spLocks noGrp="1"/>
          </p:cNvSpPr>
          <p:nvPr/>
        </p:nvSpPr>
        <p:spPr>
          <a:xfrm>
            <a:off x="9906000" y="2438400"/>
            <a:ext cx="711200" cy="711200"/>
          </a:xfrm>
          <a:prstGeom prst="ellipse">
            <a:avLst/>
          </a:prstGeom>
          <a:solidFill>
            <a:srgbClr val="2F7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>
              <a:buNone/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036E0D-024B-26A3-8B9E-E53D33F8C904}"/>
              </a:ext>
            </a:extLst>
          </p:cNvPr>
          <p:cNvSpPr>
            <a:spLocks noGrp="1"/>
          </p:cNvSpPr>
          <p:nvPr/>
        </p:nvSpPr>
        <p:spPr>
          <a:xfrm>
            <a:off x="9271000" y="3454400"/>
            <a:ext cx="2032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后续轮次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566D31-5E02-194E-9773-AC644990AE8C}"/>
              </a:ext>
            </a:extLst>
          </p:cNvPr>
          <p:cNvSpPr>
            <a:spLocks noGrp="1"/>
          </p:cNvSpPr>
          <p:nvPr/>
        </p:nvSpPr>
        <p:spPr>
          <a:xfrm>
            <a:off x="8953500" y="3962400"/>
            <a:ext cx="2667000" cy="48320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pPr algn="ctr">
              <a:buNone/>
            </a:pPr>
            <a:r>
              <a:rPr sz="132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通告继续有效，但不重复视为新刺激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EF180E9-9E4F-EF00-1F2A-235941F5C489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0CEC092-4DAF-EC18-9C53-2DF7D4D1AD44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37F0156-6E00-F5B0-1262-856E11A8939A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8178EDA-BEA2-6ECB-70C2-885D834C707A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通告首次发布时会带来新信息，之后只是持续存在。如果系统每轮都把同一份通告当作新消息，它的作用会被反复放大。区分发布当轮和后续轮次，更接近公众真实的接收过程。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49A11CA-FCAF-93BB-A360-A99213687221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通告内容进入证据环境后，Agent仍可接受、观望或质疑；系统不预设任何通告必然带来情绪改善。</a:t>
            </a:r>
          </a:p>
        </p:txBody>
      </p:sp>
    </p:spTree>
    <p:extLst>
      <p:ext uri="{BB962C8B-B14F-4D97-AF65-F5344CB8AC3E}">
        <p14:creationId xmlns:p14="http://schemas.microsoft.com/office/powerpoint/2010/main" val="2395553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3960F3-EC5E-FB32-9BC8-334B477F052A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2286000" cy="2921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50" b="1">
                <a:solidFill>
                  <a:srgbClr val="F27C22"/>
                </a:solidFill>
                <a:latin typeface="Microsoft YaHei"/>
                <a:ea typeface="Microsoft YaHei"/>
                <a:cs typeface="Microsoft YaHei"/>
              </a:rPr>
              <a:t>第二阶段机制完善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B70827-A828-0A22-7FA2-FB892CFBEFCA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699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240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机制9：历史回放的信息边界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18C65CC-A3A8-46FC-A3D9-7FDCA76930A8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A325DF-D931-4E48-870B-30A3E4966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438CCC-F8F1-4AF6-BA91-040E890DB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181AE3-36DA-B632-EF20-4CD3572700ED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9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D37FD0-FA40-41E5-0541-04F5A69B302D}"/>
              </a:ext>
            </a:extLst>
          </p:cNvPr>
          <p:cNvSpPr>
            <a:spLocks noGrp="1"/>
          </p:cNvSpPr>
          <p:nvPr/>
        </p:nvSpPr>
        <p:spPr>
          <a:xfrm>
            <a:off x="698500" y="1244599"/>
            <a:ext cx="107950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550" b="1">
                <a:solidFill>
                  <a:srgbClr val="109D94"/>
                </a:solidFill>
                <a:latin typeface="Microsoft YaHei"/>
                <a:ea typeface="Microsoft YaHei"/>
                <a:cs typeface="Microsoft YaHei"/>
              </a:rPr>
              <a:t>历史材料用于还原当时能够获得的信息，不用于向Agent泄露未来结果。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E8E5DA0-7461-5AC2-846F-15061095D840}"/>
              </a:ext>
            </a:extLst>
          </p:cNvPr>
          <p:cNvSpPr>
            <a:spLocks noGrp="1"/>
          </p:cNvSpPr>
          <p:nvPr/>
        </p:nvSpPr>
        <p:spPr>
          <a:xfrm>
            <a:off x="698500" y="1841500"/>
            <a:ext cx="76200" cy="1422400"/>
          </a:xfrm>
          <a:prstGeom prst="roundRect">
            <a:avLst/>
          </a:prstGeom>
          <a:solidFill>
            <a:srgbClr val="109D94"/>
          </a:solidFill>
          <a:ln w="12700">
            <a:solidFill>
              <a:srgbClr val="109D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EC91EB-0763-2B15-4ABD-3E362B6D08BA}"/>
              </a:ext>
            </a:extLst>
          </p:cNvPr>
          <p:cNvSpPr>
            <a:spLocks noGrp="1"/>
          </p:cNvSpPr>
          <p:nvPr/>
        </p:nvSpPr>
        <p:spPr>
          <a:xfrm>
            <a:off x="977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本轮允许进入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15AF78-A83B-2740-56F2-F587677BB175}"/>
              </a:ext>
            </a:extLst>
          </p:cNvPr>
          <p:cNvSpPr>
            <a:spLocks noGrp="1"/>
          </p:cNvSpPr>
          <p:nvPr/>
        </p:nvSpPr>
        <p:spPr>
          <a:xfrm>
            <a:off x="977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事件初始资料；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当轮已经发生的客观事实；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已经到达发布时间的官方通告；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系统此前产生的评论与状态。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459162E-1D30-3401-B238-9BF03A3446CE}"/>
              </a:ext>
            </a:extLst>
          </p:cNvPr>
          <p:cNvSpPr>
            <a:spLocks noGrp="1"/>
          </p:cNvSpPr>
          <p:nvPr/>
        </p:nvSpPr>
        <p:spPr>
          <a:xfrm>
            <a:off x="4445000" y="1841500"/>
            <a:ext cx="76200" cy="1422400"/>
          </a:xfrm>
          <a:prstGeom prst="roundRect">
            <a:avLst/>
          </a:prstGeom>
          <a:solidFill>
            <a:srgbClr val="2F70D0"/>
          </a:solidFill>
          <a:ln w="12700">
            <a:solidFill>
              <a:srgbClr val="2F70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FEAB2D-F7BE-DADE-6FC9-2CB0E9B0018B}"/>
              </a:ext>
            </a:extLst>
          </p:cNvPr>
          <p:cNvSpPr>
            <a:spLocks noGrp="1"/>
          </p:cNvSpPr>
          <p:nvPr/>
        </p:nvSpPr>
        <p:spPr>
          <a:xfrm>
            <a:off x="47244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只用于事后对照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A452AD-279B-3407-8BC1-1132B837279D}"/>
              </a:ext>
            </a:extLst>
          </p:cNvPr>
          <p:cNvSpPr>
            <a:spLocks noGrp="1"/>
          </p:cNvSpPr>
          <p:nvPr/>
        </p:nvSpPr>
        <p:spPr>
          <a:xfrm>
            <a:off x="4724400" y="2273300"/>
            <a:ext cx="3022600" cy="723275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第2轮以后的真实情绪比例；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人工收集的阶段趋势；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模拟与真实材料之间的差异。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8C36F53-0C69-B3F4-412E-BD118EF98F2C}"/>
              </a:ext>
            </a:extLst>
          </p:cNvPr>
          <p:cNvSpPr>
            <a:spLocks noGrp="1"/>
          </p:cNvSpPr>
          <p:nvPr/>
        </p:nvSpPr>
        <p:spPr>
          <a:xfrm>
            <a:off x="8191500" y="1841500"/>
            <a:ext cx="76200" cy="1422400"/>
          </a:xfrm>
          <a:prstGeom prst="roundRect">
            <a:avLst/>
          </a:prstGeom>
          <a:solidFill>
            <a:srgbClr val="D84A55"/>
          </a:solidFill>
          <a:ln w="12700">
            <a:solidFill>
              <a:srgbClr val="D84A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3AEE41D-29D9-FA94-800D-B9ABBB4BC704}"/>
              </a:ext>
            </a:extLst>
          </p:cNvPr>
          <p:cNvSpPr>
            <a:spLocks noGrp="1"/>
          </p:cNvSpPr>
          <p:nvPr/>
        </p:nvSpPr>
        <p:spPr>
          <a:xfrm>
            <a:off x="8470900" y="1841500"/>
            <a:ext cx="3022600" cy="368300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650" b="1">
                <a:solidFill>
                  <a:srgbClr val="0D3158"/>
                </a:solidFill>
                <a:latin typeface="Microsoft YaHei"/>
                <a:ea typeface="Microsoft YaHei"/>
                <a:cs typeface="Microsoft YaHei"/>
              </a:rPr>
              <a:t>当前轮禁止进入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432529-7E82-560A-6E78-7E2CB8F0A799}"/>
              </a:ext>
            </a:extLst>
          </p:cNvPr>
          <p:cNvSpPr>
            <a:spLocks noGrp="1"/>
          </p:cNvSpPr>
          <p:nvPr/>
        </p:nvSpPr>
        <p:spPr>
          <a:xfrm>
            <a:off x="8470900" y="2273300"/>
            <a:ext cx="3022600" cy="938719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未来阶段才发生的事实；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未来真实评论；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为了贴合曲线设置的群体配额；</a:t>
            </a:r>
          </a:p>
          <a:p>
            <a:r>
              <a:rPr sz="1400">
                <a:solidFill>
                  <a:srgbClr val="24374C"/>
                </a:solidFill>
                <a:latin typeface="Microsoft YaHei"/>
                <a:ea typeface="Microsoft YaHei"/>
                <a:cs typeface="Microsoft YaHei"/>
              </a:rPr>
              <a:t>根据结果强制修改Agent状态。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CB3134D-3296-7D7A-234C-08A2340CB75A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10795000" cy="1016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FF4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6393C27-20F2-F5F3-37F6-35347D465189}"/>
              </a:ext>
            </a:extLst>
          </p:cNvPr>
          <p:cNvSpPr>
            <a:spLocks noGrp="1"/>
          </p:cNvSpPr>
          <p:nvPr/>
        </p:nvSpPr>
        <p:spPr>
          <a:xfrm>
            <a:off x="698500" y="4953000"/>
            <a:ext cx="76200" cy="1016000"/>
          </a:xfrm>
          <a:prstGeom prst="roundRect">
            <a:avLst/>
          </a:prstGeom>
          <a:solidFill>
            <a:srgbClr val="EE7D27"/>
          </a:solidFill>
          <a:ln w="12700">
            <a:solidFill>
              <a:srgbClr val="EE7D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A69A48-265A-C5ED-48E6-6E97BF70233B}"/>
              </a:ext>
            </a:extLst>
          </p:cNvPr>
          <p:cNvSpPr>
            <a:spLocks noGrp="1"/>
          </p:cNvSpPr>
          <p:nvPr/>
        </p:nvSpPr>
        <p:spPr>
          <a:xfrm>
            <a:off x="1054100" y="5143500"/>
            <a:ext cx="1905000" cy="33086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50" b="1">
                <a:solidFill>
                  <a:srgbClr val="E76F22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644CBDA-3458-5E1B-3BAA-998A407F3370}"/>
              </a:ext>
            </a:extLst>
          </p:cNvPr>
          <p:cNvSpPr>
            <a:spLocks noGrp="1"/>
          </p:cNvSpPr>
          <p:nvPr/>
        </p:nvSpPr>
        <p:spPr>
          <a:xfrm>
            <a:off x="2794000" y="5041900"/>
            <a:ext cx="8445500" cy="532453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80">
                <a:solidFill>
                  <a:srgbClr val="132D47"/>
                </a:solidFill>
                <a:latin typeface="Microsoft YaHei"/>
                <a:ea typeface="Microsoft YaHei"/>
                <a:cs typeface="Microsoft YaHei"/>
              </a:rPr>
              <a:t>历史复现要还原当时的人能够知道什么，不能把后来出现的事实和真实趋势提前交给Agent。严格限制信息进入时间，才能观察系统在相同历史条件下如何自然演化，而不是照着答案复制曲线。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03B0B-28EF-269D-30FC-0EC3C04D2465}"/>
              </a:ext>
            </a:extLst>
          </p:cNvPr>
          <p:cNvSpPr>
            <a:spLocks noGrp="1"/>
          </p:cNvSpPr>
          <p:nvPr/>
        </p:nvSpPr>
        <p:spPr>
          <a:xfrm>
            <a:off x="762000" y="6045200"/>
            <a:ext cx="10668000" cy="264688"/>
          </a:xfrm>
          <a:prstGeom prst="rect">
            <a:avLst/>
          </a:prstGeom>
          <a:noFill/>
        </p:spPr>
        <p:txBody>
          <a:bodyPr vert="horz" wrap="square" lIns="76200" tIns="38100" rIns="76200" bIns="38100">
            <a:spAutoFit/>
          </a:bodyPr>
          <a:lstStyle/>
          <a:p>
            <a:r>
              <a:rPr sz="1220">
                <a:solidFill>
                  <a:srgbClr val="607489"/>
                </a:solidFill>
                <a:latin typeface="Microsoft YaHei"/>
                <a:ea typeface="Microsoft YaHei"/>
                <a:cs typeface="Microsoft YaHei"/>
              </a:rPr>
              <a:t>第一轮人工舆情比例只作为初始评论环境；后续轮次由Agent决策和传播机制自然产生。</a:t>
            </a:r>
          </a:p>
        </p:txBody>
      </p:sp>
    </p:spTree>
    <p:extLst>
      <p:ext uri="{BB962C8B-B14F-4D97-AF65-F5344CB8AC3E}">
        <p14:creationId xmlns:p14="http://schemas.microsoft.com/office/powerpoint/2010/main" val="2986912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D32E99-5F8A-B55C-8654-EB5993CB1F7E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工程实现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C0D95-B648-5007-ED8C-332C5DE1EAF0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一次实验由多个相互依赖的模块共同完成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38293F5-AA67-46CD-A6D8-C869C7BEC91A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FB7DC53-16DA-4624-9A07-877B1F1A6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2BA7045-4E48-4DD1-9253-2A803C1B9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8A5D81D4-B655-8870-5FA8-5604C9491534}"/>
              </a:ext>
            </a:extLst>
          </p:cNvPr>
          <p:cNvSpPr>
            <a:spLocks noGrp="1"/>
          </p:cNvSpPr>
          <p:nvPr/>
        </p:nvSpPr>
        <p:spPr>
          <a:xfrm>
            <a:off x="1016000" y="1333500"/>
            <a:ext cx="1905000" cy="635000"/>
          </a:xfrm>
          <a:prstGeom prst="roundRect">
            <a:avLst/>
          </a:prstGeom>
          <a:solidFill>
            <a:srgbClr val="1659B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E10E10-8B37-8D69-6DE6-60035F4825EE}"/>
              </a:ext>
            </a:extLst>
          </p:cNvPr>
          <p:cNvSpPr>
            <a:spLocks noGrp="1"/>
          </p:cNvSpPr>
          <p:nvPr/>
        </p:nvSpPr>
        <p:spPr>
          <a:xfrm>
            <a:off x="3111500" y="1333500"/>
            <a:ext cx="8064500" cy="635000"/>
          </a:xfrm>
          <a:prstGeom prst="roundRect">
            <a:avLst/>
          </a:prstGeom>
          <a:solidFill>
            <a:srgbClr val="EAF3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MongoDB原始数据、Persona与事件JSON；Excel用于离线整理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F5BC92-3B9A-3B7E-70F8-0F71F7AC2854}"/>
              </a:ext>
            </a:extLst>
          </p:cNvPr>
          <p:cNvSpPr>
            <a:spLocks noGrp="1"/>
          </p:cNvSpPr>
          <p:nvPr/>
        </p:nvSpPr>
        <p:spPr>
          <a:xfrm>
            <a:off x="1016000" y="2197100"/>
            <a:ext cx="1905000" cy="635000"/>
          </a:xfrm>
          <a:prstGeom prst="roundRect">
            <a:avLst/>
          </a:prstGeom>
          <a:solidFill>
            <a:srgbClr val="12A59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78E88C7-7881-85BA-8FF3-6DE333D90A41}"/>
              </a:ext>
            </a:extLst>
          </p:cNvPr>
          <p:cNvSpPr>
            <a:spLocks noGrp="1"/>
          </p:cNvSpPr>
          <p:nvPr/>
        </p:nvSpPr>
        <p:spPr>
          <a:xfrm>
            <a:off x="3111500" y="2197100"/>
            <a:ext cx="8064500" cy="635000"/>
          </a:xfrm>
          <a:prstGeom prst="roundRect">
            <a:avLst/>
          </a:prstGeom>
          <a:solidFill>
            <a:srgbClr val="E8F8F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评论生成、Agent决策、状态记忆和社交传播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E81BA42-B903-10A8-D3F8-A5BFB8BD6FFD}"/>
              </a:ext>
            </a:extLst>
          </p:cNvPr>
          <p:cNvSpPr>
            <a:spLocks noGrp="1"/>
          </p:cNvSpPr>
          <p:nvPr/>
        </p:nvSpPr>
        <p:spPr>
          <a:xfrm>
            <a:off x="1016000" y="3060700"/>
            <a:ext cx="1905000" cy="635000"/>
          </a:xfrm>
          <a:prstGeom prst="roundRect">
            <a:avLst/>
          </a:prstGeom>
          <a:solidFill>
            <a:srgbClr val="F28C2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2A94D99-3BE9-D15B-76AD-37B9EC2A4D32}"/>
              </a:ext>
            </a:extLst>
          </p:cNvPr>
          <p:cNvSpPr>
            <a:spLocks noGrp="1"/>
          </p:cNvSpPr>
          <p:nvPr/>
        </p:nvSpPr>
        <p:spPr>
          <a:xfrm>
            <a:off x="3111500" y="3060700"/>
            <a:ext cx="8064500" cy="6350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五策略分叉与条件化历史回放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E81E862-7321-2402-133C-BB3F5515E91C}"/>
              </a:ext>
            </a:extLst>
          </p:cNvPr>
          <p:cNvSpPr>
            <a:spLocks noGrp="1"/>
          </p:cNvSpPr>
          <p:nvPr/>
        </p:nvSpPr>
        <p:spPr>
          <a:xfrm>
            <a:off x="1016000" y="3924300"/>
            <a:ext cx="1905000" cy="635000"/>
          </a:xfrm>
          <a:prstGeom prst="roundRect">
            <a:avLst/>
          </a:prstGeom>
          <a:solidFill>
            <a:srgbClr val="D94B5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D279915-FAE0-EA82-8FD8-8351FA265A9E}"/>
              </a:ext>
            </a:extLst>
          </p:cNvPr>
          <p:cNvSpPr>
            <a:spLocks noGrp="1"/>
          </p:cNvSpPr>
          <p:nvPr/>
        </p:nvSpPr>
        <p:spPr>
          <a:xfrm>
            <a:off x="3111500" y="3924300"/>
            <a:ext cx="8064500" cy="635000"/>
          </a:xfrm>
          <a:prstGeom prst="roundRect">
            <a:avLst/>
          </a:prstGeom>
          <a:solidFill>
            <a:srgbClr val="FDECE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输入快照、JSON/JSONL过程记录和指标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69FFA1A-6EA5-6A90-8BCB-D9ADEE1E3AC5}"/>
              </a:ext>
            </a:extLst>
          </p:cNvPr>
          <p:cNvSpPr>
            <a:spLocks noGrp="1"/>
          </p:cNvSpPr>
          <p:nvPr/>
        </p:nvSpPr>
        <p:spPr>
          <a:xfrm>
            <a:off x="1016000" y="4787900"/>
            <a:ext cx="1905000" cy="635000"/>
          </a:xfrm>
          <a:prstGeom prst="roundRect">
            <a:avLst/>
          </a:prstGeom>
          <a:solidFill>
            <a:srgbClr val="7157A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04169A-4CA4-A0C7-20B4-B71E9BC2D324}"/>
              </a:ext>
            </a:extLst>
          </p:cNvPr>
          <p:cNvSpPr>
            <a:spLocks noGrp="1"/>
          </p:cNvSpPr>
          <p:nvPr/>
        </p:nvSpPr>
        <p:spPr>
          <a:xfrm>
            <a:off x="3111500" y="4787900"/>
            <a:ext cx="8064500" cy="635000"/>
          </a:xfrm>
          <a:prstGeom prst="roundRect">
            <a:avLst/>
          </a:prstGeom>
          <a:solidFill>
            <a:srgbClr val="F0ECF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r>
              <a:rPr sz="1500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历史页面、五策略页面和共享网络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CC778D-0B5D-2390-B03A-9FF5CBDF5DA4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430337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D3A6EC-9431-4682-A0EA-9C50B2975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A16422B-F8E9-4C33-AC3E-25E056333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0CFC111-F671-BDB4-6FEB-DF4B891CA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90E5179-23AA-4266-9E57-02A264E01F36}"/>
              </a:ext>
            </a:extLst>
          </p:cNvPr>
          <p:cNvSpPr>
            <a:spLocks noGrp="1"/>
          </p:cNvSpPr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52E994A-0D66-3FAB-457C-7B3FACEE9746}"/>
              </a:ext>
            </a:extLst>
          </p:cNvPr>
          <p:cNvSpPr>
            <a:spLocks noGrp="1"/>
          </p:cNvSpPr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100" b="1">
                <a:solidFill>
                  <a:srgbClr val="97CDDC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89B451F-A07A-4BF9-383F-4240CFBFBB88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E16693-AF9E-6C28-DC8F-6134E36912E1}"/>
              </a:ext>
            </a:extLst>
          </p:cNvPr>
          <p:cNvSpPr>
            <a:spLocks noGrp="1"/>
          </p:cNvSpPr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3600" b="1">
                <a:solidFill>
                  <a:srgbClr val="0C2B4C"/>
                </a:solidFill>
                <a:latin typeface="Microsoft YaHei"/>
                <a:ea typeface="Microsoft YaHei"/>
                <a:cs typeface="Microsoft YaHei"/>
              </a:rPr>
              <a:t>实验与演示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BF2CBC-C65C-8109-41F2-0FADEE699424}"/>
              </a:ext>
            </a:extLst>
          </p:cNvPr>
          <p:cNvSpPr>
            <a:spLocks noGrp="1"/>
          </p:cNvSpPr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>
                <a:solidFill>
                  <a:srgbClr val="536578"/>
                </a:solidFill>
                <a:latin typeface="Microsoft YaHei"/>
                <a:ea typeface="Microsoft YaHei"/>
                <a:cs typeface="Microsoft YaHei"/>
              </a:rPr>
              <a:t>当前实验状态、现场系统与问题暴露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35F0CD4-796F-4A66-879A-071AA779E10B}"/>
              </a:ext>
            </a:extLst>
          </p:cNvPr>
          <p:cNvSpPr>
            <a:spLocks noGrp="1"/>
          </p:cNvSpPr>
          <p:nvPr/>
        </p:nv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E04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296550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327585-1A92-DB6F-81F6-DC0482CEBB32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实验与演示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8D1AB0-2E8A-EDBB-0DE6-4C73D0839554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现场系统演示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8C5A11A-A90A-45A1-812D-3DFE0E7084E5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E90874-8C7F-45A9-A392-EEC72B757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F9935D-9CC4-46DD-BD68-DB798BF2F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DA3A5D4-8798-9E01-6AFC-2E68356C780D}"/>
              </a:ext>
            </a:extLst>
          </p:cNvPr>
          <p:cNvSpPr>
            <a:spLocks noGrp="1"/>
          </p:cNvSpPr>
          <p:nvPr/>
        </p:nvSpPr>
        <p:spPr>
          <a:xfrm>
            <a:off x="1397000" y="1460500"/>
            <a:ext cx="9398000" cy="4257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汇报时在本机打开已经完成的实验批次，不在现场调用大模型。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F8DB13C-2103-2783-1231-5C7D3816A415}"/>
              </a:ext>
            </a:extLst>
          </p:cNvPr>
          <p:cNvSpPr>
            <a:spLocks noGrp="1"/>
          </p:cNvSpPr>
          <p:nvPr/>
        </p:nvSpPr>
        <p:spPr>
          <a:xfrm>
            <a:off x="1333500" y="2667000"/>
            <a:ext cx="889000" cy="889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D5D693-560C-E4AD-E4B7-080C751FF3E9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选择实验模式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12662D74-2E5D-479E-B974-E9AA64F8A160}"/>
              </a:ext>
            </a:extLst>
          </p:cNvPr>
          <p:cNvSpPr>
            <a:spLocks noGrp="1"/>
          </p:cNvSpPr>
          <p:nvPr/>
        </p:nvSpPr>
        <p:spPr>
          <a:xfrm>
            <a:off x="22606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D1E3284-81CC-88A1-BA8C-9919CB8F7C62}"/>
              </a:ext>
            </a:extLst>
          </p:cNvPr>
          <p:cNvSpPr>
            <a:spLocks noGrp="1"/>
          </p:cNvSpPr>
          <p:nvPr/>
        </p:nvSpPr>
        <p:spPr>
          <a:xfrm>
            <a:off x="3556000" y="2667000"/>
            <a:ext cx="889000" cy="889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BC599F-E747-221F-4E8B-B80F2738CB71}"/>
              </a:ext>
            </a:extLst>
          </p:cNvPr>
          <p:cNvSpPr>
            <a:spLocks noGrp="1"/>
          </p:cNvSpPr>
          <p:nvPr/>
        </p:nvSpPr>
        <p:spPr>
          <a:xfrm>
            <a:off x="29845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查看事件时间线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21E5ECBD-67C5-4DAB-93BD-15B8D245853A}"/>
              </a:ext>
            </a:extLst>
          </p:cNvPr>
          <p:cNvSpPr>
            <a:spLocks noGrp="1"/>
          </p:cNvSpPr>
          <p:nvPr/>
        </p:nvSpPr>
        <p:spPr>
          <a:xfrm>
            <a:off x="44831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AE658DF-B2E5-FBAF-F63A-45FF250F809F}"/>
              </a:ext>
            </a:extLst>
          </p:cNvPr>
          <p:cNvSpPr>
            <a:spLocks noGrp="1"/>
          </p:cNvSpPr>
          <p:nvPr/>
        </p:nvSpPr>
        <p:spPr>
          <a:xfrm>
            <a:off x="5778500" y="2667000"/>
            <a:ext cx="889000" cy="889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556854-4F47-9025-89C7-D93000A2642F}"/>
              </a:ext>
            </a:extLst>
          </p:cNvPr>
          <p:cNvSpPr>
            <a:spLocks noGrp="1"/>
          </p:cNvSpPr>
          <p:nvPr/>
        </p:nvSpPr>
        <p:spPr>
          <a:xfrm>
            <a:off x="52070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观察情绪与官方态度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11AEF642-8CCA-4E5D-B7BC-31A2C87B3FFC}"/>
              </a:ext>
            </a:extLst>
          </p:cNvPr>
          <p:cNvSpPr>
            <a:spLocks noGrp="1"/>
          </p:cNvSpPr>
          <p:nvPr/>
        </p:nvSpPr>
        <p:spPr>
          <a:xfrm>
            <a:off x="67056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EFECDCD-C3A2-1619-D6E7-B374F3679747}"/>
              </a:ext>
            </a:extLst>
          </p:cNvPr>
          <p:cNvSpPr>
            <a:spLocks noGrp="1"/>
          </p:cNvSpPr>
          <p:nvPr/>
        </p:nvSpPr>
        <p:spPr>
          <a:xfrm>
            <a:off x="8001000" y="2667000"/>
            <a:ext cx="889000" cy="8890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B3B2C9-C07B-4467-D442-E9B77E7EEA57}"/>
              </a:ext>
            </a:extLst>
          </p:cNvPr>
          <p:cNvSpPr>
            <a:spLocks noGrp="1"/>
          </p:cNvSpPr>
          <p:nvPr/>
        </p:nvSpPr>
        <p:spPr>
          <a:xfrm>
            <a:off x="74295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播放社交网络演化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7B62741E-30E0-4BB3-92DB-EAF67EDBC8D2}"/>
              </a:ext>
            </a:extLst>
          </p:cNvPr>
          <p:cNvSpPr>
            <a:spLocks noGrp="1"/>
          </p:cNvSpPr>
          <p:nvPr/>
        </p:nvSpPr>
        <p:spPr>
          <a:xfrm>
            <a:off x="8928100" y="3111500"/>
            <a:ext cx="660400" cy="0"/>
          </a:xfrm>
          <a:prstGeom prst="line">
            <a:avLst/>
          </a:prstGeom>
          <a:ln w="27940">
            <a:solidFill>
              <a:srgbClr val="D6E2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1C6A799-51E7-A6FF-92ED-538FC1543F7B}"/>
              </a:ext>
            </a:extLst>
          </p:cNvPr>
          <p:cNvSpPr>
            <a:spLocks noGrp="1"/>
          </p:cNvSpPr>
          <p:nvPr/>
        </p:nvSpPr>
        <p:spPr>
          <a:xfrm>
            <a:off x="10223500" y="2667000"/>
            <a:ext cx="889000" cy="8890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E8663F-E245-9F87-B1E3-8BC88E56EFF7}"/>
              </a:ext>
            </a:extLst>
          </p:cNvPr>
          <p:cNvSpPr>
            <a:spLocks noGrp="1"/>
          </p:cNvSpPr>
          <p:nvPr/>
        </p:nvSpPr>
        <p:spPr>
          <a:xfrm>
            <a:off x="9652000" y="3810000"/>
            <a:ext cx="2032000" cy="33342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追踪单条评论传播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92E21E9-4DF2-2007-7213-202F4C6F42A5}"/>
              </a:ext>
            </a:extLst>
          </p:cNvPr>
          <p:cNvSpPr>
            <a:spLocks noGrp="1"/>
          </p:cNvSpPr>
          <p:nvPr/>
        </p:nvSpPr>
        <p:spPr>
          <a:xfrm>
            <a:off x="2159000" y="4953000"/>
            <a:ext cx="7874000" cy="7874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演示重点：展示一处合理变化，也展示一处偏差，说明系统如何暴露机制问题。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85D48F-9950-7F28-DCF9-96304437D107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71268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AA4CF6-BED3-0F9B-66C7-EB55DA15E813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实验与演示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8C6AE2-DFD7-958D-C8B6-7E3D3E70DB14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三组30名Agent历史批次已经运行完成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8921FCA-1CDE-429C-928B-62B2345F4537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42C984-F063-4529-A2A7-0DC6255B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62AEE8A-0E72-4926-AEE5-92B103AE2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32E290C-BA21-4C06-92FE-CA4A1A78335B}"/>
              </a:ext>
            </a:extLst>
          </p:cNvPr>
          <p:cNvGraphicFramePr/>
          <p:nvPr/>
        </p:nvGraphicFramePr>
        <p:xfrm>
          <a:off x="825500" y="1714500"/>
          <a:ext cx="10541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官方信息投入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Agent数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</a:t>
                      </a:r>
                    </a:p>
                  </a:txBody>
                  <a:tcPr marL="88900" marR="88900" marT="50800" marB="50800" anchor="ctr">
                    <a:solidFill>
                      <a:srgbClr val="1659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胡某宇事件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3次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流程完成，官方态度仍趋同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保定驾校撞车事件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1次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流程完成，趋势仍需分析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北国先天下撞车事件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1次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流程完成，三阶段版本待分析</a:t>
                      </a:r>
                    </a:p>
                  </a:txBody>
                  <a:tcPr marL="88900" marR="88900" marT="50800" marB="50800" anchor="ctr"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A2B18B-C25A-8D07-5AAF-B7AACEEEDFC5}"/>
              </a:ext>
            </a:extLst>
          </p:cNvPr>
          <p:cNvSpPr>
            <a:spLocks noGrp="1"/>
          </p:cNvSpPr>
          <p:nvPr/>
        </p:nvSpPr>
        <p:spPr>
          <a:xfrm>
            <a:off x="1206500" y="4851400"/>
            <a:ext cx="9779000" cy="825500"/>
          </a:xfrm>
          <a:prstGeom prst="roundRect">
            <a:avLst/>
          </a:prstGeom>
          <a:solidFill>
            <a:srgbClr val="FFF3E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18324F"/>
                </a:solidFill>
                <a:latin typeface="Microsoft YaHei"/>
                <a:ea typeface="Microsoft YaHei"/>
                <a:cs typeface="Microsoft YaHei"/>
              </a:rPr>
              <a:t>这里的“完成”表示程序和数据链路完整，不表示已经准确拟合真实公众。30名Agent完整五策略实验仍未全面验收。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E2CE80-7A74-F1CD-EB74-3FF22997DDB2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8233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B36F00-F0BE-3155-0A91-D4FAC2268FCD}"/>
              </a:ext>
            </a:extLst>
          </p:cNvPr>
          <p:cNvSpPr>
            <a:spLocks noGrp="1"/>
          </p:cNvSpPr>
          <p:nvPr/>
        </p:nvSpPr>
        <p:spPr>
          <a:xfrm>
            <a:off x="393700" y="254000"/>
            <a:ext cx="1905000" cy="271869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100" b="1">
                <a:solidFill>
                  <a:srgbClr val="12A594"/>
                </a:solidFill>
                <a:latin typeface="Microsoft YaHei"/>
                <a:ea typeface="Microsoft YaHei"/>
                <a:cs typeface="Microsoft YaHei"/>
              </a:rPr>
              <a:t>当前困难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F55705-5023-2323-30AE-AA1DD496C1EC}"/>
              </a:ext>
            </a:extLst>
          </p:cNvPr>
          <p:cNvSpPr>
            <a:spLocks noGrp="1"/>
          </p:cNvSpPr>
          <p:nvPr/>
        </p:nvSpPr>
        <p:spPr>
          <a:xfrm>
            <a:off x="393700" y="482600"/>
            <a:ext cx="9334500" cy="456535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3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流程已经闭环，稳定性和代表性仍是主要挑战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FB0BC24-88CD-4026-892B-06FDE378DDE4}"/>
              </a:ext>
            </a:extLst>
          </p:cNvPr>
          <p:cNvSpPr>
            <a:spLocks noGrp="1"/>
          </p:cNvSpPr>
          <p:nvPr/>
        </p:nvSpPr>
        <p:spPr>
          <a:xfrm>
            <a:off x="393700" y="1066800"/>
            <a:ext cx="11391900" cy="0"/>
          </a:xfrm>
          <a:prstGeom prst="line">
            <a:avLst/>
          </a:prstGeom>
          <a:ln w="12700">
            <a:solidFill>
              <a:srgbClr val="D6E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61CA80-02CD-4F71-8D64-6360C530A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B645A0-4FFB-454C-BA19-C3D360BC7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47CDCFC-0198-D836-176C-4763FA07845F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2603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762E249-A7CE-DF4E-6D77-AD460F9AA483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457200" cy="457200"/>
          </a:xfrm>
          <a:prstGeom prst="ellipse">
            <a:avLst/>
          </a:prstGeom>
          <a:solidFill>
            <a:srgbClr val="1659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83E0E0-0439-D928-12C5-A2090C804463}"/>
              </a:ext>
            </a:extLst>
          </p:cNvPr>
          <p:cNvSpPr>
            <a:spLocks noGrp="1"/>
          </p:cNvSpPr>
          <p:nvPr/>
        </p:nvSpPr>
        <p:spPr>
          <a:xfrm>
            <a:off x="1397000" y="1727200"/>
            <a:ext cx="15621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真实数据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EC9761-4DEA-BAB6-D249-284D39D27D91}"/>
              </a:ext>
            </a:extLst>
          </p:cNvPr>
          <p:cNvSpPr>
            <a:spLocks noGrp="1"/>
          </p:cNvSpPr>
          <p:nvPr/>
        </p:nvSpPr>
        <p:spPr>
          <a:xfrm>
            <a:off x="825500" y="2286000"/>
            <a:ext cx="2095500" cy="110286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平台样本存在偏差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部分阶段评论过少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不同来源口径不一致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DB2E434-DEB7-B658-66D5-0E1914BD4FC0}"/>
              </a:ext>
            </a:extLst>
          </p:cNvPr>
          <p:cNvSpPr>
            <a:spLocks noGrp="1"/>
          </p:cNvSpPr>
          <p:nvPr/>
        </p:nvSpPr>
        <p:spPr>
          <a:xfrm>
            <a:off x="3429000" y="1524000"/>
            <a:ext cx="2603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9BBC691-F170-21E0-95C0-C9436F267281}"/>
              </a:ext>
            </a:extLst>
          </p:cNvPr>
          <p:cNvSpPr>
            <a:spLocks noGrp="1"/>
          </p:cNvSpPr>
          <p:nvPr/>
        </p:nvSpPr>
        <p:spPr>
          <a:xfrm>
            <a:off x="3657600" y="1752600"/>
            <a:ext cx="457200" cy="457200"/>
          </a:xfrm>
          <a:prstGeom prst="ellipse">
            <a:avLst/>
          </a:prstGeom>
          <a:solidFill>
            <a:srgbClr val="12A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F3E95D-E813-7814-5076-A44BF3951C10}"/>
              </a:ext>
            </a:extLst>
          </p:cNvPr>
          <p:cNvSpPr>
            <a:spLocks noGrp="1"/>
          </p:cNvSpPr>
          <p:nvPr/>
        </p:nvSpPr>
        <p:spPr>
          <a:xfrm>
            <a:off x="4254500" y="1727200"/>
            <a:ext cx="15621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群体机制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BFCDE6-0173-EEF8-128F-76D232B4594C}"/>
              </a:ext>
            </a:extLst>
          </p:cNvPr>
          <p:cNvSpPr>
            <a:spLocks noGrp="1"/>
          </p:cNvSpPr>
          <p:nvPr/>
        </p:nvSpPr>
        <p:spPr>
          <a:xfrm>
            <a:off x="3683000" y="2286000"/>
            <a:ext cx="2095500" cy="1302921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Agent可能过度趋同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Persona可能被共同信息覆盖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网络强度仍需校准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D25DD7A-E466-7922-BFB5-D27D1236E13E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2603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90B776E-6783-51DD-9ACD-0906EECBDD99}"/>
              </a:ext>
            </a:extLst>
          </p:cNvPr>
          <p:cNvSpPr>
            <a:spLocks noGrp="1"/>
          </p:cNvSpPr>
          <p:nvPr/>
        </p:nvSpPr>
        <p:spPr>
          <a:xfrm>
            <a:off x="6515100" y="17526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E67708-B880-1C96-BA2C-8A9EB1030AB3}"/>
              </a:ext>
            </a:extLst>
          </p:cNvPr>
          <p:cNvSpPr>
            <a:spLocks noGrp="1"/>
          </p:cNvSpPr>
          <p:nvPr/>
        </p:nvSpPr>
        <p:spPr>
          <a:xfrm>
            <a:off x="7112000" y="1727200"/>
            <a:ext cx="15621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运行工程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1615D9-0CCD-1AC1-A00C-DC1BA16CA031}"/>
              </a:ext>
            </a:extLst>
          </p:cNvPr>
          <p:cNvSpPr>
            <a:spLocks noGrp="1"/>
          </p:cNvSpPr>
          <p:nvPr/>
        </p:nvSpPr>
        <p:spPr>
          <a:xfrm>
            <a:off x="6540500" y="2286000"/>
            <a:ext cx="2095500" cy="110286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大模型调用成本较高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长流程受网络和API影响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五策略仍串行执行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73E6E71-C359-3318-4E7F-6658CCB64BCB}"/>
              </a:ext>
            </a:extLst>
          </p:cNvPr>
          <p:cNvSpPr>
            <a:spLocks noGrp="1"/>
          </p:cNvSpPr>
          <p:nvPr/>
        </p:nvSpPr>
        <p:spPr>
          <a:xfrm>
            <a:off x="9144000" y="1524000"/>
            <a:ext cx="2476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endParaRPr sz="1700">
              <a:solidFill>
                <a:srgbClr val="18324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09836D0-82F0-8075-0FE8-1D49F60CFDAE}"/>
              </a:ext>
            </a:extLst>
          </p:cNvPr>
          <p:cNvSpPr>
            <a:spLocks noGrp="1"/>
          </p:cNvSpPr>
          <p:nvPr/>
        </p:nvSpPr>
        <p:spPr>
          <a:xfrm>
            <a:off x="9372600" y="1752600"/>
            <a:ext cx="457200" cy="457200"/>
          </a:xfrm>
          <a:prstGeom prst="ellipse">
            <a:avLst/>
          </a:prstGeom>
          <a:solidFill>
            <a:srgbClr val="D94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6CB9CF-2CC3-2165-79A5-8B46556A27BF}"/>
              </a:ext>
            </a:extLst>
          </p:cNvPr>
          <p:cNvSpPr>
            <a:spLocks noGrp="1"/>
          </p:cNvSpPr>
          <p:nvPr/>
        </p:nvSpPr>
        <p:spPr>
          <a:xfrm>
            <a:off x="9969500" y="1727200"/>
            <a:ext cx="1435100" cy="364202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700" b="1">
                <a:solidFill>
                  <a:srgbClr val="0B315F"/>
                </a:solidFill>
                <a:latin typeface="Microsoft YaHei"/>
                <a:ea typeface="Microsoft YaHei"/>
                <a:cs typeface="Microsoft YaHei"/>
              </a:rPr>
              <a:t>结果评价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4B3014C-D374-DC94-D0EB-18D9374808AD}"/>
              </a:ext>
            </a:extLst>
          </p:cNvPr>
          <p:cNvSpPr>
            <a:spLocks noGrp="1"/>
          </p:cNvSpPr>
          <p:nvPr/>
        </p:nvSpPr>
        <p:spPr>
          <a:xfrm>
            <a:off x="9398000" y="2286000"/>
            <a:ext cx="1968500" cy="1302921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曲线接近不等于机制正确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需要多批次报告波动</a:t>
            </a:r>
          </a:p>
          <a:p>
            <a:endParaRPr sz="1300">
              <a:solidFill>
                <a:srgbClr val="60758F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sz="1300">
                <a:solidFill>
                  <a:srgbClr val="60758F"/>
                </a:solidFill>
                <a:latin typeface="Microsoft YaHei"/>
                <a:ea typeface="Microsoft YaHei"/>
                <a:cs typeface="Microsoft YaHei"/>
              </a:rPr>
              <a:t>缺少跨事件统一标准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D11FD-1D65-48DC-D9E0-9A05511847C9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21673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7DD358B-49DB-44FB-8E0C-8F8387E85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C5D062-3202-4BE2-B94C-2F0AF7666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2E2D8B2-ECD2-84B0-C52C-29D6579884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08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44A87C5-BBAF-4A14-A26E-5A3FD1FD45A1}"/>
              </a:ext>
            </a:extLst>
          </p:cNvPr>
          <p:cNvSpPr>
            <a:spLocks noGrp="1"/>
          </p:cNvSpPr>
          <p:nvPr/>
        </p:nvSpPr>
        <p:spPr>
          <a:xfrm>
            <a:off x="6604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EAE98A0-6516-265A-0D7A-E18D446F2DED}"/>
              </a:ext>
            </a:extLst>
          </p:cNvPr>
          <p:cNvSpPr>
            <a:spLocks noGrp="1"/>
          </p:cNvSpPr>
          <p:nvPr/>
        </p:nvSpPr>
        <p:spPr>
          <a:xfrm>
            <a:off x="723900" y="3035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100" b="1">
                <a:solidFill>
                  <a:srgbClr val="97CDDC"/>
                </a:solidFill>
                <a:latin typeface="Microsoft YaHei"/>
                <a:ea typeface="Microsoft YaHei"/>
                <a:cs typeface="Microsoft YaHei"/>
              </a:rPr>
              <a:t>SECTION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F8330D-FDC1-D9ED-61B0-532511D7C0B1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76200" tIns="38100" rIns="76200" bIns="38100" anchor="ctr">
            <a:noAutofit/>
          </a:bodyPr>
          <a:lstStyle/>
          <a:p>
            <a:pPr algn="ctr">
              <a:buNone/>
            </a:pPr>
            <a:r>
              <a:rPr sz="800">
                <a:solidFill>
                  <a:srgbClr val="78899A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8CC884-7EDE-4F85-FD5F-57B8A19D3D0B}"/>
              </a:ext>
            </a:extLst>
          </p:cNvPr>
          <p:cNvSpPr>
            <a:spLocks noGrp="1"/>
          </p:cNvSpPr>
          <p:nvPr/>
        </p:nvSpPr>
        <p:spPr>
          <a:xfrm>
            <a:off x="4356100" y="1968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3600" b="1">
                <a:solidFill>
                  <a:srgbClr val="0C2B4C"/>
                </a:solidFill>
                <a:latin typeface="Microsoft YaHei"/>
                <a:ea typeface="Microsoft YaHei"/>
                <a:cs typeface="Microsoft YaHei"/>
              </a:rPr>
              <a:t>后续工作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C906CA-30A0-F954-1E2F-03AD98B533B9}"/>
              </a:ext>
            </a:extLst>
          </p:cNvPr>
          <p:cNvSpPr>
            <a:spLocks noGrp="1"/>
          </p:cNvSpPr>
          <p:nvPr/>
        </p:nvSpPr>
        <p:spPr>
          <a:xfrm>
            <a:off x="4356100" y="309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>
                <a:solidFill>
                  <a:srgbClr val="536578"/>
                </a:solidFill>
                <a:latin typeface="Microsoft YaHei"/>
                <a:ea typeface="Microsoft YaHei"/>
                <a:cs typeface="Microsoft YaHei"/>
              </a:rPr>
              <a:t>稳定性验证、案例扩展与平台工程化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002B6C3-1700-45B6-BDDC-0F80C124D51E}"/>
              </a:ext>
            </a:extLst>
          </p:cNvPr>
          <p:cNvSpPr>
            <a:spLocks noGrp="1"/>
          </p:cNvSpPr>
          <p:nvPr/>
        </p:nvSpPr>
        <p:spPr>
          <a:xfrm>
            <a:off x="4356100" y="4013200"/>
            <a:ext cx="6692900" cy="0"/>
          </a:xfrm>
          <a:prstGeom prst="line">
            <a:avLst/>
          </a:prstGeom>
          <a:ln w="50800">
            <a:solidFill>
              <a:srgbClr val="6F58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8343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1E05542-36C7-409C-8EB6-62043A851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00" y="241300"/>
            <a:ext cx="495300" cy="495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A701283-E2D9-4103-9D3E-FB005F397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342900"/>
            <a:ext cx="1143000" cy="431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3886ED3-9D41-72EF-14F6-05233551A445}"/>
              </a:ext>
            </a:extLst>
          </p:cNvPr>
          <p:cNvSpPr>
            <a:spLocks noGrp="1"/>
          </p:cNvSpPr>
          <p:nvPr/>
        </p:nvSpPr>
        <p:spPr>
          <a:xfrm>
            <a:off x="482600" y="292099"/>
            <a:ext cx="4064000" cy="304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后续工作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361D46-D062-115D-05E8-2639A2501F79}"/>
              </a:ext>
            </a:extLst>
          </p:cNvPr>
          <p:cNvSpPr>
            <a:spLocks noGrp="1"/>
          </p:cNvSpPr>
          <p:nvPr/>
        </p:nvSpPr>
        <p:spPr>
          <a:xfrm>
            <a:off x="482600" y="546099"/>
            <a:ext cx="8890000" cy="5461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后续工作：五条主线同步推进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11862334-8024-4B73-9A17-905738F50610}"/>
              </a:ext>
            </a:extLst>
          </p:cNvPr>
          <p:cNvSpPr>
            <a:spLocks noGrp="1"/>
          </p:cNvSpPr>
          <p:nvPr/>
        </p:nvSpPr>
        <p:spPr>
          <a:xfrm>
            <a:off x="406400" y="1066800"/>
            <a:ext cx="11379200" cy="0"/>
          </a:xfrm>
          <a:prstGeom prst="line">
            <a:avLst/>
          </a:prstGeom>
          <a:ln w="12700">
            <a:solidFill>
              <a:srgbClr val="5B7C99">
                <a:alpha val="85000"/>
              </a:srgb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68E098F-03B1-6CF4-C6F8-C1F560B4F991}"/>
              </a:ext>
            </a:extLst>
          </p:cNvPr>
          <p:cNvSpPr>
            <a:spLocks noGrp="1"/>
          </p:cNvSpPr>
          <p:nvPr/>
        </p:nvSpPr>
        <p:spPr>
          <a:xfrm>
            <a:off x="11620500" y="65532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CADAE9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46E69A-061A-FF57-6736-39889DDEE7F5}"/>
              </a:ext>
            </a:extLst>
          </p:cNvPr>
          <p:cNvSpPr>
            <a:spLocks noGrp="1"/>
          </p:cNvSpPr>
          <p:nvPr/>
        </p:nvSpPr>
        <p:spPr>
          <a:xfrm>
            <a:off x="698500" y="1498600"/>
            <a:ext cx="2984500" cy="4445000"/>
          </a:xfrm>
          <a:prstGeom prst="roundRect">
            <a:avLst/>
          </a:prstGeom>
          <a:solidFill>
            <a:srgbClr val="12375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6F3D96-D622-7C96-E78D-74DB40087172}"/>
              </a:ext>
            </a:extLst>
          </p:cNvPr>
          <p:cNvSpPr>
            <a:spLocks noGrp="1"/>
          </p:cNvSpPr>
          <p:nvPr/>
        </p:nvSpPr>
        <p:spPr>
          <a:xfrm>
            <a:off x="990600" y="1854199"/>
            <a:ext cx="2349500" cy="355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60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F9655B8-5571-D654-06DF-8210B89CDD9A}"/>
              </a:ext>
            </a:extLst>
          </p:cNvPr>
          <p:cNvSpPr>
            <a:spLocks noGrp="1"/>
          </p:cNvSpPr>
          <p:nvPr/>
        </p:nvSpPr>
        <p:spPr>
          <a:xfrm>
            <a:off x="927100" y="2349500"/>
            <a:ext cx="2540000" cy="1841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从“功能可用”</a:t>
            </a:r>
          </a:p>
          <a:p>
            <a:r>
              <a:rPr sz="2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走向“稳定、</a:t>
            </a:r>
          </a:p>
          <a:p>
            <a:r>
              <a:rPr sz="2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可评估、可扩展”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B4E2741-A613-74BA-18ED-E631F447FD31}"/>
              </a:ext>
            </a:extLst>
          </p:cNvPr>
          <p:cNvSpPr>
            <a:spLocks noGrp="1"/>
          </p:cNvSpPr>
          <p:nvPr/>
        </p:nvSpPr>
        <p:spPr>
          <a:xfrm>
            <a:off x="990600" y="4216400"/>
            <a:ext cx="2286000" cy="1117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400">
                <a:solidFill>
                  <a:srgbClr val="CADAE9"/>
                </a:solidFill>
                <a:latin typeface="Microsoft YaHei"/>
                <a:ea typeface="Microsoft YaHei"/>
                <a:cs typeface="Microsoft YaHei"/>
              </a:rPr>
              <a:t>五条主线彼此牵制。数据变化会影响Persona，机制调整会改变评价结果，规模扩大又会增加运行成本。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DFF296-39CA-6974-30FB-BE1D0303A328}"/>
              </a:ext>
            </a:extLst>
          </p:cNvPr>
          <p:cNvSpPr>
            <a:spLocks noGrp="1"/>
          </p:cNvSpPr>
          <p:nvPr/>
        </p:nvSpPr>
        <p:spPr>
          <a:xfrm>
            <a:off x="990600" y="5486399"/>
            <a:ext cx="2286000" cy="3429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45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重点：持续验证整体行为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F323446-A729-AE4A-D001-F9142170F53E}"/>
              </a:ext>
            </a:extLst>
          </p:cNvPr>
          <p:cNvSpPr>
            <a:spLocks noGrp="1"/>
          </p:cNvSpPr>
          <p:nvPr/>
        </p:nvSpPr>
        <p:spPr>
          <a:xfrm>
            <a:off x="4191000" y="16256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80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748AD5-EAFF-6453-46F9-643F6B3C4299}"/>
              </a:ext>
            </a:extLst>
          </p:cNvPr>
          <p:cNvSpPr>
            <a:spLocks noGrp="1"/>
          </p:cNvSpPr>
          <p:nvPr/>
        </p:nvSpPr>
        <p:spPr>
          <a:xfrm>
            <a:off x="4737100" y="16891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EA5A0E9-37C6-EA17-AEAD-A61F7C69E375}"/>
              </a:ext>
            </a:extLst>
          </p:cNvPr>
          <p:cNvSpPr>
            <a:spLocks noGrp="1"/>
          </p:cNvSpPr>
          <p:nvPr/>
        </p:nvSpPr>
        <p:spPr>
          <a:xfrm>
            <a:off x="4737100" y="18541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数据与Persona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BB0518B-5EFB-56F0-0F54-4D03B99F5E3B}"/>
              </a:ext>
            </a:extLst>
          </p:cNvPr>
          <p:cNvSpPr>
            <a:spLocks noGrp="1"/>
          </p:cNvSpPr>
          <p:nvPr/>
        </p:nvSpPr>
        <p:spPr>
          <a:xfrm>
            <a:off x="4737100" y="22606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20">
                <a:solidFill>
                  <a:srgbClr val="CADAE9"/>
                </a:solidFill>
                <a:latin typeface="Microsoft YaHei"/>
                <a:ea typeface="Microsoft YaHei"/>
                <a:cs typeface="Microsoft YaHei"/>
              </a:rPr>
              <a:t>提高有效样本质量，继续校准Persona的代表性。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FE29885-417E-9908-C6A4-7B4124E040BA}"/>
              </a:ext>
            </a:extLst>
          </p:cNvPr>
          <p:cNvSpPr>
            <a:spLocks noGrp="1"/>
          </p:cNvSpPr>
          <p:nvPr/>
        </p:nvSpPr>
        <p:spPr>
          <a:xfrm>
            <a:off x="7874000" y="16256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80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4C6A6DA-F18E-E9B1-B23A-5A78985C9FF8}"/>
              </a:ext>
            </a:extLst>
          </p:cNvPr>
          <p:cNvSpPr>
            <a:spLocks noGrp="1"/>
          </p:cNvSpPr>
          <p:nvPr/>
        </p:nvSpPr>
        <p:spPr>
          <a:xfrm>
            <a:off x="8420100" y="16891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FD5FAFF-CBC7-E25B-9E91-AC5077C2E947}"/>
              </a:ext>
            </a:extLst>
          </p:cNvPr>
          <p:cNvSpPr>
            <a:spLocks noGrp="1"/>
          </p:cNvSpPr>
          <p:nvPr/>
        </p:nvSpPr>
        <p:spPr>
          <a:xfrm>
            <a:off x="8420100" y="18541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行为与传播机制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AD549D-8450-3626-6E28-2EC33CDCADC9}"/>
              </a:ext>
            </a:extLst>
          </p:cNvPr>
          <p:cNvSpPr>
            <a:spLocks noGrp="1"/>
          </p:cNvSpPr>
          <p:nvPr/>
        </p:nvSpPr>
        <p:spPr>
          <a:xfrm>
            <a:off x="8420100" y="22606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20">
                <a:solidFill>
                  <a:srgbClr val="CADAE9"/>
                </a:solidFill>
                <a:latin typeface="Microsoft YaHei"/>
                <a:ea typeface="Microsoft YaHei"/>
                <a:cs typeface="Microsoft YaHei"/>
              </a:rPr>
              <a:t>平衡个体差异、群体影响和社交网络强度。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F3A150A-58D2-4A49-2ABF-BAB356A7EFEB}"/>
              </a:ext>
            </a:extLst>
          </p:cNvPr>
          <p:cNvSpPr>
            <a:spLocks noGrp="1"/>
          </p:cNvSpPr>
          <p:nvPr/>
        </p:nvSpPr>
        <p:spPr>
          <a:xfrm>
            <a:off x="4191000" y="33909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80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6BB728-371F-CBF9-AB02-11D8B44FC5FB}"/>
              </a:ext>
            </a:extLst>
          </p:cNvPr>
          <p:cNvSpPr>
            <a:spLocks noGrp="1"/>
          </p:cNvSpPr>
          <p:nvPr/>
        </p:nvSpPr>
        <p:spPr>
          <a:xfrm>
            <a:off x="4737100" y="34544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F8FD9A9-F866-84A4-3D42-349EA10A0CF0}"/>
              </a:ext>
            </a:extLst>
          </p:cNvPr>
          <p:cNvSpPr>
            <a:spLocks noGrp="1"/>
          </p:cNvSpPr>
          <p:nvPr/>
        </p:nvSpPr>
        <p:spPr>
          <a:xfrm>
            <a:off x="4737100" y="36194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事件与评价体系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CD6B9B5-0CA6-D797-9E49-8D7F1C4AE934}"/>
              </a:ext>
            </a:extLst>
          </p:cNvPr>
          <p:cNvSpPr>
            <a:spLocks noGrp="1"/>
          </p:cNvSpPr>
          <p:nvPr/>
        </p:nvSpPr>
        <p:spPr>
          <a:xfrm>
            <a:off x="4737100" y="40259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20">
                <a:solidFill>
                  <a:srgbClr val="CADAE9"/>
                </a:solidFill>
                <a:latin typeface="Microsoft YaHei"/>
                <a:ea typeface="Microsoft YaHei"/>
                <a:cs typeface="Microsoft YaHei"/>
              </a:rPr>
              <a:t>扩展典型案例，形成可跨事件比较的评价口径。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9E8DCCB-724E-D00A-D35B-A2D14A7E8799}"/>
              </a:ext>
            </a:extLst>
          </p:cNvPr>
          <p:cNvSpPr>
            <a:spLocks noGrp="1"/>
          </p:cNvSpPr>
          <p:nvPr/>
        </p:nvSpPr>
        <p:spPr>
          <a:xfrm>
            <a:off x="7874000" y="33909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80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D77216B-02D3-FDAC-405F-CC0A0E6558BF}"/>
              </a:ext>
            </a:extLst>
          </p:cNvPr>
          <p:cNvSpPr>
            <a:spLocks noGrp="1"/>
          </p:cNvSpPr>
          <p:nvPr/>
        </p:nvSpPr>
        <p:spPr>
          <a:xfrm>
            <a:off x="8420100" y="3454400"/>
            <a:ext cx="2755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5C1064-7C78-0F3A-7027-27962693ED7C}"/>
              </a:ext>
            </a:extLst>
          </p:cNvPr>
          <p:cNvSpPr>
            <a:spLocks noGrp="1"/>
          </p:cNvSpPr>
          <p:nvPr/>
        </p:nvSpPr>
        <p:spPr>
          <a:xfrm>
            <a:off x="8420100" y="3619499"/>
            <a:ext cx="2755900" cy="406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稳定性与成本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4FE2EC0-4FF6-9463-F603-0628D750DE17}"/>
              </a:ext>
            </a:extLst>
          </p:cNvPr>
          <p:cNvSpPr>
            <a:spLocks noGrp="1"/>
          </p:cNvSpPr>
          <p:nvPr/>
        </p:nvSpPr>
        <p:spPr>
          <a:xfrm>
            <a:off x="8420100" y="4025900"/>
            <a:ext cx="2755900" cy="609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20">
                <a:solidFill>
                  <a:srgbClr val="CADAE9"/>
                </a:solidFill>
                <a:latin typeface="Microsoft YaHei"/>
                <a:ea typeface="Microsoft YaHei"/>
                <a:cs typeface="Microsoft YaHei"/>
              </a:rPr>
              <a:t>支持长流程和更大规模运行，控制模型调用成本。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7D5F1B-ED49-C912-5123-40FEF2D386E3}"/>
              </a:ext>
            </a:extLst>
          </p:cNvPr>
          <p:cNvSpPr>
            <a:spLocks noGrp="1"/>
          </p:cNvSpPr>
          <p:nvPr/>
        </p:nvSpPr>
        <p:spPr>
          <a:xfrm>
            <a:off x="4191000" y="5156200"/>
            <a:ext cx="4318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2800" b="1">
                <a:solidFill>
                  <a:srgbClr val="D7B56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606BE0-86C1-EBD5-F393-EFF906088A62}"/>
              </a:ext>
            </a:extLst>
          </p:cNvPr>
          <p:cNvSpPr>
            <a:spLocks noGrp="1"/>
          </p:cNvSpPr>
          <p:nvPr/>
        </p:nvSpPr>
        <p:spPr>
          <a:xfrm>
            <a:off x="4737100" y="5219700"/>
            <a:ext cx="6819900" cy="25400"/>
          </a:xfrm>
          <a:prstGeom prst="rect">
            <a:avLst/>
          </a:prstGeom>
          <a:solidFill>
            <a:srgbClr val="D7B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13A042D-FB61-DE25-60B5-E9B276F60D60}"/>
              </a:ext>
            </a:extLst>
          </p:cNvPr>
          <p:cNvSpPr>
            <a:spLocks noGrp="1"/>
          </p:cNvSpPr>
          <p:nvPr/>
        </p:nvSpPr>
        <p:spPr>
          <a:xfrm>
            <a:off x="4737100" y="5384799"/>
            <a:ext cx="6819900" cy="406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平台与安全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FBD01C5-D836-D538-C260-78A77690D2D0}"/>
              </a:ext>
            </a:extLst>
          </p:cNvPr>
          <p:cNvSpPr>
            <a:spLocks noGrp="1"/>
          </p:cNvSpPr>
          <p:nvPr/>
        </p:nvSpPr>
        <p:spPr>
          <a:xfrm>
            <a:off x="4737100" y="5791200"/>
            <a:ext cx="6819900" cy="609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20">
                <a:solidFill>
                  <a:srgbClr val="CADAE9"/>
                </a:solidFill>
                <a:latin typeface="Microsoft YaHei"/>
                <a:ea typeface="Microsoft YaHei"/>
                <a:cs typeface="Microsoft YaHei"/>
              </a:rPr>
              <a:t>完善服务化、运行监控、权限控制和密钥管理。</a:t>
            </a:r>
          </a:p>
        </p:txBody>
      </p:sp>
    </p:spTree>
    <p:extLst>
      <p:ext uri="{BB962C8B-B14F-4D97-AF65-F5344CB8AC3E}">
        <p14:creationId xmlns:p14="http://schemas.microsoft.com/office/powerpoint/2010/main" val="2504447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>
            <a:extLst>
              <a:ext uri="{FF2B5EF4-FFF2-40B4-BE49-F238E27FC236}">
                <a16:creationId xmlns:a16="http://schemas.microsoft.com/office/drawing/2014/main" id="{F29FB816-2EAC-4513-A416-2813CC746B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8497DB46-38CB-4BDC-8905-797373C5FD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>
            <a:extLst>
              <a:ext uri="{FF2B5EF4-FFF2-40B4-BE49-F238E27FC236}">
                <a16:creationId xmlns:a16="http://schemas.microsoft.com/office/drawing/2014/main" id="{6EFFC030-0D61-47CA-A75C-EEE22E42CA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PA-矩形 7">
            <a:extLst>
              <a:ext uri="{FF2B5EF4-FFF2-40B4-BE49-F238E27FC236}">
                <a16:creationId xmlns:a16="http://schemas.microsoft.com/office/drawing/2014/main" id="{EBC57783-BB2E-4838-9C34-57CA57EFC1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任意多边形: 形状 101">
            <a:extLst>
              <a:ext uri="{FF2B5EF4-FFF2-40B4-BE49-F238E27FC236}">
                <a16:creationId xmlns:a16="http://schemas.microsoft.com/office/drawing/2014/main" id="{8DFD0F9E-4CFF-4D24-AC54-128611F95756}"/>
              </a:ext>
            </a:extLst>
          </p:cNvPr>
          <p:cNvSpPr>
            <a:spLocks noGrp="1"/>
          </p:cNvSpPr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/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任意多边形: 形状 83">
            <a:extLst>
              <a:ext uri="{FF2B5EF4-FFF2-40B4-BE49-F238E27FC236}">
                <a16:creationId xmlns:a16="http://schemas.microsoft.com/office/drawing/2014/main" id="{7B62F54A-FF34-497A-89AF-A7C211828B01}"/>
              </a:ext>
            </a:extLst>
          </p:cNvPr>
          <p:cNvSpPr>
            <a:spLocks noGrp="1"/>
          </p:cNvSpPr>
          <p:nvPr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/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noFill/>
            <a:prstDash val="solid"/>
            <a:miter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任意多边形: 形状 62">
            <a:extLst>
              <a:ext uri="{FF2B5EF4-FFF2-40B4-BE49-F238E27FC236}">
                <a16:creationId xmlns:a16="http://schemas.microsoft.com/office/drawing/2014/main" id="{8AA9E708-49C0-4982-8910-008FCF63B3C9}"/>
              </a:ext>
            </a:extLst>
          </p:cNvPr>
          <p:cNvSpPr>
            <a:spLocks noGrp="1"/>
          </p:cNvSpPr>
          <p:nvPr/>
        </p:nvSpPr>
        <p:spPr>
          <a:xfrm>
            <a:off x="0" y="2989267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/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>
            <a:solidFill>
              <a:srgbClr val="FFFFFF"/>
            </a:solidFill>
            <a:prstDash val="solid"/>
            <a:miter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标题 47">
            <a:extLst>
              <a:ext uri="{FF2B5EF4-FFF2-40B4-BE49-F238E27FC236}">
                <a16:creationId xmlns:a16="http://schemas.microsoft.com/office/drawing/2014/main" id="{B4AB75D1-F187-4E67-9C2F-47AE74E213A7}"/>
              </a:ext>
            </a:extLst>
          </p:cNvPr>
          <p:cNvSpPr>
            <a:spLocks noGrp="1"/>
          </p:cNvSpPr>
          <p:nvPr/>
        </p:nvSpPr>
        <p:spPr>
          <a:xfrm>
            <a:off x="2520877" y="4102988"/>
            <a:ext cx="7214483" cy="82994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4400" kern="1200" spc="100">
                <a:solidFill>
                  <a:schemeClr val="accent1"/>
                </a:solidFill>
                <a:latin typeface="方正大标宋简体"/>
                <a:ea typeface="方正大标宋简体"/>
                <a:cs typeface="方正大标宋简体"/>
              </a:defRPr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>
                <a:solidFill>
                  <a:srgbClr val="2257AE"/>
                </a:solidFill>
                <a:latin typeface="Microsoft YaHei"/>
                <a:ea typeface="Microsoft YaHei"/>
                <a:cs typeface="Microsoft YaHei"/>
              </a:rPr>
              <a:t>敬请指导</a:t>
            </a:r>
            <a:endParaRPr sz="4800" b="0" i="0" u="none" strike="noStrike" kern="1200" cap="none" spc="100" baseline="0">
              <a:ln>
                <a:noFill/>
              </a:ln>
              <a:solidFill>
                <a:srgbClr val="2257A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1727F5A6-7388-4B70-B162-3D076444E065}"/>
              </a:ext>
            </a:extLst>
          </p:cNvPr>
          <p:cNvSpPr>
            <a:spLocks noGrp="1"/>
          </p:cNvSpPr>
          <p:nvPr/>
        </p:nvSpPr>
        <p:spPr>
          <a:xfrm>
            <a:off x="2108522" y="5360072"/>
            <a:ext cx="7974957" cy="0"/>
          </a:xfrm>
          <a:prstGeom prst="line">
            <a:avLst/>
          </a:prstGeom>
          <a:noFill/>
          <a:ln w="6350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sp>
      <p:sp>
        <p:nvSpPr>
          <p:cNvPr id="54" name="businessman_57134">
            <a:extLst>
              <a:ext uri="{FF2B5EF4-FFF2-40B4-BE49-F238E27FC236}">
                <a16:creationId xmlns:a16="http://schemas.microsoft.com/office/drawing/2014/main" id="{914F19A9-D326-4876-981B-3A329D19ADE0}"/>
              </a:ext>
            </a:extLst>
          </p:cNvPr>
          <p:cNvSpPr>
            <a:spLocks noGrp="1"/>
          </p:cNvSpPr>
          <p:nvPr/>
        </p:nvSpPr>
        <p:spPr>
          <a:xfrm>
            <a:off x="6360026" y="5728467"/>
            <a:ext cx="220032" cy="240154"/>
          </a:xfrm>
          <a:custGeom>
            <a:avLst/>
            <a:gdLst>
              <a:gd name="connsiteX0" fmla="*/ 243589 w 557114"/>
              <a:gd name="connsiteY0" fmla="*/ 355438 h 608062"/>
              <a:gd name="connsiteX1" fmla="*/ 277656 w 557114"/>
              <a:gd name="connsiteY1" fmla="*/ 355438 h 608062"/>
              <a:gd name="connsiteX2" fmla="*/ 277940 w 557114"/>
              <a:gd name="connsiteY2" fmla="*/ 355438 h 608062"/>
              <a:gd name="connsiteX3" fmla="*/ 278604 w 557114"/>
              <a:gd name="connsiteY3" fmla="*/ 355438 h 608062"/>
              <a:gd name="connsiteX4" fmla="*/ 279174 w 557114"/>
              <a:gd name="connsiteY4" fmla="*/ 355438 h 608062"/>
              <a:gd name="connsiteX5" fmla="*/ 279458 w 557114"/>
              <a:gd name="connsiteY5" fmla="*/ 355438 h 608062"/>
              <a:gd name="connsiteX6" fmla="*/ 279553 w 557114"/>
              <a:gd name="connsiteY6" fmla="*/ 355438 h 608062"/>
              <a:gd name="connsiteX7" fmla="*/ 313620 w 557114"/>
              <a:gd name="connsiteY7" fmla="*/ 355438 h 608062"/>
              <a:gd name="connsiteX8" fmla="*/ 324438 w 557114"/>
              <a:gd name="connsiteY8" fmla="*/ 375432 h 608062"/>
              <a:gd name="connsiteX9" fmla="*/ 298152 w 557114"/>
              <a:gd name="connsiteY9" fmla="*/ 430202 h 608062"/>
              <a:gd name="connsiteX10" fmla="*/ 301948 w 557114"/>
              <a:gd name="connsiteY10" fmla="*/ 510272 h 608062"/>
              <a:gd name="connsiteX11" fmla="*/ 356891 w 557114"/>
              <a:gd name="connsiteY11" fmla="*/ 389172 h 608062"/>
              <a:gd name="connsiteX12" fmla="*/ 356986 w 557114"/>
              <a:gd name="connsiteY12" fmla="*/ 389172 h 608062"/>
              <a:gd name="connsiteX13" fmla="*/ 376628 w 557114"/>
              <a:gd name="connsiteY13" fmla="*/ 375337 h 608062"/>
              <a:gd name="connsiteX14" fmla="*/ 383556 w 557114"/>
              <a:gd name="connsiteY14" fmla="*/ 376474 h 608062"/>
              <a:gd name="connsiteX15" fmla="*/ 383745 w 557114"/>
              <a:gd name="connsiteY15" fmla="*/ 376569 h 608062"/>
              <a:gd name="connsiteX16" fmla="*/ 518588 w 557114"/>
              <a:gd name="connsiteY16" fmla="*/ 438920 h 608062"/>
              <a:gd name="connsiteX17" fmla="*/ 557114 w 557114"/>
              <a:gd name="connsiteY17" fmla="*/ 482224 h 608062"/>
              <a:gd name="connsiteX18" fmla="*/ 557114 w 557114"/>
              <a:gd name="connsiteY18" fmla="*/ 608062 h 608062"/>
              <a:gd name="connsiteX19" fmla="*/ 279743 w 557114"/>
              <a:gd name="connsiteY19" fmla="*/ 608062 h 608062"/>
              <a:gd name="connsiteX20" fmla="*/ 279458 w 557114"/>
              <a:gd name="connsiteY20" fmla="*/ 608062 h 608062"/>
              <a:gd name="connsiteX21" fmla="*/ 279364 w 557114"/>
              <a:gd name="connsiteY21" fmla="*/ 608062 h 608062"/>
              <a:gd name="connsiteX22" fmla="*/ 279174 w 557114"/>
              <a:gd name="connsiteY22" fmla="*/ 608062 h 608062"/>
              <a:gd name="connsiteX23" fmla="*/ 278984 w 557114"/>
              <a:gd name="connsiteY23" fmla="*/ 608062 h 608062"/>
              <a:gd name="connsiteX24" fmla="*/ 278604 w 557114"/>
              <a:gd name="connsiteY24" fmla="*/ 608062 h 608062"/>
              <a:gd name="connsiteX25" fmla="*/ 278130 w 557114"/>
              <a:gd name="connsiteY25" fmla="*/ 608062 h 608062"/>
              <a:gd name="connsiteX26" fmla="*/ 277940 w 557114"/>
              <a:gd name="connsiteY26" fmla="*/ 608062 h 608062"/>
              <a:gd name="connsiteX27" fmla="*/ 277845 w 557114"/>
              <a:gd name="connsiteY27" fmla="*/ 608062 h 608062"/>
              <a:gd name="connsiteX28" fmla="*/ 277750 w 557114"/>
              <a:gd name="connsiteY28" fmla="*/ 608062 h 608062"/>
              <a:gd name="connsiteX29" fmla="*/ 277656 w 557114"/>
              <a:gd name="connsiteY29" fmla="*/ 608062 h 608062"/>
              <a:gd name="connsiteX30" fmla="*/ 277371 w 557114"/>
              <a:gd name="connsiteY30" fmla="*/ 608062 h 608062"/>
              <a:gd name="connsiteX31" fmla="*/ 0 w 557114"/>
              <a:gd name="connsiteY31" fmla="*/ 608062 h 608062"/>
              <a:gd name="connsiteX32" fmla="*/ 0 w 557114"/>
              <a:gd name="connsiteY32" fmla="*/ 482224 h 608062"/>
              <a:gd name="connsiteX33" fmla="*/ 38621 w 557114"/>
              <a:gd name="connsiteY33" fmla="*/ 438920 h 608062"/>
              <a:gd name="connsiteX34" fmla="*/ 173464 w 557114"/>
              <a:gd name="connsiteY34" fmla="*/ 376569 h 608062"/>
              <a:gd name="connsiteX35" fmla="*/ 173558 w 557114"/>
              <a:gd name="connsiteY35" fmla="*/ 376474 h 608062"/>
              <a:gd name="connsiteX36" fmla="*/ 180486 w 557114"/>
              <a:gd name="connsiteY36" fmla="*/ 375337 h 608062"/>
              <a:gd name="connsiteX37" fmla="*/ 200223 w 557114"/>
              <a:gd name="connsiteY37" fmla="*/ 389172 h 608062"/>
              <a:gd name="connsiteX38" fmla="*/ 255166 w 557114"/>
              <a:gd name="connsiteY38" fmla="*/ 510272 h 608062"/>
              <a:gd name="connsiteX39" fmla="*/ 258962 w 557114"/>
              <a:gd name="connsiteY39" fmla="*/ 430202 h 608062"/>
              <a:gd name="connsiteX40" fmla="*/ 232676 w 557114"/>
              <a:gd name="connsiteY40" fmla="*/ 375432 h 608062"/>
              <a:gd name="connsiteX41" fmla="*/ 243589 w 557114"/>
              <a:gd name="connsiteY41" fmla="*/ 355438 h 608062"/>
              <a:gd name="connsiteX42" fmla="*/ 276250 w 557114"/>
              <a:gd name="connsiteY42" fmla="*/ 0 h 608062"/>
              <a:gd name="connsiteX43" fmla="*/ 277674 w 557114"/>
              <a:gd name="connsiteY43" fmla="*/ 0 h 608062"/>
              <a:gd name="connsiteX44" fmla="*/ 277863 w 557114"/>
              <a:gd name="connsiteY44" fmla="*/ 0 h 608062"/>
              <a:gd name="connsiteX45" fmla="*/ 277958 w 557114"/>
              <a:gd name="connsiteY45" fmla="*/ 0 h 608062"/>
              <a:gd name="connsiteX46" fmla="*/ 279382 w 557114"/>
              <a:gd name="connsiteY46" fmla="*/ 0 h 608062"/>
              <a:gd name="connsiteX47" fmla="*/ 402570 w 557114"/>
              <a:gd name="connsiteY47" fmla="*/ 104895 h 608062"/>
              <a:gd name="connsiteX48" fmla="*/ 394693 w 557114"/>
              <a:gd name="connsiteY48" fmla="*/ 159001 h 608062"/>
              <a:gd name="connsiteX49" fmla="*/ 405892 w 557114"/>
              <a:gd name="connsiteY49" fmla="*/ 184774 h 608062"/>
              <a:gd name="connsiteX50" fmla="*/ 377040 w 557114"/>
              <a:gd name="connsiteY50" fmla="*/ 236890 h 608062"/>
              <a:gd name="connsiteX51" fmla="*/ 315731 w 557114"/>
              <a:gd name="connsiteY51" fmla="*/ 311274 h 608062"/>
              <a:gd name="connsiteX52" fmla="*/ 277958 w 557114"/>
              <a:gd name="connsiteY52" fmla="*/ 319707 h 608062"/>
              <a:gd name="connsiteX53" fmla="*/ 277958 w 557114"/>
              <a:gd name="connsiteY53" fmla="*/ 319802 h 608062"/>
              <a:gd name="connsiteX54" fmla="*/ 277863 w 557114"/>
              <a:gd name="connsiteY54" fmla="*/ 319802 h 608062"/>
              <a:gd name="connsiteX55" fmla="*/ 277674 w 557114"/>
              <a:gd name="connsiteY55" fmla="*/ 319802 h 608062"/>
              <a:gd name="connsiteX56" fmla="*/ 277674 w 557114"/>
              <a:gd name="connsiteY56" fmla="*/ 319707 h 608062"/>
              <a:gd name="connsiteX57" fmla="*/ 239901 w 557114"/>
              <a:gd name="connsiteY57" fmla="*/ 311274 h 608062"/>
              <a:gd name="connsiteX58" fmla="*/ 178592 w 557114"/>
              <a:gd name="connsiteY58" fmla="*/ 236890 h 608062"/>
              <a:gd name="connsiteX59" fmla="*/ 149740 w 557114"/>
              <a:gd name="connsiteY59" fmla="*/ 184774 h 608062"/>
              <a:gd name="connsiteX60" fmla="*/ 161034 w 557114"/>
              <a:gd name="connsiteY60" fmla="*/ 159001 h 608062"/>
              <a:gd name="connsiteX61" fmla="*/ 153062 w 557114"/>
              <a:gd name="connsiteY61" fmla="*/ 104895 h 608062"/>
              <a:gd name="connsiteX62" fmla="*/ 276250 w 557114"/>
              <a:gd name="connsiteY62" fmla="*/ 0 h 608062"/>
            </a:gdLst>
            <a:ahLst/>
            <a:cxnLst/>
            <a:rect l="l" t="t" r="r" b="b"/>
            <a:pathLst>
              <a:path w="557114" h="608062">
                <a:moveTo>
                  <a:pt x="243589" y="355438"/>
                </a:moveTo>
                <a:lnTo>
                  <a:pt x="277656" y="355438"/>
                </a:lnTo>
                <a:lnTo>
                  <a:pt x="277940" y="355438"/>
                </a:lnTo>
                <a:lnTo>
                  <a:pt x="278604" y="355438"/>
                </a:lnTo>
                <a:lnTo>
                  <a:pt x="279174" y="355438"/>
                </a:lnTo>
                <a:lnTo>
                  <a:pt x="279458" y="355438"/>
                </a:lnTo>
                <a:lnTo>
                  <a:pt x="279553" y="355438"/>
                </a:lnTo>
                <a:lnTo>
                  <a:pt x="313620" y="355438"/>
                </a:lnTo>
                <a:cubicBezTo>
                  <a:pt x="325007" y="355438"/>
                  <a:pt x="330511" y="364630"/>
                  <a:pt x="324438" y="375432"/>
                </a:cubicBezTo>
                <a:cubicBezTo>
                  <a:pt x="321781" y="379980"/>
                  <a:pt x="298152" y="430202"/>
                  <a:pt x="298152" y="430202"/>
                </a:cubicBezTo>
                <a:lnTo>
                  <a:pt x="301948" y="510272"/>
                </a:lnTo>
                <a:cubicBezTo>
                  <a:pt x="317700" y="481655"/>
                  <a:pt x="343131" y="422432"/>
                  <a:pt x="356891" y="389172"/>
                </a:cubicBezTo>
                <a:cubicBezTo>
                  <a:pt x="356891" y="389172"/>
                  <a:pt x="356891" y="389172"/>
                  <a:pt x="356986" y="389172"/>
                </a:cubicBezTo>
                <a:cubicBezTo>
                  <a:pt x="359832" y="381117"/>
                  <a:pt x="367519" y="375337"/>
                  <a:pt x="376628" y="375337"/>
                </a:cubicBezTo>
                <a:cubicBezTo>
                  <a:pt x="379096" y="375337"/>
                  <a:pt x="381373" y="375716"/>
                  <a:pt x="383556" y="376474"/>
                </a:cubicBezTo>
                <a:cubicBezTo>
                  <a:pt x="383650" y="376474"/>
                  <a:pt x="383650" y="376474"/>
                  <a:pt x="383745" y="376569"/>
                </a:cubicBezTo>
                <a:cubicBezTo>
                  <a:pt x="387446" y="377706"/>
                  <a:pt x="464973" y="411724"/>
                  <a:pt x="518588" y="438920"/>
                </a:cubicBezTo>
                <a:cubicBezTo>
                  <a:pt x="542595" y="451049"/>
                  <a:pt x="557114" y="466305"/>
                  <a:pt x="557114" y="482224"/>
                </a:cubicBezTo>
                <a:lnTo>
                  <a:pt x="557114" y="608062"/>
                </a:lnTo>
                <a:lnTo>
                  <a:pt x="279743" y="608062"/>
                </a:lnTo>
                <a:lnTo>
                  <a:pt x="279458" y="608062"/>
                </a:lnTo>
                <a:lnTo>
                  <a:pt x="279364" y="608062"/>
                </a:lnTo>
                <a:lnTo>
                  <a:pt x="279174" y="608062"/>
                </a:lnTo>
                <a:lnTo>
                  <a:pt x="278984" y="608062"/>
                </a:lnTo>
                <a:lnTo>
                  <a:pt x="278604" y="608062"/>
                </a:lnTo>
                <a:lnTo>
                  <a:pt x="278130" y="608062"/>
                </a:lnTo>
                <a:lnTo>
                  <a:pt x="277940" y="608062"/>
                </a:lnTo>
                <a:lnTo>
                  <a:pt x="277845" y="608062"/>
                </a:lnTo>
                <a:lnTo>
                  <a:pt x="277750" y="608062"/>
                </a:lnTo>
                <a:lnTo>
                  <a:pt x="277656" y="608062"/>
                </a:lnTo>
                <a:lnTo>
                  <a:pt x="277371" y="608062"/>
                </a:lnTo>
                <a:lnTo>
                  <a:pt x="0" y="608062"/>
                </a:lnTo>
                <a:lnTo>
                  <a:pt x="0" y="482224"/>
                </a:lnTo>
                <a:cubicBezTo>
                  <a:pt x="0" y="466305"/>
                  <a:pt x="14519" y="451049"/>
                  <a:pt x="38621" y="438920"/>
                </a:cubicBezTo>
                <a:cubicBezTo>
                  <a:pt x="92141" y="411724"/>
                  <a:pt x="169668" y="377706"/>
                  <a:pt x="173464" y="376569"/>
                </a:cubicBezTo>
                <a:cubicBezTo>
                  <a:pt x="173464" y="376474"/>
                  <a:pt x="173464" y="376474"/>
                  <a:pt x="173558" y="376474"/>
                </a:cubicBezTo>
                <a:cubicBezTo>
                  <a:pt x="175741" y="375716"/>
                  <a:pt x="178018" y="375337"/>
                  <a:pt x="180486" y="375337"/>
                </a:cubicBezTo>
                <a:cubicBezTo>
                  <a:pt x="189595" y="375337"/>
                  <a:pt x="197282" y="381117"/>
                  <a:pt x="200223" y="389172"/>
                </a:cubicBezTo>
                <a:cubicBezTo>
                  <a:pt x="214078" y="422432"/>
                  <a:pt x="239414" y="481655"/>
                  <a:pt x="255166" y="510272"/>
                </a:cubicBezTo>
                <a:lnTo>
                  <a:pt x="258962" y="430202"/>
                </a:lnTo>
                <a:cubicBezTo>
                  <a:pt x="258962" y="430202"/>
                  <a:pt x="235333" y="379980"/>
                  <a:pt x="232676" y="375432"/>
                </a:cubicBezTo>
                <a:cubicBezTo>
                  <a:pt x="226603" y="364630"/>
                  <a:pt x="232107" y="355438"/>
                  <a:pt x="243589" y="355438"/>
                </a:cubicBezTo>
                <a:close/>
                <a:moveTo>
                  <a:pt x="276250" y="0"/>
                </a:moveTo>
                <a:cubicBezTo>
                  <a:pt x="276725" y="0"/>
                  <a:pt x="277199" y="0"/>
                  <a:pt x="277674" y="0"/>
                </a:cubicBezTo>
                <a:cubicBezTo>
                  <a:pt x="277769" y="0"/>
                  <a:pt x="277769" y="0"/>
                  <a:pt x="277863" y="0"/>
                </a:cubicBezTo>
                <a:cubicBezTo>
                  <a:pt x="277863" y="0"/>
                  <a:pt x="277863" y="0"/>
                  <a:pt x="277958" y="0"/>
                </a:cubicBezTo>
                <a:cubicBezTo>
                  <a:pt x="278433" y="0"/>
                  <a:pt x="278907" y="0"/>
                  <a:pt x="279382" y="0"/>
                </a:cubicBezTo>
                <a:cubicBezTo>
                  <a:pt x="385487" y="0"/>
                  <a:pt x="405417" y="75615"/>
                  <a:pt x="402570" y="104895"/>
                </a:cubicBezTo>
                <a:cubicBezTo>
                  <a:pt x="400387" y="128395"/>
                  <a:pt x="394693" y="159001"/>
                  <a:pt x="394693" y="159001"/>
                </a:cubicBezTo>
                <a:cubicBezTo>
                  <a:pt x="394693" y="159001"/>
                  <a:pt x="405892" y="164118"/>
                  <a:pt x="405892" y="184774"/>
                </a:cubicBezTo>
                <a:cubicBezTo>
                  <a:pt x="402001" y="236511"/>
                  <a:pt x="381311" y="214149"/>
                  <a:pt x="377040" y="236890"/>
                </a:cubicBezTo>
                <a:cubicBezTo>
                  <a:pt x="370017" y="274603"/>
                  <a:pt x="336610" y="301893"/>
                  <a:pt x="315731" y="311274"/>
                </a:cubicBezTo>
                <a:cubicBezTo>
                  <a:pt x="303583" y="316770"/>
                  <a:pt x="291055" y="319518"/>
                  <a:pt x="277958" y="319707"/>
                </a:cubicBezTo>
                <a:lnTo>
                  <a:pt x="277958" y="319802"/>
                </a:lnTo>
                <a:cubicBezTo>
                  <a:pt x="277863" y="319802"/>
                  <a:pt x="277863" y="319802"/>
                  <a:pt x="277863" y="319802"/>
                </a:cubicBezTo>
                <a:cubicBezTo>
                  <a:pt x="277769" y="319802"/>
                  <a:pt x="277769" y="319802"/>
                  <a:pt x="277674" y="319802"/>
                </a:cubicBezTo>
                <a:lnTo>
                  <a:pt x="277674" y="319707"/>
                </a:lnTo>
                <a:cubicBezTo>
                  <a:pt x="264577" y="319518"/>
                  <a:pt x="252049" y="316770"/>
                  <a:pt x="239901" y="311274"/>
                </a:cubicBezTo>
                <a:cubicBezTo>
                  <a:pt x="219022" y="301893"/>
                  <a:pt x="185615" y="274603"/>
                  <a:pt x="178592" y="236890"/>
                </a:cubicBezTo>
                <a:cubicBezTo>
                  <a:pt x="174321" y="214149"/>
                  <a:pt x="153631" y="236511"/>
                  <a:pt x="149740" y="184774"/>
                </a:cubicBezTo>
                <a:cubicBezTo>
                  <a:pt x="149740" y="164118"/>
                  <a:pt x="161034" y="159001"/>
                  <a:pt x="161034" y="159001"/>
                </a:cubicBezTo>
                <a:cubicBezTo>
                  <a:pt x="161034" y="159001"/>
                  <a:pt x="155245" y="128395"/>
                  <a:pt x="153062" y="104895"/>
                </a:cubicBezTo>
                <a:cubicBezTo>
                  <a:pt x="150215" y="75615"/>
                  <a:pt x="170145" y="0"/>
                  <a:pt x="2762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0D3074-8644-4823-9448-21D6EB44C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1130935"/>
            <a:ext cx="1169670" cy="117221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CED9BDB-3F7C-4B6D-A8CD-D154F5C93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60" y="1085215"/>
            <a:ext cx="3843655" cy="114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36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</Words>
  <Application>Microsoft Office PowerPoint</Application>
  <DocSecurity>0</DocSecurity>
  <PresentationFormat>宽屏</PresentationFormat>
  <Paragraphs>528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等线 Light</vt:lpstr>
      <vt:lpstr>Microsoft YaHei</vt:lpstr>
      <vt:lpstr>Microsoft YaHei</vt:lpstr>
      <vt:lpstr>微软雅黑 Light</vt:lpstr>
      <vt:lpstr>Arial</vt:lpstr>
      <vt:lpstr>Bahnschrift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jiu BAby</cp:lastModifiedBy>
  <cp:revision>1</cp:revision>
  <dcterms:created xsi:type="dcterms:W3CDTF">2026-10-13T04:59:01Z</dcterms:created>
  <dcterms:modified xsi:type="dcterms:W3CDTF">2026-10-13T05:21:10Z</dcterms:modified>
</cp:coreProperties>
</file>